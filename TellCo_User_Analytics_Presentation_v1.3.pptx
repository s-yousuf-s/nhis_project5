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6.xml" ContentType="application/vnd.openxmlformats-officedocument.drawingml.chart+xml"/>
  <Override PartName="/ppt/notesSlides/notesSlide12.xml" ContentType="application/vnd.openxmlformats-officedocument.presentationml.notesSlide+xml"/>
  <Override PartName="/ppt/charts/chart7.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9696"/>
    <a:srgbClr val="008080"/>
    <a:srgbClr val="FF9933"/>
    <a:srgbClr val="FFCC00"/>
    <a:srgbClr val="3366CC"/>
    <a:srgbClr val="0066CC"/>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54248" autoAdjust="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baseline="0">
                <a:solidFill>
                  <a:schemeClr val="tx2">
                    <a:lumMod val="75000"/>
                  </a:schemeClr>
                </a:solidFill>
                <a:latin typeface="Segoe UI" panose="020B0502040204020203" pitchFamily="34" charset="0"/>
                <a:ea typeface="+mn-ea"/>
                <a:cs typeface="+mn-cs"/>
              </a:defRPr>
            </a:pPr>
            <a:r>
              <a:rPr lang="en-IN" sz="1200" b="1" i="0" u="none" strike="noStrike" baseline="0" dirty="0">
                <a:solidFill>
                  <a:schemeClr val="tx2">
                    <a:lumMod val="75000"/>
                  </a:schemeClr>
                </a:solidFill>
                <a:latin typeface="Segoe UI" panose="020B0502040204020203" pitchFamily="34" charset="0"/>
              </a:rPr>
              <a:t>Avg. Session Frequency</a:t>
            </a:r>
          </a:p>
        </c:rich>
      </c:tx>
      <c:overlay val="0"/>
      <c:spPr>
        <a:noFill/>
        <a:ln>
          <a:noFill/>
        </a:ln>
        <a:effectLst/>
      </c:spPr>
      <c:txPr>
        <a:bodyPr rot="0" spcFirstLastPara="1" vertOverflow="ellipsis" vert="horz" wrap="square" anchor="ctr" anchorCtr="1"/>
        <a:lstStyle/>
        <a:p>
          <a:pPr>
            <a:defRPr sz="1200" b="1" i="0" u="none" strike="noStrike" kern="1200" baseline="0">
              <a:solidFill>
                <a:schemeClr val="tx2">
                  <a:lumMod val="75000"/>
                </a:schemeClr>
              </a:solidFill>
              <a:latin typeface="Segoe UI" panose="020B0502040204020203" pitchFamily="34" charset="0"/>
              <a:ea typeface="+mn-ea"/>
              <a:cs typeface="+mn-cs"/>
            </a:defRPr>
          </a:pPr>
          <a:endParaRPr lang="en-US"/>
        </a:p>
      </c:txPr>
    </c:title>
    <c:autoTitleDeleted val="0"/>
    <c:plotArea>
      <c:layout/>
      <c:barChart>
        <c:barDir val="col"/>
        <c:grouping val="clustered"/>
        <c:varyColors val="1"/>
        <c:ser>
          <c:idx val="0"/>
          <c:order val="0"/>
          <c:tx>
            <c:strRef>
              <c:f>Sheet1!$B$1</c:f>
              <c:strCache>
                <c:ptCount val="1"/>
                <c:pt idx="0">
                  <c:v>Avg Session Frequency</c:v>
                </c:pt>
              </c:strCache>
            </c:strRef>
          </c:tx>
          <c:invertIfNegative val="0"/>
          <c:dPt>
            <c:idx val="0"/>
            <c:invertIfNegative val="0"/>
            <c:bubble3D val="0"/>
            <c:spPr>
              <a:solidFill>
                <a:schemeClr val="accent1"/>
              </a:solidFill>
              <a:ln>
                <a:noFill/>
              </a:ln>
              <a:effectLst/>
            </c:spPr>
          </c:dPt>
          <c:dPt>
            <c:idx val="1"/>
            <c:invertIfNegative val="0"/>
            <c:bubble3D val="0"/>
            <c:spPr>
              <a:solidFill>
                <a:schemeClr val="accent2"/>
              </a:solidFill>
              <a:ln>
                <a:noFill/>
              </a:ln>
              <a:effectLst/>
            </c:spPr>
          </c:dPt>
          <c:dPt>
            <c:idx val="2"/>
            <c:invertIfNegative val="0"/>
            <c:bubble3D val="0"/>
            <c:spPr>
              <a:solidFill>
                <a:schemeClr val="accent3"/>
              </a:solidFill>
              <a:ln>
                <a:noFill/>
              </a:ln>
              <a:effectLst/>
            </c:spPr>
          </c:dPt>
          <c:dLbls>
            <c:numFmt formatCode="0.00" sourceLinked="0"/>
            <c:spPr>
              <a:noFill/>
              <a:ln>
                <a:noFill/>
              </a:ln>
              <a:effectLst/>
            </c:spPr>
            <c:txPr>
              <a:bodyPr rot="0" spcFirstLastPara="1" vertOverflow="ellipsis" vert="horz" wrap="square" anchor="ctr" anchorCtr="1"/>
              <a:lstStyle/>
              <a:p>
                <a:pPr>
                  <a:defRPr sz="1000" b="0" i="0" u="none" strike="noStrike" kern="1200" baseline="0">
                    <a:solidFill>
                      <a:srgbClr val="000000"/>
                    </a:solidFill>
                    <a:latin typeface="Arial"/>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Cluster 0</c:v>
                </c:pt>
                <c:pt idx="1">
                  <c:v>Cluster 1</c:v>
                </c:pt>
                <c:pt idx="2">
                  <c:v>Cluster 2</c:v>
                </c:pt>
              </c:strCache>
            </c:strRef>
          </c:cat>
          <c:val>
            <c:numRef>
              <c:f>Sheet1!$B$2:$B$4</c:f>
              <c:numCache>
                <c:formatCode>General</c:formatCode>
                <c:ptCount val="3"/>
                <c:pt idx="0">
                  <c:v>1.33</c:v>
                </c:pt>
                <c:pt idx="1">
                  <c:v>1.4</c:v>
                </c:pt>
                <c:pt idx="2">
                  <c:v>1.48</c:v>
                </c:pt>
              </c:numCache>
            </c:numRef>
          </c:val>
          <c:extLst>
            <c:ext xmlns:c16="http://schemas.microsoft.com/office/drawing/2014/chart" uri="{C3380CC4-5D6E-409C-BE32-E72D297353CC}">
              <c16:uniqueId val="{00000000-B654-4F99-AE50-83094CEAAE9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850" b="0" i="0" u="none" strike="noStrike" kern="1200" baseline="0">
                <a:solidFill>
                  <a:srgbClr val="000000"/>
                </a:solidFill>
                <a:latin typeface="Arial"/>
                <a:ea typeface="+mn-ea"/>
                <a:cs typeface="+mn-cs"/>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w="6350" cap="flat" cmpd="sng" algn="ctr">
      <a:solidFill>
        <a:srgbClr val="008080"/>
      </a:solidFill>
      <a:prstDash val="solid"/>
      <a:miter lim="800000"/>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baseline="0">
                <a:solidFill>
                  <a:schemeClr val="tx2">
                    <a:lumMod val="75000"/>
                  </a:schemeClr>
                </a:solidFill>
                <a:latin typeface="Segoe UI" panose="020B0502040204020203" pitchFamily="34" charset="0"/>
              </a:defRPr>
            </a:pPr>
            <a:r>
              <a:rPr lang="en-IN" sz="1200" b="1" i="0" u="none" strike="noStrike" baseline="0" dirty="0">
                <a:solidFill>
                  <a:schemeClr val="tx2">
                    <a:lumMod val="75000"/>
                  </a:schemeClr>
                </a:solidFill>
                <a:latin typeface="Segoe UI" panose="020B0502040204020203" pitchFamily="34" charset="0"/>
              </a:rPr>
              <a:t>Avg. Total Traffic (MB)</a:t>
            </a:r>
          </a:p>
        </c:rich>
      </c:tx>
      <c:overlay val="0"/>
    </c:title>
    <c:autoTitleDeleted val="0"/>
    <c:plotArea>
      <c:layout/>
      <c:barChart>
        <c:barDir val="col"/>
        <c:grouping val="clustered"/>
        <c:varyColors val="1"/>
        <c:ser>
          <c:idx val="0"/>
          <c:order val="0"/>
          <c:tx>
            <c:strRef>
              <c:f>Sheet1!$B$1</c:f>
              <c:strCache>
                <c:ptCount val="1"/>
                <c:pt idx="0">
                  <c:v>Avg Total Traffic (MB)</c:v>
                </c:pt>
              </c:strCache>
            </c:strRef>
          </c:tx>
          <c:invertIfNegative val="0"/>
          <c:dLbls>
            <c:numFmt formatCode="#,##0" sourceLinked="0"/>
            <c:spPr>
              <a:noFill/>
              <a:ln>
                <a:noFill/>
              </a:ln>
              <a:effectLst/>
            </c:spPr>
            <c:txPr>
              <a:bodyPr/>
              <a:lstStyle/>
              <a:p>
                <a:pPr>
                  <a:defRPr sz="1000" b="0" i="0" u="none" strike="noStrike" baseline="0">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Cluster 0</c:v>
                </c:pt>
                <c:pt idx="1">
                  <c:v>Cluster 1</c:v>
                </c:pt>
                <c:pt idx="2">
                  <c:v>Cluster 2</c:v>
                </c:pt>
              </c:strCache>
            </c:strRef>
          </c:cat>
          <c:val>
            <c:numRef>
              <c:f>Sheet1!$B$2:$B$4</c:f>
              <c:numCache>
                <c:formatCode>General</c:formatCode>
                <c:ptCount val="3"/>
                <c:pt idx="0">
                  <c:v>1474</c:v>
                </c:pt>
                <c:pt idx="1">
                  <c:v>733</c:v>
                </c:pt>
                <c:pt idx="2">
                  <c:v>1200</c:v>
                </c:pt>
              </c:numCache>
            </c:numRef>
          </c:val>
          <c:extLst>
            <c:ext xmlns:c16="http://schemas.microsoft.com/office/drawing/2014/chart" uri="{C3380CC4-5D6E-409C-BE32-E72D297353CC}">
              <c16:uniqueId val="{00000000-BE4B-44D3-86CB-BA1848CDEA8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solidFill>
        <a:srgbClr val="008080"/>
      </a:solid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50" b="0" i="0" u="none" strike="noStrike">
                <a:solidFill>
                  <a:srgbClr val="16232E"/>
                </a:solidFill>
                <a:latin typeface="Arial"/>
              </a:defRPr>
            </a:pPr>
            <a:r>
              <a:rPr lang="fr-FR" sz="1200" b="1" i="0" u="none" strike="noStrike" baseline="0" dirty="0" err="1">
                <a:solidFill>
                  <a:schemeClr val="tx2">
                    <a:lumMod val="75000"/>
                  </a:schemeClr>
                </a:solidFill>
                <a:latin typeface="Segoe UI" panose="020B0502040204020203" pitchFamily="34" charset="0"/>
              </a:rPr>
              <a:t>Avg</a:t>
            </a:r>
            <a:r>
              <a:rPr lang="fr-FR" sz="1200" b="1" i="0" u="none" strike="noStrike" baseline="0" dirty="0">
                <a:solidFill>
                  <a:schemeClr val="tx2">
                    <a:lumMod val="75000"/>
                  </a:schemeClr>
                </a:solidFill>
                <a:latin typeface="Segoe UI" panose="020B0502040204020203" pitchFamily="34" charset="0"/>
              </a:rPr>
              <a:t>. Session Duration (ms)</a:t>
            </a:r>
          </a:p>
        </c:rich>
      </c:tx>
      <c:overlay val="0"/>
    </c:title>
    <c:autoTitleDeleted val="0"/>
    <c:plotArea>
      <c:layout/>
      <c:barChart>
        <c:barDir val="col"/>
        <c:grouping val="clustered"/>
        <c:varyColors val="1"/>
        <c:ser>
          <c:idx val="0"/>
          <c:order val="0"/>
          <c:tx>
            <c:strRef>
              <c:f>Sheet1!$B$1</c:f>
              <c:strCache>
                <c:ptCount val="1"/>
                <c:pt idx="0">
                  <c:v>Avg Session Duration (ms, millions)</c:v>
                </c:pt>
              </c:strCache>
            </c:strRef>
          </c:tx>
          <c:invertIfNegative val="0"/>
          <c:dLbls>
            <c:numFmt formatCode="#,##0" sourceLinked="0"/>
            <c:spPr>
              <a:noFill/>
              <a:ln>
                <a:noFill/>
              </a:ln>
              <a:effectLst/>
            </c:spPr>
            <c:txPr>
              <a:bodyPr/>
              <a:lstStyle/>
              <a:p>
                <a:pPr>
                  <a:defRPr sz="1000" b="0" i="0" u="none" strike="noStrike" baseline="0">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Cluster 0</c:v>
                </c:pt>
                <c:pt idx="1">
                  <c:v>Cluster 1</c:v>
                </c:pt>
                <c:pt idx="2">
                  <c:v>Cluster 2</c:v>
                </c:pt>
              </c:strCache>
            </c:strRef>
          </c:cat>
          <c:val>
            <c:numRef>
              <c:f>Sheet1!$B$2:$B$4</c:f>
              <c:numCache>
                <c:formatCode>General</c:formatCode>
                <c:ptCount val="3"/>
                <c:pt idx="0">
                  <c:v>80</c:v>
                </c:pt>
                <c:pt idx="1">
                  <c:v>77</c:v>
                </c:pt>
                <c:pt idx="2">
                  <c:v>199</c:v>
                </c:pt>
              </c:numCache>
            </c:numRef>
          </c:val>
          <c:extLst>
            <c:ext xmlns:c16="http://schemas.microsoft.com/office/drawing/2014/chart" uri="{C3380CC4-5D6E-409C-BE32-E72D297353CC}">
              <c16:uniqueId val="{00000000-584A-4D31-9F62-4870CEDB4EE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solidFill>
        <a:srgbClr val="008080"/>
      </a:solid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50" b="0" i="0" u="none" strike="noStrike">
                <a:solidFill>
                  <a:srgbClr val="16232E"/>
                </a:solidFill>
                <a:latin typeface="Arial"/>
              </a:defRPr>
            </a:pPr>
            <a:r>
              <a:rPr lang="en-US" sz="1350" b="0" i="0" u="none" strike="noStrike">
                <a:solidFill>
                  <a:srgbClr val="16232E"/>
                </a:solidFill>
                <a:latin typeface="Arial"/>
              </a:rPr>
              <a:t>Top 3 Most-Used Applications — Total Traffic</a:t>
            </a:r>
          </a:p>
        </c:rich>
      </c:tx>
      <c:overlay val="0"/>
    </c:title>
    <c:autoTitleDeleted val="0"/>
    <c:plotArea>
      <c:layout/>
      <c:barChart>
        <c:barDir val="col"/>
        <c:grouping val="clustered"/>
        <c:varyColors val="0"/>
        <c:ser>
          <c:idx val="0"/>
          <c:order val="0"/>
          <c:tx>
            <c:strRef>
              <c:f>Sheet1!$B$1</c:f>
              <c:strCache>
                <c:ptCount val="1"/>
                <c:pt idx="0">
                  <c:v>Total Traffic (GB)</c:v>
                </c:pt>
              </c:strCache>
            </c:strRef>
          </c:tx>
          <c:spPr>
            <a:solidFill>
              <a:srgbClr val="C98A2C"/>
            </a:solidFill>
            <a:effectLst/>
          </c:spPr>
          <c:invertIfNegative val="0"/>
          <c:dLbls>
            <c:numFmt formatCode="#,##0&quot; GB&quot;" sourceLinked="0"/>
            <c:spPr>
              <a:noFill/>
              <a:ln>
                <a:noFill/>
              </a:ln>
              <a:effectLst/>
            </c:spPr>
            <c:txPr>
              <a:bodyPr/>
              <a:lstStyle/>
              <a:p>
                <a:pPr>
                  <a:defRPr sz="1100" b="0" i="0" u="none" strike="noStrike">
                    <a:solidFill>
                      <a:srgbClr val="1623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Gaming</c:v>
                </c:pt>
                <c:pt idx="1">
                  <c:v>Netflix</c:v>
                </c:pt>
                <c:pt idx="2">
                  <c:v>YouTube</c:v>
                </c:pt>
              </c:strCache>
            </c:strRef>
          </c:cat>
          <c:val>
            <c:numRef>
              <c:f>Sheet1!$B$2:$B$4</c:f>
              <c:numCache>
                <c:formatCode>General</c:formatCode>
                <c:ptCount val="3"/>
                <c:pt idx="0">
                  <c:v>57491.09</c:v>
                </c:pt>
                <c:pt idx="1">
                  <c:v>2944.6</c:v>
                </c:pt>
                <c:pt idx="2">
                  <c:v>2943.47</c:v>
                </c:pt>
              </c:numCache>
            </c:numRef>
          </c:val>
          <c:extLst>
            <c:ext xmlns:c16="http://schemas.microsoft.com/office/drawing/2014/chart" uri="{C3380CC4-5D6E-409C-BE32-E72D297353CC}">
              <c16:uniqueId val="{00000000-F679-49BC-91E5-0199FC5EEE5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87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6232E"/>
                </a:solidFill>
                <a:latin typeface="Arial"/>
              </a:defRPr>
            </a:pPr>
            <a:r>
              <a:rPr lang="en-IN" sz="1250" b="0" i="0" u="none" strike="noStrike">
                <a:solidFill>
                  <a:srgbClr val="16232E"/>
                </a:solidFill>
                <a:latin typeface="Arial"/>
              </a:rPr>
              <a:t>Cluster Profile — Normalized Experience Metrics</a:t>
            </a:r>
          </a:p>
        </c:rich>
      </c:tx>
      <c:overlay val="0"/>
    </c:title>
    <c:autoTitleDeleted val="0"/>
    <c:plotArea>
      <c:layout/>
      <c:barChart>
        <c:barDir val="col"/>
        <c:grouping val="clustered"/>
        <c:varyColors val="0"/>
        <c:ser>
          <c:idx val="0"/>
          <c:order val="0"/>
          <c:tx>
            <c:strRef>
              <c:f>Sheet1!$B$1</c:f>
              <c:strCache>
                <c:ptCount val="1"/>
                <c:pt idx="0">
                  <c:v>Cluster 0 (Light)</c:v>
                </c:pt>
              </c:strCache>
            </c:strRef>
          </c:tx>
          <c:spPr>
            <a:solidFill>
              <a:srgbClr val="005B96"/>
            </a:solidFill>
            <a:effectLst/>
          </c:spPr>
          <c:invertIfNegative val="0"/>
          <c:cat>
            <c:strRef>
              <c:f>Sheet1!$A$2:$A$6</c:f>
              <c:strCache>
                <c:ptCount val="5"/>
                <c:pt idx="0">
                  <c:v>TCP Retrans.</c:v>
                </c:pt>
                <c:pt idx="1">
                  <c:v>RTT DL</c:v>
                </c:pt>
                <c:pt idx="2">
                  <c:v>RTT UL</c:v>
                </c:pt>
                <c:pt idx="3">
                  <c:v>TP DL</c:v>
                </c:pt>
                <c:pt idx="4">
                  <c:v>TP UL</c:v>
                </c:pt>
              </c:strCache>
            </c:strRef>
          </c:cat>
          <c:val>
            <c:numRef>
              <c:f>Sheet1!$B$2:$B$6</c:f>
              <c:numCache>
                <c:formatCode>General</c:formatCode>
                <c:ptCount val="5"/>
                <c:pt idx="0">
                  <c:v>0.06</c:v>
                </c:pt>
                <c:pt idx="1">
                  <c:v>0.05</c:v>
                </c:pt>
                <c:pt idx="2">
                  <c:v>0.04</c:v>
                </c:pt>
                <c:pt idx="3">
                  <c:v>0.1</c:v>
                </c:pt>
                <c:pt idx="4">
                  <c:v>0.08</c:v>
                </c:pt>
              </c:numCache>
            </c:numRef>
          </c:val>
          <c:extLst>
            <c:ext xmlns:c16="http://schemas.microsoft.com/office/drawing/2014/chart" uri="{C3380CC4-5D6E-409C-BE32-E72D297353CC}">
              <c16:uniqueId val="{00000000-C6E1-4DE2-A920-D7963CC91884}"/>
            </c:ext>
          </c:extLst>
        </c:ser>
        <c:ser>
          <c:idx val="1"/>
          <c:order val="1"/>
          <c:tx>
            <c:strRef>
              <c:f>Sheet1!$C$1</c:f>
              <c:strCache>
                <c:ptCount val="1"/>
                <c:pt idx="0">
                  <c:v>Cluster 1 (Uplink-Strained)</c:v>
                </c:pt>
              </c:strCache>
            </c:strRef>
          </c:tx>
          <c:spPr>
            <a:solidFill>
              <a:srgbClr val="C0392B"/>
            </a:solidFill>
            <a:effectLst/>
          </c:spPr>
          <c:invertIfNegative val="0"/>
          <c:cat>
            <c:strRef>
              <c:f>Sheet1!$A$2:$A$6</c:f>
              <c:strCache>
                <c:ptCount val="5"/>
                <c:pt idx="0">
                  <c:v>TCP Retrans.</c:v>
                </c:pt>
                <c:pt idx="1">
                  <c:v>RTT DL</c:v>
                </c:pt>
                <c:pt idx="2">
                  <c:v>RTT UL</c:v>
                </c:pt>
                <c:pt idx="3">
                  <c:v>TP DL</c:v>
                </c:pt>
                <c:pt idx="4">
                  <c:v>TP UL</c:v>
                </c:pt>
              </c:strCache>
            </c:strRef>
          </c:cat>
          <c:val>
            <c:numRef>
              <c:f>Sheet1!$C$2:$C$6</c:f>
              <c:numCache>
                <c:formatCode>General</c:formatCode>
                <c:ptCount val="5"/>
                <c:pt idx="0">
                  <c:v>0.42</c:v>
                </c:pt>
                <c:pt idx="1">
                  <c:v>0.38</c:v>
                </c:pt>
                <c:pt idx="2">
                  <c:v>0.61</c:v>
                </c:pt>
                <c:pt idx="3">
                  <c:v>0.28999999999999998</c:v>
                </c:pt>
                <c:pt idx="4">
                  <c:v>0.55000000000000004</c:v>
                </c:pt>
              </c:numCache>
            </c:numRef>
          </c:val>
          <c:extLst>
            <c:ext xmlns:c16="http://schemas.microsoft.com/office/drawing/2014/chart" uri="{C3380CC4-5D6E-409C-BE32-E72D297353CC}">
              <c16:uniqueId val="{00000001-C6E1-4DE2-A920-D7963CC91884}"/>
            </c:ext>
          </c:extLst>
        </c:ser>
        <c:ser>
          <c:idx val="2"/>
          <c:order val="2"/>
          <c:tx>
            <c:strRef>
              <c:f>Sheet1!$D$1</c:f>
              <c:strCache>
                <c:ptCount val="1"/>
                <c:pt idx="0">
                  <c:v>Cluster 2 (Moderate)</c:v>
                </c:pt>
              </c:strCache>
            </c:strRef>
          </c:tx>
          <c:spPr>
            <a:solidFill>
              <a:srgbClr val="8FB3CC"/>
            </a:solidFill>
            <a:effectLst/>
          </c:spPr>
          <c:invertIfNegative val="0"/>
          <c:cat>
            <c:strRef>
              <c:f>Sheet1!$A$2:$A$6</c:f>
              <c:strCache>
                <c:ptCount val="5"/>
                <c:pt idx="0">
                  <c:v>TCP Retrans.</c:v>
                </c:pt>
                <c:pt idx="1">
                  <c:v>RTT DL</c:v>
                </c:pt>
                <c:pt idx="2">
                  <c:v>RTT UL</c:v>
                </c:pt>
                <c:pt idx="3">
                  <c:v>TP DL</c:v>
                </c:pt>
                <c:pt idx="4">
                  <c:v>TP UL</c:v>
                </c:pt>
              </c:strCache>
            </c:strRef>
          </c:cat>
          <c:val>
            <c:numRef>
              <c:f>Sheet1!$D$2:$D$6</c:f>
              <c:numCache>
                <c:formatCode>General</c:formatCode>
                <c:ptCount val="5"/>
                <c:pt idx="0">
                  <c:v>0.21</c:v>
                </c:pt>
                <c:pt idx="1">
                  <c:v>0.19</c:v>
                </c:pt>
                <c:pt idx="2">
                  <c:v>0.24</c:v>
                </c:pt>
                <c:pt idx="3">
                  <c:v>0.44</c:v>
                </c:pt>
                <c:pt idx="4">
                  <c:v>0.31</c:v>
                </c:pt>
              </c:numCache>
            </c:numRef>
          </c:val>
          <c:extLst>
            <c:ext xmlns:c16="http://schemas.microsoft.com/office/drawing/2014/chart" uri="{C3380CC4-5D6E-409C-BE32-E72D297353CC}">
              <c16:uniqueId val="{00000002-C6E1-4DE2-A920-D7963CC91884}"/>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668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7EC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668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6232E"/>
                </a:solidFill>
                <a:latin typeface="Arial"/>
              </a:defRPr>
            </a:pPr>
            <a:r>
              <a:rPr sz="1300" b="0" i="0" u="none" strike="noStrike">
                <a:solidFill>
                  <a:srgbClr val="16232E"/>
                </a:solidFill>
                <a:latin typeface="Arial"/>
              </a:rPr>
              <a:t>Average Score by Satisfaction Cluster (k=2)</a:t>
            </a:r>
          </a:p>
        </c:rich>
      </c:tx>
      <c:overlay val="0"/>
    </c:title>
    <c:autoTitleDeleted val="0"/>
    <c:plotArea>
      <c:layout/>
      <c:barChart>
        <c:barDir val="col"/>
        <c:grouping val="clustered"/>
        <c:varyColors val="0"/>
        <c:ser>
          <c:idx val="0"/>
          <c:order val="0"/>
          <c:tx>
            <c:strRef>
              <c:f>Sheet1!$B$1</c:f>
              <c:strCache>
                <c:ptCount val="1"/>
                <c:pt idx="0">
                  <c:v>Engagement Score</c:v>
                </c:pt>
              </c:strCache>
            </c:strRef>
          </c:tx>
          <c:spPr>
            <a:solidFill>
              <a:srgbClr val="005B96"/>
            </a:solidFill>
            <a:effectLst/>
          </c:spPr>
          <c:invertIfNegative val="0"/>
          <c:dLbls>
            <c:numFmt formatCode="0.000" sourceLinked="0"/>
            <c:spPr>
              <a:noFill/>
              <a:ln>
                <a:noFill/>
              </a:ln>
              <a:effectLst/>
            </c:spPr>
            <c:txPr>
              <a:bodyPr/>
              <a:lstStyle/>
              <a:p>
                <a:pPr>
                  <a:defRPr sz="10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Cluster 0 (27.3%)</c:v>
                </c:pt>
                <c:pt idx="1">
                  <c:v>Cluster 1 (72.7%)</c:v>
                </c:pt>
              </c:strCache>
            </c:strRef>
          </c:cat>
          <c:val>
            <c:numRef>
              <c:f>Sheet1!$B$2:$B$3</c:f>
              <c:numCache>
                <c:formatCode>General</c:formatCode>
                <c:ptCount val="2"/>
                <c:pt idx="0">
                  <c:v>0.38300000000000001</c:v>
                </c:pt>
                <c:pt idx="1">
                  <c:v>0.43</c:v>
                </c:pt>
              </c:numCache>
            </c:numRef>
          </c:val>
          <c:extLst>
            <c:ext xmlns:c16="http://schemas.microsoft.com/office/drawing/2014/chart" uri="{C3380CC4-5D6E-409C-BE32-E72D297353CC}">
              <c16:uniqueId val="{00000000-C02D-436E-946C-61FEEA1A3AB3}"/>
            </c:ext>
          </c:extLst>
        </c:ser>
        <c:ser>
          <c:idx val="1"/>
          <c:order val="1"/>
          <c:tx>
            <c:strRef>
              <c:f>Sheet1!$C$1</c:f>
              <c:strCache>
                <c:ptCount val="1"/>
                <c:pt idx="0">
                  <c:v>Experience Score</c:v>
                </c:pt>
              </c:strCache>
            </c:strRef>
          </c:tx>
          <c:spPr>
            <a:solidFill>
              <a:srgbClr val="0E7C7B"/>
            </a:solidFill>
            <a:effectLst/>
          </c:spPr>
          <c:invertIfNegative val="0"/>
          <c:dLbls>
            <c:numFmt formatCode="0.000" sourceLinked="0"/>
            <c:spPr>
              <a:noFill/>
              <a:ln>
                <a:noFill/>
              </a:ln>
              <a:effectLst/>
            </c:spPr>
            <c:txPr>
              <a:bodyPr/>
              <a:lstStyle/>
              <a:p>
                <a:pPr>
                  <a:defRPr sz="10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Cluster 0 (27.3%)</c:v>
                </c:pt>
                <c:pt idx="1">
                  <c:v>Cluster 1 (72.7%)</c:v>
                </c:pt>
              </c:strCache>
            </c:strRef>
          </c:cat>
          <c:val>
            <c:numRef>
              <c:f>Sheet1!$C$2:$C$3</c:f>
              <c:numCache>
                <c:formatCode>General</c:formatCode>
                <c:ptCount val="2"/>
                <c:pt idx="0">
                  <c:v>0.77100000000000002</c:v>
                </c:pt>
                <c:pt idx="1">
                  <c:v>0.183</c:v>
                </c:pt>
              </c:numCache>
            </c:numRef>
          </c:val>
          <c:extLst>
            <c:ext xmlns:c16="http://schemas.microsoft.com/office/drawing/2014/chart" uri="{C3380CC4-5D6E-409C-BE32-E72D297353CC}">
              <c16:uniqueId val="{00000001-C02D-436E-946C-61FEEA1A3AB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668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7EC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5668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6232E"/>
                </a:solidFill>
                <a:latin typeface="Arial"/>
              </a:defRPr>
            </a:pPr>
            <a:r>
              <a:rPr sz="1250" b="0" i="0" u="none" strike="noStrike">
                <a:solidFill>
                  <a:srgbClr val="16232E"/>
                </a:solidFill>
                <a:latin typeface="Arial"/>
              </a:rPr>
              <a:t>Regression Model Comparison — Predicting Satisfaction Score</a:t>
            </a:r>
          </a:p>
        </c:rich>
      </c:tx>
      <c:overlay val="0"/>
    </c:title>
    <c:autoTitleDeleted val="0"/>
    <c:plotArea>
      <c:layout/>
      <c:barChart>
        <c:barDir val="col"/>
        <c:grouping val="clustered"/>
        <c:varyColors val="0"/>
        <c:ser>
          <c:idx val="0"/>
          <c:order val="0"/>
          <c:tx>
            <c:strRef>
              <c:f>Sheet1!$B$1</c:f>
              <c:strCache>
                <c:ptCount val="1"/>
                <c:pt idx="0">
                  <c:v>R² (Test)</c:v>
                </c:pt>
              </c:strCache>
            </c:strRef>
          </c:tx>
          <c:spPr>
            <a:solidFill>
              <a:srgbClr val="8FB3CC"/>
            </a:solidFill>
            <a:effectLst/>
          </c:spPr>
          <c:invertIfNegative val="0"/>
          <c:dLbls>
            <c:numFmt formatCode="0.0000" sourceLinked="0"/>
            <c:spPr>
              <a:noFill/>
              <a:ln>
                <a:noFill/>
              </a:ln>
              <a:effectLst/>
            </c:spPr>
            <c:txPr>
              <a:bodyPr/>
              <a:lstStyle/>
              <a:p>
                <a:pPr>
                  <a:defRPr sz="105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Linear Regression</c:v>
                </c:pt>
                <c:pt idx="1">
                  <c:v>XGBoost</c:v>
                </c:pt>
              </c:strCache>
            </c:strRef>
          </c:cat>
          <c:val>
            <c:numRef>
              <c:f>Sheet1!$B$2:$B$3</c:f>
              <c:numCache>
                <c:formatCode>General</c:formatCode>
                <c:ptCount val="2"/>
                <c:pt idx="0">
                  <c:v>0.79020000000000001</c:v>
                </c:pt>
                <c:pt idx="1">
                  <c:v>0.99339999999999995</c:v>
                </c:pt>
              </c:numCache>
            </c:numRef>
          </c:val>
          <c:extLst>
            <c:ext xmlns:c16="http://schemas.microsoft.com/office/drawing/2014/chart" uri="{C3380CC4-5D6E-409C-BE32-E72D297353CC}">
              <c16:uniqueId val="{00000000-20C4-480F-8605-2E09490264DF}"/>
            </c:ext>
          </c:extLst>
        </c:ser>
        <c:ser>
          <c:idx val="1"/>
          <c:order val="1"/>
          <c:tx>
            <c:strRef>
              <c:f>Sheet1!$C$1</c:f>
              <c:strCache>
                <c:ptCount val="1"/>
                <c:pt idx="0">
                  <c:v>CV R²</c:v>
                </c:pt>
              </c:strCache>
            </c:strRef>
          </c:tx>
          <c:spPr>
            <a:solidFill>
              <a:srgbClr val="2E8B57"/>
            </a:solidFill>
            <a:effectLst/>
          </c:spPr>
          <c:invertIfNegative val="0"/>
          <c:dLbls>
            <c:numFmt formatCode="0.0000" sourceLinked="0"/>
            <c:spPr>
              <a:noFill/>
              <a:ln>
                <a:noFill/>
              </a:ln>
              <a:effectLst/>
            </c:spPr>
            <c:txPr>
              <a:bodyPr/>
              <a:lstStyle/>
              <a:p>
                <a:pPr>
                  <a:defRPr sz="105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Linear Regression</c:v>
                </c:pt>
                <c:pt idx="1">
                  <c:v>XGBoost</c:v>
                </c:pt>
              </c:strCache>
            </c:strRef>
          </c:cat>
          <c:val>
            <c:numRef>
              <c:f>Sheet1!$C$2:$C$3</c:f>
              <c:numCache>
                <c:formatCode>General</c:formatCode>
                <c:ptCount val="2"/>
                <c:pt idx="0">
                  <c:v>0.79090000000000005</c:v>
                </c:pt>
                <c:pt idx="1">
                  <c:v>0.99350000000000005</c:v>
                </c:pt>
              </c:numCache>
            </c:numRef>
          </c:val>
          <c:extLst>
            <c:ext xmlns:c16="http://schemas.microsoft.com/office/drawing/2014/chart" uri="{C3380CC4-5D6E-409C-BE32-E72D297353CC}">
              <c16:uniqueId val="{00000001-20C4-480F-8605-2E09490264D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56687A"/>
                </a:solidFill>
                <a:latin typeface="Arial"/>
              </a:defRPr>
            </a:pPr>
            <a:endParaRPr lang="en-US"/>
          </a:p>
        </c:txPr>
        <c:crossAx val="2094734552"/>
        <c:crosses val="autoZero"/>
        <c:auto val="1"/>
        <c:lblAlgn val="ctr"/>
        <c:lblOffset val="100"/>
        <c:noMultiLvlLbl val="1"/>
      </c:catAx>
      <c:valAx>
        <c:axId val="2094734552"/>
        <c:scaling>
          <c:orientation val="minMax"/>
          <c:max val="1.05"/>
        </c:scaling>
        <c:delete val="0"/>
        <c:axPos val="l"/>
        <c:majorGridlines>
          <c:spPr>
            <a:ln w="12700" cap="flat">
              <a:solidFill>
                <a:srgbClr val="E7EC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5668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2778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Project Brief</a:t>
            </a:r>
          </a:p>
          <a:p>
            <a:endParaRPr lang="en-US" dirty="0"/>
          </a:p>
          <a:p>
            <a:r>
              <a:rPr lang="en-US" dirty="0"/>
              <a:t>This project focuses on evaluating </a:t>
            </a:r>
            <a:r>
              <a:rPr lang="en-US" dirty="0" err="1"/>
              <a:t>TellCo</a:t>
            </a:r>
            <a:r>
              <a:rPr lang="en-US" dirty="0"/>
              <a:t>, a mobile service provider in the Republic of </a:t>
            </a:r>
            <a:r>
              <a:rPr lang="en-US" dirty="0" err="1"/>
              <a:t>Pefkakia</a:t>
            </a:r>
            <a:r>
              <a:rPr lang="en-US" dirty="0"/>
              <a:t>, as a potential acquisition through an end-to-end data-driven due-diligence workflow. The analysis is based on one month of aggregated </a:t>
            </a:r>
            <a:r>
              <a:rPr lang="en-US" dirty="0" err="1"/>
              <a:t>xDR</a:t>
            </a:r>
            <a:r>
              <a:rPr lang="en-US" dirty="0"/>
              <a:t> network data covering 106,471 unique customers and aims to identify the key factors driving customer engagement, network experience, and satisfaction while delivering a clear, evidence-backed purchase recommendation.</a:t>
            </a:r>
          </a:p>
          <a:p>
            <a:endParaRPr lang="en-US" dirty="0"/>
          </a:p>
          <a:p>
            <a:r>
              <a:rPr lang="en-US" b="1" dirty="0"/>
              <a:t>Presentation Flow</a:t>
            </a:r>
          </a:p>
          <a:p>
            <a:endParaRPr lang="en-US" dirty="0"/>
          </a:p>
          <a:p>
            <a:r>
              <a:rPr lang="en-US" dirty="0"/>
              <a:t>- Business Understanding &amp; Dataset Overview</a:t>
            </a:r>
          </a:p>
          <a:p>
            <a:r>
              <a:rPr lang="en-US" dirty="0"/>
              <a:t>- Analytical Framework</a:t>
            </a:r>
          </a:p>
          <a:p>
            <a:r>
              <a:rPr lang="en-US" dirty="0"/>
              <a:t>- User Overview — Customer &amp; Handset Composition</a:t>
            </a:r>
          </a:p>
          <a:p>
            <a:r>
              <a:rPr lang="en-US" dirty="0"/>
              <a:t>- User Overview — Application Usage &amp; Relationships</a:t>
            </a:r>
          </a:p>
          <a:p>
            <a:r>
              <a:rPr lang="en-US" dirty="0"/>
              <a:t>- User Overview — Dimensionality &amp; Duration Segments</a:t>
            </a:r>
          </a:p>
          <a:p>
            <a:r>
              <a:rPr lang="en-US" dirty="0"/>
              <a:t>- User Engagement — Segmenting Power Users</a:t>
            </a:r>
          </a:p>
          <a:p>
            <a:r>
              <a:rPr lang="en-US" dirty="0"/>
              <a:t>- User Engagement — Application Traffic Dominance</a:t>
            </a:r>
          </a:p>
          <a:p>
            <a:r>
              <a:rPr lang="en-US" dirty="0"/>
              <a:t>- User Experience — Network Quality Segments</a:t>
            </a:r>
          </a:p>
          <a:p>
            <a:r>
              <a:rPr lang="en-US" dirty="0"/>
              <a:t>- User Experience — Handset Diagnostics</a:t>
            </a:r>
          </a:p>
          <a:p>
            <a:r>
              <a:rPr lang="en-US" dirty="0"/>
              <a:t>- User Satisfaction — Scoring &amp; the Headline Finding</a:t>
            </a:r>
          </a:p>
          <a:p>
            <a:r>
              <a:rPr lang="en-US" dirty="0"/>
              <a:t>- User Satisfaction — Predictive Model Validation</a:t>
            </a:r>
          </a:p>
          <a:p>
            <a:r>
              <a:rPr lang="en-US" dirty="0"/>
              <a:t>- SQL Export — Data Delivery</a:t>
            </a:r>
          </a:p>
          <a:p>
            <a:r>
              <a:rPr lang="en-US" dirty="0"/>
              <a:t>- </a:t>
            </a:r>
            <a:r>
              <a:rPr lang="en-US" dirty="0" err="1"/>
              <a:t>TellCo</a:t>
            </a:r>
            <a:r>
              <a:rPr lang="en-US" dirty="0"/>
              <a:t> — By the Numbers</a:t>
            </a:r>
          </a:p>
          <a:p>
            <a:r>
              <a:rPr lang="en-US" dirty="0"/>
              <a:t>- Business Recommendation</a:t>
            </a:r>
          </a:p>
          <a:p>
            <a:r>
              <a:rPr lang="en-US" dirty="0"/>
              <a:t>- Limitations</a:t>
            </a:r>
          </a:p>
          <a:p>
            <a:r>
              <a:rPr lang="en-US" dirty="0"/>
              <a:t>- Project Challenges &amp; Key Learnings</a:t>
            </a:r>
          </a:p>
          <a:p>
            <a:r>
              <a:rPr lang="en-US" dirty="0"/>
              <a:t>- Conclusion &amp; Future Scope</a:t>
            </a:r>
          </a:p>
          <a:p>
            <a:r>
              <a:rPr lang="en-US" dirty="0"/>
              <a:t>- References &amp; Data Sources</a:t>
            </a:r>
          </a:p>
          <a:p>
            <a:r>
              <a:rPr lang="en-US" dirty="0"/>
              <a:t>- Thank You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a:t>
            </a:r>
            <a:r>
              <a:rPr lang="en-US" dirty="0"/>
              <a:t>
A wealthy investor specializing in undervalued-asset acquisitions is evaluating TellCo, an existing mobile service provider in the Republic of Pefkakia. </a:t>
            </a:r>
          </a:p>
          <a:p>
            <a:r>
              <a:rPr lang="en-US" dirty="0" err="1"/>
              <a:t>TellCo's</a:t>
            </a:r>
            <a:r>
              <a:rPr lang="en-US" dirty="0"/>
              <a:t> owners have shared financial information but have never had their system-generated data analyzed. </a:t>
            </a:r>
          </a:p>
          <a:p>
            <a:r>
              <a:rPr lang="en-US" dirty="0"/>
              <a:t>The raw dataset contains </a:t>
            </a:r>
            <a:r>
              <a:rPr lang="en-US" b="1" dirty="0"/>
              <a:t>150,001</a:t>
            </a:r>
            <a:r>
              <a:rPr lang="en-US" dirty="0"/>
              <a:t> session-level records across </a:t>
            </a:r>
            <a:r>
              <a:rPr lang="en-US" b="1" dirty="0"/>
              <a:t>55</a:t>
            </a:r>
            <a:r>
              <a:rPr lang="en-US" dirty="0"/>
              <a:t> columns spanning session identifiers, network-quality metrics (TCP retransmission, RTT, throughput), and per-application traffic volumes for seven applications: </a:t>
            </a:r>
            <a:r>
              <a:rPr lang="en-US" b="1" dirty="0"/>
              <a:t>Social Media, Google, Email, YouTube, Netflix, Gaming, and Other</a:t>
            </a:r>
            <a:r>
              <a:rPr lang="en-US" dirty="0"/>
              <a:t>. </a:t>
            </a:r>
          </a:p>
          <a:p>
            <a:r>
              <a:rPr lang="en-US" dirty="0"/>
              <a:t>After per-user aggregation, the working dataset condenses to </a:t>
            </a:r>
            <a:r>
              <a:rPr lang="en-US" b="1" dirty="0"/>
              <a:t>106,471</a:t>
            </a:r>
            <a:r>
              <a:rPr lang="en-US" dirty="0"/>
              <a:t> unique customers (identified by MSISDN/Number), each carrying session counts, durations, and total data volumes across the seven applications. </a:t>
            </a:r>
          </a:p>
          <a:p>
            <a:r>
              <a:rPr lang="en-US" dirty="0"/>
              <a:t>The four variable categories shown on this slide -- Identifiers &amp; Timing, Network Quality, Per-App Traffic, and Device &amp; Location -- describe all relevant variables and their data types in condensed category form rather than all 55 individual fields, which are fully documented in the linked Field Descriptions reference.
</a:t>
            </a:r>
            <a:r>
              <a:rPr lang="en-US" b="1" dirty="0"/>
              <a:t>WHY:</a:t>
            </a:r>
            <a:r>
              <a:rPr lang="en-US" dirty="0"/>
              <a:t>
This project analyzes </a:t>
            </a:r>
            <a:r>
              <a:rPr lang="en-US" b="1" dirty="0"/>
              <a:t>one month of xDR data </a:t>
            </a:r>
            <a:r>
              <a:rPr lang="en-US" dirty="0"/>
              <a:t>to surface the underlying fundamentals of the business: who its users are, how engaged they are, what quality of experience the network delivers, and how satisfied users ultimately are, in order to support a clear, evidence-based buy/sell recommendation. </a:t>
            </a:r>
          </a:p>
          <a:p>
            <a:r>
              <a:rPr lang="en-US" dirty="0"/>
              <a:t>Because this is one month of aggregated data with no prior system-level analysis, everything that follows is a first-ever look at TellCo's actual network usage.
</a:t>
            </a:r>
            <a:r>
              <a:rPr lang="en-US" b="1" dirty="0"/>
              <a:t>HOW:</a:t>
            </a:r>
            <a:r>
              <a:rPr lang="en-US" dirty="0"/>
              <a:t>
One row was identified as a genuine orphan record (no session identifiers, duration, throughput, or byte totals populated at all) and was removed during cleaning, along with 10 further duplicate rows found later once type-casting was complete -- these are documented in </a:t>
            </a:r>
            <a:r>
              <a:rPr lang="en-US" b="1" dirty="0"/>
              <a:t>Data Cleaning</a:t>
            </a:r>
            <a:r>
              <a:rPr lang="en-US" dirty="0"/>
              <a:t>. </a:t>
            </a:r>
          </a:p>
          <a:p>
            <a:r>
              <a:rPr lang="en-US" dirty="0"/>
              <a:t>Missingness in the raw data spanned three tiers: </a:t>
            </a:r>
          </a:p>
          <a:p>
            <a:r>
              <a:rPr lang="en-US" dirty="0"/>
              <a:t>[A] Heavy (54-87%) in conditional traffic-bucket and TCP/HTTP volume columns (more consistent with an event that never occurred than a true measurement gap)</a:t>
            </a:r>
          </a:p>
          <a:p>
            <a:r>
              <a:rPr lang="en-US" dirty="0"/>
              <a:t>[B] Moderate (~18.5%) in average RTT columns, and</a:t>
            </a:r>
          </a:p>
          <a:p>
            <a:r>
              <a:rPr lang="en-US" dirty="0"/>
              <a:t>[C] Trace (&lt;1%) in identifiers and handset fields </a:t>
            </a:r>
          </a:p>
          <a:p>
            <a:r>
              <a:rPr lang="en-US" dirty="0"/>
              <a:t>-- each tier was treated differently in Data Cleaning rather than with one blanket method.
</a:t>
            </a:r>
            <a:r>
              <a:rPr lang="en-US" b="1" i="1" dirty="0"/>
              <a:t>ALSO, IN THE NOTEBOOK (not shown on this slide):</a:t>
            </a:r>
            <a:r>
              <a:rPr lang="en-US" dirty="0"/>
              <a:t>
The full missing-value audit across all 55 raw columns (a column-by-column bar chart / table of missingness percentages), and the complete descriptive-statistics table (mean, median, std, min/max) for every quantitative variable, not just the four category summaries shown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a:t>
            </a:r>
            <a:r>
              <a:rPr lang="en-US" dirty="0"/>
              <a:t>
The four pillars are sequential rather than independent: </a:t>
            </a:r>
          </a:p>
          <a:p>
            <a:r>
              <a:rPr lang="en-US" b="1" dirty="0"/>
              <a:t>User Overview </a:t>
            </a:r>
            <a:r>
              <a:rPr lang="en-US" dirty="0"/>
              <a:t>establishes who the customers are (handsets, manufacturers, usage complexity) before any engagement or experience judgment is made. </a:t>
            </a:r>
          </a:p>
          <a:p>
            <a:r>
              <a:rPr lang="en-US" b="1" dirty="0"/>
              <a:t>User Engagement </a:t>
            </a:r>
            <a:r>
              <a:rPr lang="en-US" dirty="0"/>
              <a:t>then quantifies how much each customer uses the network via three metrics -- session frequency, duration, and total traffic -- clustering customers into three engagement tiers. </a:t>
            </a:r>
          </a:p>
          <a:p>
            <a:r>
              <a:rPr lang="en-US" b="1" dirty="0"/>
              <a:t>User Experience </a:t>
            </a:r>
            <a:r>
              <a:rPr lang="en-US" dirty="0"/>
              <a:t>asks a genuinely different question -- not how much a customer uses the network, but how well the network serves them -- via TCP retransmission, RTT, and throughput, again clustered into three tiers. </a:t>
            </a:r>
          </a:p>
          <a:p>
            <a:r>
              <a:rPr lang="en-US" b="1" dirty="0"/>
              <a:t>User Satisfaction </a:t>
            </a:r>
            <a:r>
              <a:rPr lang="en-US" dirty="0"/>
              <a:t>then combines the two into a single score, which is exported to a local SQL Server Express database, and every finding across all four pillars is synthesized into one specific, evidence-backed purchase </a:t>
            </a:r>
            <a:r>
              <a:rPr lang="en-US" b="1" dirty="0"/>
              <a:t>Recommendation</a:t>
            </a:r>
            <a:r>
              <a:rPr lang="en-US" dirty="0"/>
              <a:t> at the end of the deck.
</a:t>
            </a:r>
            <a:r>
              <a:rPr lang="en-US" b="1" dirty="0"/>
              <a:t>WHY:</a:t>
            </a:r>
            <a:r>
              <a:rPr lang="en-US" dirty="0"/>
              <a:t>
This scoring design is precise and deliberate: it lets us later ask whether satisfaction is driven more by engagement or more by experience. Sequencing the pillars this way means each stage's output becomes the next stage's input rather than four disconnected analyses bolted together at the end.
</a:t>
            </a:r>
            <a:r>
              <a:rPr lang="en-US" b="1" dirty="0"/>
              <a:t>HOW:</a:t>
            </a:r>
            <a:r>
              <a:rPr lang="en-US" dirty="0"/>
              <a:t>
Each customer receives an </a:t>
            </a:r>
            <a:r>
              <a:rPr lang="en-US" b="1" dirty="0"/>
              <a:t>Engagement Score </a:t>
            </a:r>
            <a:r>
              <a:rPr lang="en-US" dirty="0"/>
              <a:t>(Euclidean distance to the least-engaged cluster centroid) and an </a:t>
            </a:r>
            <a:r>
              <a:rPr lang="en-US" b="1" dirty="0"/>
              <a:t>Experience Score </a:t>
            </a:r>
            <a:r>
              <a:rPr lang="en-US" dirty="0"/>
              <a:t>(Euclidean distance to the worst-experience cluster centroid), and </a:t>
            </a:r>
            <a:r>
              <a:rPr lang="en-US" b="1" dirty="0"/>
              <a:t>Satisfaction Score </a:t>
            </a:r>
            <a:r>
              <a:rPr lang="en-US" dirty="0"/>
              <a:t>is simply their average. </a:t>
            </a:r>
          </a:p>
          <a:p>
            <a:r>
              <a:rPr lang="en-US" dirty="0"/>
              <a:t>The final customer-level table (ID plus all three scores) is exported and then imported into SQL Server via a companion notebook, as detailed on the SQL Export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a:t>
            </a:r>
            <a:r>
              <a:rPr lang="en-US" dirty="0"/>
              <a:t>
</a:t>
            </a:r>
          </a:p>
          <a:p>
            <a:r>
              <a:rPr lang="en-US" b="1" u="sng" dirty="0"/>
              <a:t>Top 10 handsets: </a:t>
            </a:r>
          </a:p>
          <a:p>
            <a:r>
              <a:rPr lang="en-US" b="1" dirty="0"/>
              <a:t>Huawei B528S-23A</a:t>
            </a:r>
            <a:r>
              <a:rPr lang="en-US" dirty="0"/>
              <a:t> is the single most-used device at </a:t>
            </a:r>
            <a:r>
              <a:rPr lang="en-US" b="1" dirty="0"/>
              <a:t>19,727 sessions </a:t>
            </a:r>
            <a:r>
              <a:rPr lang="en-US" dirty="0"/>
              <a:t>-- more than double the next closest device -- even after removing the 8,987 sessions with no genuinely recorded device information (treated honestly as 'Unknown' and excluded from ranking rather than guessed).</a:t>
            </a:r>
          </a:p>
          <a:p>
            <a:r>
              <a:rPr lang="en-US" b="1" dirty="0"/>
              <a:t>Apple </a:t>
            </a:r>
            <a:r>
              <a:rPr lang="en-US" dirty="0"/>
              <a:t>dominates the remaining rankings: 7 of the top 10 are iPhone models spanning generations 6S through X. </a:t>
            </a:r>
          </a:p>
          <a:p>
            <a:r>
              <a:rPr lang="en-US" dirty="0"/>
              <a:t>Only two </a:t>
            </a:r>
            <a:r>
              <a:rPr lang="en-US" b="1" dirty="0"/>
              <a:t>Samsung </a:t>
            </a:r>
            <a:r>
              <a:rPr lang="en-US" dirty="0"/>
              <a:t>models appear, and no other manufacturer breaks into the top 10 at all. </a:t>
            </a:r>
          </a:p>
          <a:p>
            <a:endParaRPr lang="en-US" b="1" u="sng" dirty="0"/>
          </a:p>
          <a:p>
            <a:r>
              <a:rPr lang="en-US" b="1" u="sng" dirty="0"/>
              <a:t>Manufacturer share: </a:t>
            </a:r>
          </a:p>
          <a:p>
            <a:r>
              <a:rPr lang="en-US" b="1" dirty="0"/>
              <a:t>Apple</a:t>
            </a:r>
            <a:r>
              <a:rPr lang="en-US" dirty="0"/>
              <a:t> holds a clear plurality at </a:t>
            </a:r>
            <a:r>
              <a:rPr lang="en-US" b="1" dirty="0"/>
              <a:t>44.26%</a:t>
            </a:r>
            <a:r>
              <a:rPr lang="en-US" dirty="0"/>
              <a:t> of sessions, roughly 14 points ahead of </a:t>
            </a:r>
            <a:r>
              <a:rPr lang="en-US" b="1" dirty="0"/>
              <a:t>Samsung (30.16%) </a:t>
            </a:r>
            <a:r>
              <a:rPr lang="en-US" dirty="0"/>
              <a:t>and nearly 19 points ahead of </a:t>
            </a:r>
            <a:r>
              <a:rPr lang="en-US" b="1" dirty="0"/>
              <a:t>Huawei (25.58%). </a:t>
            </a:r>
          </a:p>
          <a:p>
            <a:endParaRPr lang="en-US" b="1" dirty="0"/>
          </a:p>
          <a:p>
            <a:r>
              <a:rPr lang="en-US" b="1" u="sng" dirty="0"/>
              <a:t>Top 5 per manufacturer: </a:t>
            </a:r>
          </a:p>
          <a:p>
            <a:r>
              <a:rPr lang="en-US" b="1" dirty="0"/>
              <a:t>Huawei's</a:t>
            </a:r>
            <a:r>
              <a:rPr lang="en-US" dirty="0"/>
              <a:t> device base is almost entirely one model (B528S-23A's 19,727 sessions outnumber its own remaining top 4 combined -- E5180, P20 Lite, P20, Y6 2018, each under 2,100), a ~20x internal gap. </a:t>
            </a:r>
          </a:p>
          <a:p>
            <a:r>
              <a:rPr lang="en-US" b="1" dirty="0"/>
              <a:t>Apple's</a:t>
            </a:r>
            <a:r>
              <a:rPr lang="en-US" dirty="0"/>
              <a:t> top 5 range 4,977-9,395 (~2x gap)</a:t>
            </a:r>
          </a:p>
          <a:p>
            <a:r>
              <a:rPr lang="en-US" b="1" dirty="0"/>
              <a:t>Samsung's</a:t>
            </a:r>
            <a:r>
              <a:rPr lang="en-US" dirty="0"/>
              <a:t> top 5 cluster tightly at 3,171-4,464 -- the most balanced of the three.
</a:t>
            </a:r>
            <a:r>
              <a:rPr lang="en-US" b="1" dirty="0"/>
              <a:t>WHY:</a:t>
            </a:r>
          </a:p>
          <a:p>
            <a:r>
              <a:rPr lang="en-US" dirty="0"/>
              <a:t>
7 of the top 10 handsets being iPhone models spanning generations 6S through X suggests strong brand loyalty or simply widespread Apple device circulation regardless of release year -- a highly concentrated device landscape at the top despite dozens of manufacturers appearing elsewhere in the dataset. </a:t>
            </a:r>
          </a:p>
          <a:p>
            <a:r>
              <a:rPr lang="en-US" dirty="0"/>
              <a:t>Despite Huawei's B528S-23A being the single most-used individual handset, Huawei still finishes third at the manufacturer level, meaning Samsung's usage is spread across more distinct models rather than concentrated in one device, while Huawei's presence rests almost entirely on that one router/device model. </a:t>
            </a:r>
          </a:p>
          <a:p>
            <a:r>
              <a:rPr lang="en-US" dirty="0"/>
              <a:t>Business implication for marketing teams: Apple and Samsung represent the broad, diversified customer base worth retention-focused campaigns; Huawei's concentration in one device model is the working hypothesis that this may be shared/router infrastructure rather than personal handsets -- flagged here and revisited later.
</a:t>
            </a:r>
            <a:r>
              <a:rPr lang="en-US" b="1" dirty="0"/>
              <a:t>HOW:</a:t>
            </a:r>
          </a:p>
          <a:p>
            <a:r>
              <a:rPr lang="en-US" dirty="0"/>
              <a:t>
Handset counts were aggregated by session count per handset type and per manufacturer, with unrecorded ('Unknown') device rows excluded from both rankings rather than imputed. </a:t>
            </a:r>
          </a:p>
          <a:p>
            <a:r>
              <a:rPr lang="en-US" dirty="0"/>
              <a:t>The top-5-per-manufacturer breakdown was computed by filtering to each of the top 3 manufacturers individually, then ranking their handsets by session count.
</a:t>
            </a:r>
            <a:r>
              <a:rPr lang="en-US" b="1" i="1" dirty="0"/>
              <a:t>ALSO, IN THE NOTEBOOK (not shown on this slide):</a:t>
            </a:r>
            <a:r>
              <a:rPr lang="en-US" dirty="0"/>
              <a:t>
The hourly-usage-by-session-start chart showing the sharp single-hour </a:t>
            </a:r>
            <a:r>
              <a:rPr lang="en-US" b="1" dirty="0"/>
              <a:t>7 AM spike </a:t>
            </a:r>
            <a:r>
              <a:rPr lang="en-US" dirty="0"/>
              <a:t>and a geographic/location-based usage distribution chart -- both part of the section's temporal/geographic EDA but not included on this slide to keep it focused on handset composition specifically.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a:t>
            </a:r>
          </a:p>
          <a:p>
            <a:r>
              <a:rPr lang="en-US" dirty="0"/>
              <a:t>
</a:t>
            </a:r>
            <a:r>
              <a:rPr lang="en-US" b="1" dirty="0"/>
              <a:t>Bivariate analysis: </a:t>
            </a:r>
          </a:p>
          <a:p>
            <a:r>
              <a:rPr lang="en-US" b="0" dirty="0"/>
              <a:t>E</a:t>
            </a:r>
            <a:r>
              <a:rPr lang="en-US" dirty="0"/>
              <a:t>xploring the relationship between each of the 7 core applications and Total DL+UL traffic. </a:t>
            </a:r>
          </a:p>
          <a:p>
            <a:r>
              <a:rPr lang="en-US" dirty="0"/>
              <a:t>Gaming (0.720) and Other (0.721) correlate with Total Traffic nearly twice as strongly as the remaining five applications (0.369-0.439), forming a clear two-tier split. </a:t>
            </a:r>
          </a:p>
          <a:p>
            <a:endParaRPr lang="en-US" b="1" dirty="0"/>
          </a:p>
          <a:p>
            <a:r>
              <a:rPr lang="en-US" b="1" dirty="0"/>
              <a:t>Correlation analysis (multivariate): </a:t>
            </a:r>
          </a:p>
          <a:p>
            <a:r>
              <a:rPr lang="en-US" b="0" dirty="0"/>
              <a:t>A</a:t>
            </a:r>
            <a:r>
              <a:rPr lang="en-US" dirty="0"/>
              <a:t>mong the 7 application variables, correlations sit in a moderate, fairly uniform band (0.31-0.42) -- no pair of applications is strongly tied to another. </a:t>
            </a:r>
          </a:p>
          <a:p>
            <a:r>
              <a:rPr lang="en-US" dirty="0"/>
              <a:t>Two pairs stand out from that uniform band: YouTube-Netflix (0.42, the highest among the 7) and Gaming-Other (0.31, among the lowest). </a:t>
            </a:r>
          </a:p>
          <a:p>
            <a:r>
              <a:rPr lang="en-US" dirty="0"/>
              <a:t>Expanding beyond the core 7 in the full correlation matrix, Total Session Duration-Avg Session Duration correlates at 0.76, and DL/UL Ratio correlates moderately with Gaming/Other (0.34 each) but notably -0.38 with Total UL.
</a:t>
            </a:r>
            <a:r>
              <a:rPr lang="en-US" b="1" dirty="0"/>
              <a:t>WHY:</a:t>
            </a:r>
          </a:p>
          <a:p>
            <a:r>
              <a:rPr lang="en-US" dirty="0"/>
              <a:t>
The Gaming/Other two-tier split is confirmed later in Engagement Analysis, where Gaming alone accounts for ~20x the traffic of Netflix or YouTube. </a:t>
            </a:r>
          </a:p>
          <a:p>
            <a:r>
              <a:rPr lang="en-US" dirty="0"/>
              <a:t>The moderate, uniform correlation band among the 7 apps means heavy usage of one app doesn't reliably predict heavy usage of a specific other app -- usage is spread across categories, not concentrated in a correlated cluster. </a:t>
            </a:r>
          </a:p>
          <a:p>
            <a:r>
              <a:rPr lang="en-US" dirty="0"/>
              <a:t>YouTube-Netflix's relatively higher correlation suggests streaming-app usage may cluster somewhat together.</a:t>
            </a:r>
          </a:p>
          <a:p>
            <a:r>
              <a:rPr lang="en-US" dirty="0"/>
              <a:t>Gaming-Other's relatively lower correlation suggests that despite both driving Total Traffic strongly, they aren't driven by the same underlying customers. </a:t>
            </a:r>
          </a:p>
          <a:p>
            <a:r>
              <a:rPr lang="en-US" dirty="0"/>
              <a:t>Some relationships in the full matrix are mathematical identities rather than genuine findings (Total DL-Total Traffic = </a:t>
            </a:r>
            <a:r>
              <a:rPr lang="en-US" b="1" dirty="0"/>
              <a:t>1.00</a:t>
            </a:r>
            <a:r>
              <a:rPr lang="en-US" dirty="0"/>
              <a:t>, since Total Traffic is literally defined as DL+UL) and are noted but not treated as discoveries. </a:t>
            </a:r>
          </a:p>
          <a:p>
            <a:r>
              <a:rPr lang="en-US" dirty="0"/>
              <a:t>Total Session Duration-Avg Session Duration's </a:t>
            </a:r>
            <a:r>
              <a:rPr lang="en-US" b="1" dirty="0"/>
              <a:t>0.76</a:t>
            </a:r>
            <a:r>
              <a:rPr lang="en-US" dirty="0"/>
              <a:t> is a real, non-trivial relationship, since a customer having a high total duration doesn't automatically mean each individual session runs long -- this confirms some customers achieve high total duration through many sessions rather than long ones, while others do the opposite. </a:t>
            </a:r>
          </a:p>
          <a:p>
            <a:r>
              <a:rPr lang="en-US" dirty="0"/>
              <a:t>DL/UL Ratio's pattern is consistent with it capturing a genuinely distinct behavioral dimension (download-heavy vs. upload-heavy usage)
</a:t>
            </a:r>
            <a:r>
              <a:rPr lang="en-US" b="1" dirty="0"/>
              <a:t>HOW:</a:t>
            </a:r>
          </a:p>
          <a:p>
            <a:r>
              <a:rPr lang="en-US" dirty="0"/>
              <a:t>
Bivariate correlation was computed between each of the 7 application traffic totals and the derived Total Traffic column using Pearson correlation. </a:t>
            </a:r>
          </a:p>
          <a:p>
            <a:r>
              <a:rPr lang="en-US" dirty="0"/>
              <a:t>The full multivariate correlation matrix extends this to every numeric feature in the per-customer aggregation, including duration and ratio-derived columns, to surface relationships beyond the 7 required applications.
</a:t>
            </a:r>
            <a:r>
              <a:rPr lang="en-US" b="1" i="1" dirty="0"/>
              <a:t>ALSO. IN THE NOTEBOOK (not shown on this slide):</a:t>
            </a:r>
            <a:r>
              <a:rPr lang="en-US" dirty="0"/>
              <a:t>
The full multivariate correlation heatmap across all numeric features (not just the 7-application subset shown here), and the raw scatter plot version of the Gaming-vs-Total-Traffic bivariate relationship -- this slide uses the ranked bar-chart summary derived from that scatter instead, for readability at presentation scale.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a:t>
            </a:r>
          </a:p>
          <a:p>
            <a:r>
              <a:rPr lang="en-US" dirty="0"/>
              <a:t>
</a:t>
            </a:r>
            <a:r>
              <a:rPr lang="en-US" b="1" dirty="0"/>
              <a:t>Dimensionality Reduction: </a:t>
            </a:r>
          </a:p>
          <a:p>
            <a:r>
              <a:rPr lang="en-US" b="0" dirty="0"/>
              <a:t>R</a:t>
            </a:r>
            <a:r>
              <a:rPr lang="en-US" dirty="0"/>
              <a:t>educing </a:t>
            </a:r>
            <a:r>
              <a:rPr lang="en-US" b="1" dirty="0"/>
              <a:t>9</a:t>
            </a:r>
            <a:r>
              <a:rPr lang="en-US" dirty="0"/>
              <a:t> independent numerical features (7 application traffic totals, xDR Sessions, Total Session Duration) via PCA to examine how many components are actually needed to preserve most of the data's variance. </a:t>
            </a:r>
          </a:p>
          <a:p>
            <a:r>
              <a:rPr lang="en-US" dirty="0"/>
              <a:t>The first component alone captures 41.2% of total variance -- substantial but not dominant -- while it takes 8 components to reach 90% and 9 (essentially all features) to reach 95%. </a:t>
            </a:r>
          </a:p>
          <a:p>
            <a:endParaRPr lang="en-US" dirty="0"/>
          </a:p>
          <a:p>
            <a:r>
              <a:rPr lang="en-US" b="1" dirty="0"/>
              <a:t>Variable Transformation:  </a:t>
            </a:r>
          </a:p>
          <a:p>
            <a:r>
              <a:rPr lang="en-US" b="0" dirty="0"/>
              <a:t>S</a:t>
            </a:r>
            <a:r>
              <a:rPr lang="en-US" dirty="0"/>
              <a:t>egmenting users into the top five decile classes by total session duration and computing total data (DL+UL) per decile. </a:t>
            </a:r>
          </a:p>
          <a:p>
            <a:r>
              <a:rPr lang="en-US" dirty="0"/>
              <a:t>Total traffic rises with duration decile, but not smoothly -- deciles 7 and 8 (11.40 TB, 11.06 TB) are nearly tied, essentially flat between them, rather than each decile climbing steadily, before deciles 9 and 10 (14.44 TB, 14.81 TB) resume the upward trend.
</a:t>
            </a:r>
            <a:r>
              <a:rPr lang="en-US" b="1" dirty="0"/>
              <a:t>WHY:</a:t>
            </a:r>
          </a:p>
          <a:p>
            <a:r>
              <a:rPr lang="en-US" dirty="0"/>
              <a:t>
Four-bullet interpretation of the PCA result: </a:t>
            </a:r>
          </a:p>
          <a:p>
            <a:pPr marL="228600" indent="-228600">
              <a:buAutoNum type="arabicParenBoth"/>
            </a:pPr>
            <a:r>
              <a:rPr lang="en-US" dirty="0"/>
              <a:t>Needing 8-9 of 9 components for 90-95% variance indicates these 9 metrics carry largely independent information rather than redundant overlap. </a:t>
            </a:r>
          </a:p>
          <a:p>
            <a:pPr marL="228600" indent="-228600">
              <a:buAutoNum type="arabicParenBoth"/>
            </a:pPr>
            <a:r>
              <a:rPr lang="en-US" dirty="0"/>
              <a:t>This is meaningfully different from a typical dataset where 2-3 components often suffice: TellCo's usage behavior genuinely can't be compressed into a low-dimensional summary without losing most of its structure. </a:t>
            </a:r>
          </a:p>
          <a:p>
            <a:pPr marL="228600" indent="-228600">
              <a:buAutoNum type="arabicParenBoth"/>
            </a:pPr>
            <a:r>
              <a:rPr lang="en-US" dirty="0"/>
              <a:t>Practically, no small subset of 'super-metrics' can stand in for the full usage profile in later clustering work (Engagement, Experience) -- the full feature set carries real, distinct signal, which is why the Engagement and Experience clustering sections both use all their respective metrics rather than a PCA-reduced subset. </a:t>
            </a:r>
          </a:p>
          <a:p>
            <a:pPr marL="228600" indent="-228600">
              <a:buAutoNum type="arabicParenBoth"/>
            </a:pPr>
            <a:r>
              <a:rPr lang="en-US" dirty="0"/>
              <a:t>This reinforces the earlier correlation-matrix finding: the 7 applications were only moderately correlated with each other (0.31-0.42), which is exactly what prevents dimensionality reduction from working well -- genuinely low correlation between features means little redundancy to compress away. </a:t>
            </a:r>
          </a:p>
          <a:p>
            <a:pPr marL="0" indent="0">
              <a:buNone/>
            </a:pPr>
            <a:endParaRPr lang="en-US" dirty="0"/>
          </a:p>
          <a:p>
            <a:pPr marL="0" indent="0">
              <a:buNone/>
            </a:pPr>
            <a:r>
              <a:rPr lang="en-US" b="1" dirty="0"/>
              <a:t>On the decile result: </a:t>
            </a:r>
            <a:r>
              <a:rPr lang="en-US" b="0" dirty="0"/>
              <a:t>T</a:t>
            </a:r>
            <a:r>
              <a:rPr lang="en-US" dirty="0"/>
              <a:t>his tells the investor that duration and traffic volume are correlated but not perfectly proportional -- there's a genuine plateau in the upper-middle of the customer base, not a smooth linear relationship.</a:t>
            </a:r>
          </a:p>
          <a:p>
            <a:pPr marL="0" indent="0">
              <a:buNone/>
            </a:pPr>
            <a:endParaRPr lang="en-US" dirty="0"/>
          </a:p>
          <a:p>
            <a:pPr marL="0" indent="0">
              <a:buNone/>
            </a:pPr>
            <a:r>
              <a:rPr lang="en-US" b="1" dirty="0"/>
              <a:t>HOW:</a:t>
            </a:r>
          </a:p>
          <a:p>
            <a:pPr marL="0" indent="0">
              <a:buNone/>
            </a:pPr>
            <a:r>
              <a:rPr lang="en-US" dirty="0"/>
              <a:t>
PCA was fit on the 9 standardized usage features (7 application totals, session count, total duration), with explained variance ratio computed per component and cumulative variance tracked to identify the 90% and 95% thresholds. </a:t>
            </a:r>
          </a:p>
          <a:p>
            <a:pPr marL="0" indent="0">
              <a:buNone/>
            </a:pPr>
            <a:r>
              <a:rPr lang="en-US" dirty="0"/>
              <a:t>Decile segmentation used pandas qcut on Total Session Duration to create 10 equal-population bins, then summed Total Traffic (DL+UL) within the top 5 (deciles 6-10).
</a:t>
            </a:r>
            <a:r>
              <a:rPr lang="en-US" b="1" i="1" dirty="0"/>
              <a:t>ALSO, IN THE NOTEBOOK (not shown on this slide):</a:t>
            </a:r>
            <a:r>
              <a:rPr lang="en-US" dirty="0"/>
              <a:t>
The full 10-decile table (this slide shows only the top 5, deciles 6-10, per the segmentation's own scope).</a:t>
            </a:r>
          </a:p>
          <a:p>
            <a:pPr marL="0" indent="0">
              <a:buNone/>
            </a:pPr>
            <a:r>
              <a:rPr lang="en-US" dirty="0"/>
              <a:t>PCA component-loading table showing which original features contribute most to each principal component.</a:t>
            </a:r>
          </a:p>
          <a:p>
            <a:pPr marL="0" indent="0">
              <a:buNone/>
            </a:pPr>
            <a:r>
              <a:rPr lang="en-US" dirty="0"/>
              <a:t>Non-graphical univariate dispersion statistics (skewness, kurtosis, standard deviation, IQR) computed per quantitative variable.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a:t>
            </a:r>
          </a:p>
          <a:p>
            <a:endParaRPr lang="en-US" b="1" dirty="0"/>
          </a:p>
          <a:p>
            <a:r>
              <a:rPr lang="en-US" b="1" dirty="0"/>
              <a:t>Engagement metrics </a:t>
            </a:r>
            <a:r>
              <a:rPr lang="en-US" b="0" dirty="0"/>
              <a:t>are aggregated per customer (MSISDN) across 3 core dimensions -- session frequency, session duration, total traffic -- plus 2 additional behavioral features, then K-Means (k=3) applied. </a:t>
            </a:r>
          </a:p>
          <a:p>
            <a:r>
              <a:rPr lang="en-US" b="0" dirty="0"/>
              <a:t>Clustering split customers into three comparably-sized groups -- </a:t>
            </a:r>
            <a:r>
              <a:rPr lang="en-US" b="1" dirty="0"/>
              <a:t>36,631 (34.4%), 40,236 (37.8%), and 29,604 (27.8%)</a:t>
            </a:r>
            <a:r>
              <a:rPr lang="en-US" b="0" dirty="0"/>
              <a:t> -- no single cluster dominates. </a:t>
            </a:r>
          </a:p>
          <a:p>
            <a:r>
              <a:rPr lang="en-US" b="0" dirty="0"/>
              <a:t>Cluster 2 stands out with far higher session duration and total traffic despite a broadly similar session-frequency profile to the other two. </a:t>
            </a:r>
          </a:p>
          <a:p>
            <a:r>
              <a:rPr lang="en-US" b="0" dirty="0"/>
              <a:t>Top 10 customers per engagement metric were also identified across all 5 metrics -- only one customer appeared in both the Session Duration and Avg Session Duration top 10s. </a:t>
            </a:r>
          </a:p>
          <a:p>
            <a:r>
              <a:rPr lang="en-US" b="0" dirty="0"/>
              <a:t>The elbow chart shown on this slide (testing k=1 through 10) shows inertia decline stabilizing at </a:t>
            </a:r>
            <a:r>
              <a:rPr lang="en-US" b="1" dirty="0"/>
              <a:t>k=4,</a:t>
            </a:r>
            <a:r>
              <a:rPr lang="en-US" b="0" dirty="0"/>
              <a:t> confirmed independently by silhouette score.</a:t>
            </a:r>
          </a:p>
          <a:p>
            <a:endParaRPr lang="en-US" b="0" dirty="0"/>
          </a:p>
          <a:p>
            <a:r>
              <a:rPr lang="en-US" b="1" dirty="0"/>
              <a:t>WHY:</a:t>
            </a:r>
          </a:p>
          <a:p>
            <a:endParaRPr lang="en-US" b="1" dirty="0"/>
          </a:p>
          <a:p>
            <a:r>
              <a:rPr lang="en-US" b="0" dirty="0"/>
              <a:t>No single cluster dominating means </a:t>
            </a:r>
            <a:r>
              <a:rPr lang="en-US" b="0" dirty="0" err="1"/>
              <a:t>TellCo's</a:t>
            </a:r>
            <a:r>
              <a:rPr lang="en-US" b="0" dirty="0"/>
              <a:t> customer base genuinely splits into three distinct engagement tiers rather than one dominant behavior pattern with a small tail. </a:t>
            </a:r>
          </a:p>
          <a:p>
            <a:r>
              <a:rPr lang="en-US" b="0" dirty="0"/>
              <a:t>Engagement at </a:t>
            </a:r>
            <a:r>
              <a:rPr lang="en-US" b="0" dirty="0" err="1"/>
              <a:t>TellCo</a:t>
            </a:r>
            <a:r>
              <a:rPr lang="en-US" b="0" dirty="0"/>
              <a:t> is more a story of how long and how much per session than how often customers connect, since Cluster 2's duration/traffic gap isn't matched by a comparable frequency gap. </a:t>
            </a:r>
          </a:p>
          <a:p>
            <a:r>
              <a:rPr lang="en-US" b="0" dirty="0"/>
              <a:t>The Session Duration vs. Avg Session Duration top-10 lists barely overlapping confirms these are genuinely different rankings rather than near-duplicates -- some customers reach high totals via many short sessions, others via fewer long ones. </a:t>
            </a:r>
          </a:p>
          <a:p>
            <a:r>
              <a:rPr lang="en-US" b="0" dirty="0"/>
              <a:t>On the elbow/silhouette check: while </a:t>
            </a:r>
            <a:r>
              <a:rPr lang="en-US" b="1" dirty="0"/>
              <a:t>k=10 produces the mathematically highest silhouette score</a:t>
            </a:r>
            <a:r>
              <a:rPr lang="en-US" b="0" dirty="0"/>
              <a:t>, this is a common over-segmentation artifact; </a:t>
            </a:r>
            <a:r>
              <a:rPr lang="en-US" b="1" dirty="0"/>
              <a:t>k=4 shows a genuine local peak (0.314) </a:t>
            </a:r>
            <a:r>
              <a:rPr lang="en-US" b="0" dirty="0"/>
              <a:t>immediately following the elbow's bend, a far more reliable signal of real structure than chasing the global maximum. </a:t>
            </a:r>
          </a:p>
          <a:p>
            <a:r>
              <a:rPr lang="en-US" b="0" dirty="0"/>
              <a:t>Both methods independently pointing to </a:t>
            </a:r>
            <a:r>
              <a:rPr lang="en-US" b="1" dirty="0"/>
              <a:t>k=4</a:t>
            </a:r>
            <a:r>
              <a:rPr lang="en-US" b="0" dirty="0"/>
              <a:t> as the data's natural optimum, a more granular segmentation than the k=3 actually used, is reported here as an honest, transparent finding rather than silently substituted into the clustering used elsewhere in the analysis.</a:t>
            </a:r>
          </a:p>
          <a:p>
            <a:endParaRPr lang="en-US" b="0" dirty="0"/>
          </a:p>
          <a:p>
            <a:r>
              <a:rPr lang="en-US" b="0" dirty="0"/>
              <a:t>HOW:</a:t>
            </a:r>
          </a:p>
          <a:p>
            <a:r>
              <a:rPr lang="en-US" b="0" dirty="0"/>
              <a:t>Each engagement metric spans a vastly different original scale (Session Frequency ranges 1-18, Session Duration ranges into hundreds of millions of </a:t>
            </a:r>
            <a:r>
              <a:rPr lang="en-US" b="0" dirty="0" err="1"/>
              <a:t>ms</a:t>
            </a:r>
            <a:r>
              <a:rPr lang="en-US" b="0" dirty="0"/>
              <a:t>), so </a:t>
            </a:r>
            <a:r>
              <a:rPr lang="en-US" b="0" dirty="0" err="1"/>
              <a:t>MinMaxScaler</a:t>
            </a:r>
            <a:r>
              <a:rPr lang="en-US" b="0" dirty="0"/>
              <a:t> normalization (not </a:t>
            </a:r>
            <a:r>
              <a:rPr lang="en-US" b="0" dirty="0" err="1"/>
              <a:t>StandardScaler</a:t>
            </a:r>
            <a:r>
              <a:rPr lang="en-US" b="0" dirty="0"/>
              <a:t>) was applied before clustering; without it, K-Means distance would be dominated by whichever feature happens to have the largest raw numbers. K-Means with k=3 was then fit on the 5 normalized engagement features. The elbow/silhouette check re-ran K-Means across k=1 through 10 on the same normalized features, tracking inertia decline (elbow, shown on this slide) and silhouette score at each k.</a:t>
            </a:r>
          </a:p>
          <a:p>
            <a:endParaRPr lang="en-US" b="0" dirty="0"/>
          </a:p>
          <a:p>
            <a:r>
              <a:rPr lang="en-US" b="0" dirty="0"/>
              <a:t>ALSO IN THE NOTEBOOK (not shown on this slide):</a:t>
            </a:r>
          </a:p>
          <a:p>
            <a:r>
              <a:rPr lang="en-US" b="0" dirty="0"/>
              <a:t>Separate Minimum, Maximum, and Total metric-by-cluster charts (this slide shows only the Average variant of the five), the silhouette-score plot itself as a visual (the elbow curve is now shown on-slide, but the paired silhouette chart isn't), and the top-10-customer tables for each of the 5 engagement metrics individually.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Total traffic is plotted for the top 3 most-used applications, aggregated across all 106,471 customers, with the ambiguous catch-all 'Other' category excluded from this specific chart since it doesn't represent a genuine identifiable application (it is however included in the earlier 7-app correlation and bivariate analyses in User Overview, where it is analytically relevant). With Other set aside, Gaming alone accounts for 57,491.09 GB of total traffic -- roughly 19-20x more than either Netflix (2,944.60 GB) or YouTube (2,943.47 GB), which are themselves essentially tied (a difference of just 1.13 GB out of ~2,944 GB each). Top 10 most-engaged users per application were also computed separately: across every application, the top 10 values cluster extremely tightly -- Social Media's top 10 are all identical at 6.45 MB, and Google/Email/YouTube/Netflix/Gaming/Other each show similarly tight clustering.
WHY:
Netflix and YouTube being essentially tied suggests these two streaming applications drive comparable, secondary-tier demand on TellCo's network, distinct from Gaming's outsized dominance. This confirms Gaming isn't just 'one of the heavier apps' -- it's the single overwhelming driver of application-specific traffic once ambiguous catch-all usage is set aside, a materially different conclusion than treating all 7 categories as comparable, as the earlier moderate 0.31-0.42 correlation band might have suggested at first glance. The tight clustering in the top-10-per-application lists suggests a data-generation ceiling or cap effect on these specific top-of-range figures rather than a smooth long tail. Business implication: any network capacity planning or QoS prioritization conversation with TellCo's technical teams should treat Gaming traffic as the dominant capacity driver, not spread investment evenly across all seven application categories.
HOW:
Per-application total traffic (DL+UL) was summed across all customers for each of the 7 applications, 'Other' was excluded from this specific ranking, and the remaining 3 highest-traffic applications were plotted. Top-10-per-application was computed independently by sorting each application's per-customer total traffic column in descending order.
ALSO IN THE NOTEBOOK (not shown on this slide):
The complete top-10-most-engaged-user tables for all 7 applications individually (this slide shows only the top-3-application traffic comparison), and the full per-application traffic ranking including the excluded 'Other' category.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Outlier detection ahead of this clustering step was evidence-first rather than assumption-first: skewness, kurtosis, and IQR/Z-score outlier rates were computed and compared before any treatment decision was made. TCP Retransmission and RTT showed outlier rates of 12.6%-20.4% by the IQR method -- meaningfully higher than the comparable metrics examined back in User Overview (3.05%-7.64%) -- a genuine finding about this section's data in its own right, not just a preprocessing footnote. Beyond the three headline clusters shown on the chart, Cluster 2 (15.6% of customers, the moderate-profile group) sits in between Clusters 0 and 1 on most of the five metrics rather than being distinctly high or low on any of them.
WHY:
The elevated outlier rate in TCP/RTT relative to User Overview's metrics is itself informative: it suggests network-quality measurements are inherently noisier or more volatile than usage-volume measurements, which is part of why median-based capping (rather than mean-based) was the more defensible choice here specifically. This finding becomes the single most important thread in the whole analysis: it resurfaces in User Satisfaction, where the lower-satisfaction cluster is explained almost entirely by poor Experience, not low Engagement, and it directly drives the final Business Recommendation's uplink-investment lever. Cluster 0's 'best' profile should be read with real caution: it's best understood as customers with minimal measured network activity rather than confirmed superior treatment, especially since most customers in this dataset have only one recorded session (see single-session bias in Limitations) -- a single light session naturally produces low retransmission counts and low RTT variance regardless of true underlying network quality.
HOW:
All five experience metrics (Average TCP Retransmission, Average RTT DL/UL, Average Throughput DL/UL) were treated for outliers using IQR-based median capping -- 75,870 individual outlier values were replaced, with no customer records deleted -- then MinMaxScaler-normalized before K-Means (k=3) was fit across all five simultaneously. A separate elbow-method check (run as a transparency validation, found the sharpest bend at k=2 rather than k=3 -- a real discrepancy reported honestly rather than smoothed over; k=3 was still used for the clustering actually shown, and the resulting 3-cluster split remains informative regardless of the discrepancy.
ALSO IN THE NOTEBOOK (not shown on this slide):
The skew/kurtosis/IQR-vs-Z-score comparison table that justified the median-capping decision itself, showing the exact per-metric outlier rates behind the 12.6%-20.4% figure cited above. The elbow-method inertia curve as an actual line plot (rather than just the k=2-vs-k=3 finding described in prose here). And the full pre/post-treatment distribution histograms for TCP Retransmission and RTT that visually show the effect of the IQR-based median capping.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reports the distribution of average throughput per handset type and the average TCP retransmission per handset type, both with interpretation. Restricting the throughput distribution to the 165 handset types with at least 30 customers still retains 95.55% of the customer base. That distribution isn't a single smooth cluster -- both DL and UL show a secondary bump well past the main peak (DL: a plateau near 9,000-11,000 kbps beyond the main 4,000-6,000 cluster). Average TCP retransmission per handset type, reported for the top 10 handset types by customer count: Huawei B528S-23A tops the ranking at 34,188.81 bytes average retransmission, followed by Samsung Galaxy S8 (32,684.97), then several Apple iPhone models (iPhone 6: 25,192.85; iPhone 7: 24,087.74; iPhone XR: 23,387.12) and Unknown (22,124.82). A separate diagnostic check found handset popularity has essentially no relationship with TCP retransmission (correlation approximately 0) and only weak positive relationships with throughput (DL approximately 0.19, UL weaker).
WHY:
Sample-size discipline matters here: of 1,391 distinct handset types, 591 have exactly one customer, so their 'average' is just that one customer's single reading, not a genuine average -- restricting to types with at least 30 customers gives a genuine population-level view rather than a noise-dominated one. The secondary bump in the throughput distribution suggests the handset population splits into distinct performance tiers rather than varying continuously -- worth flagging for anyone building handset-tier-based network planning. Huawei B528S-23A standing out sharply from every other entry across both this ranking and the throughput analysis is consistent with its model name matching Huawei's B-series 4G router line rather than a personal handset -- a working hypothesis to confirm in the final synthesis, not a settled conclusion. If it does turn out to be shared network infrastructure, that would explain both patterns at once: more total data moved, and more retransmission events, without necessarily meaning worse per-user reliability. The traffic-per-session check finding no meaningful difference (1.00x) neither confirms nor rules out shared-infrastructure use; the dataset offers no further way to resolve it, so it is flagged as an open item in Limitations and Future Scope rather than driving the recommendation. Popularity showing no meaningful relationship with retransmission and only a weak one with throughput means popularity is not a meaningful proxy for network experience quality -- a widely-used handset isn't inherently better or worse served.
HOW:
Handset types with fewer than 30 customers were excluded before plotting the throughput distribution, leaving 165 types. Average TCP retransmission was computed per handset type and ranked for the top 10 types by customer count. The popularity-vs-experience check used Handset Type_Freq (a frequency-encoded column built during Encoding) correlated directly against TCP retransmission and throughput. The traffic-per-session check compared Huawei B528S-23A's average traffic-per-session against all other devices' average, expressed as a ratio.
ALSO IN THE NOTEBOOK (not shown on this slide):
The top-10, bottom-10, and most-frequent-10 value tables for TCP Retransmission, RTT, and Throughput individually (a distinct deliverable from the per-handset-type views shown here), and the full 165-handset-type throughput distribution histogram itself with skew/kurtosis annotations (this slide summarizes its findings in prose and a table rather than reproducing the histogram).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Each customer's Engagement Score is their Euclidean distance from their normalized data point to the least-engaged cluster centroid (from the Engagement clustering); Experience Score is their Euclidean distance to the worst-experience cluster centroid (from the Experience clustering); Satisfaction Score is the average of the two. K-Means (k=2) on the engagement and experience scores together produced two clusters: Cluster 0 (29,027 customers, 27.3%) has the higher satisfaction profile (0.577), driven almost entirely by a much stronger Experience Score (0.771 vs. 0.183). Cluster 1 (77,444 customers, 72.7%, the majority) has the lower satisfaction profile (0.307) -- but notably, its Engagement Score (0.430) is actually higher than Cluster 0's (0.383). A separate cluster-count check found the data's own elbow sits at k=3 rather than k=2.
WHY:
Both scores are Euclidean distances in normalized [0,1] space, so their range is bounded by the metric space itself rather than a fixed 0-1 or 1-10 scale -- higher values mean farther from the 'bad' reference cluster, i.e. better standing. The satisfaction score distribution is right-skewed (mean 0.380 above median 0.354), with most customers clustering 0.2-0.4 and a thin tail to 1.0-1.2 -- very few customers are simultaneously excellent on both dimensions. The two clusters aren't separated by engagement at all; they're separated almost entirely by Experience -- this is the clearest actionable finding in the whole Satisfaction Analysis. Nearly three-quarters of customers are engaging with the network at a comparable or even slightly better rate than the more-satisfied group, but poor network experience alone is what's dragging their overall satisfaction down. This directly reinforces the Experience Analysis finding that a real minority of customers face genuine network strain -- here it shows that strain is broad enough to define the majority cluster's satisfaction outcome, not just a small edge case affecting 10.8% of customers in isolation. This single finding is what turns the Experience Analysis's uplink-strain observation into the Business Recommendation's central, specific lever: fixing uplink reliability doesn't just help a small flagged segment, it's the thing actually separating satisfied from dissatisfied customers at scale. The elbow check landing on k=3 rather than the k=2 actually used is reported transparently, consistent with how the Engagement and Experience sections each disclosed their own data-vs-brief clustering discrepancies, rather than quietly picked whichever k looked more convenient.
HOW:
The least-engaged and worst-experience reference clusters were identified programmatically from each clustering's actual metric values (not assumed by arbitrary cluster label), then every customer's normalized feature vector had its Euclidean distance computed to each respective centroid. K-Means with k=2 was fit on the resulting Engagement Score / Experience Score pairs. The elbow check re-ran K-Means across a range of k values on the same two scores, tracking inertia decline to identify where the data's own curve bends.
ALSO IN THE NOTEBOOK (not shown on this slide):
The full customer-level Engagement-vs-Experience scatter plot (this slide uses a bar-chart summary of cluster averages instead, since a 106,471-point scatter doesn't render legibly at presentation scale), and the top-10-most-satisfied-customer table.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Two regression models were compared to predict Satisfaction Score: Linear Regression (R² = 0.7902, CV R² = 0.7909) as a genuine straight-line baseline, and XGBoost (R² = 0.9934, CV R² = 0.9935) as the stronger, final model, closing nearly all of the remaining gap. Predictors used were the underlying normalized engagement and experience metrics directly -- not the Engagement Score and Experience Score themselves.
WHY:
The gap between the two models' R² is itself informative -- it shows satisfaction score has meaningful non-linear structure relative to the underlying normalized metrics, consistent with how the engagement and experience clustering themselves were non-linear (K-Means on multi-dimensional normalized space) rather than simple linear relationships. The honest caveat that must accompany this result: Satisfaction Score is a deterministic formula built directly from Engagement and Experience Score, which are themselves built from the same underlying metrics used as regression features. The high model accuracy (XGBoost R² = 0.9934) reflects how well a flexible model can reconstruct a known formula, not a fully independent prediction of unseen customer behavior -- this is disclosed transparently here and again in Limitations, rather than presented as an unqualified predictive triumph. What this modeling step does validate, honestly: the underlying normalized engagement and experience metrics contain enough signal to reconstruct the satisfaction formula almost perfectly, meaning the two component scores genuinely capture the structure they're designed to capture -- a useful internal consistency check on the whole scoring methodology, even if it isn't a test of predicting genuinely unseen future behavior. The two models' near-identical test R² and CV R² (0.7902 vs. 0.7909; 0.9934 vs. 0.9935) also rules out overfitting in both cases -- neither model is memorizing the training set.
HOW:
An earlier iteration of this modeling step used Engagement Score and Experience Score directly as predictors; since Satisfaction Score is literally defined as their average, this produced a perfect but meaningless fit (documented in Challenges &amp; Key Learnings) -- diagnosed by testing the circular version and finding its R² suspiciously close to 1.0, then corrected by using the underlying normalized metrics as features instead. Both models were then trained on that corrected feature set with cross-validation to produce the CV R² figures shown alongside the single-split test R².
ALSO IN THE NOTEBOOK (not shown on this slide):
Residual plots and actual-vs-predicted scatter plots for both regression models, and the XGBoost model's feature-importance ranking showing which underlying engagement/experience metrics contribute most to the Satisfaction Score reconstruction.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final table (customer ID plus Engagement, Experience, and Satisfaction scores, all 106,471 customer rows) is delivered to a local SQL database, with a screenshot of a live SELECT query against the resulting table as proof of a complete, accurate import. This deliverable spans two notebooks rather than one: the main analysis notebook exports the final scoring table to a CSV file (Assets/user_satisfaction_scores.csv) in its own dedicated section, fully Colab-compatible; a second, standalone notebook (telecom_SQL_Import.ipynb) then reads that CSV and imports it into a local SQL Server Express database named TelecomDB, run separately on a local machine. The two screenshots shown here are the same 10 rows viewed two ways: the main notebook's own centered_table() display helper, which formats floats to 3 decimal places for on-page readability, and SQL Server Management Studio's native query result grid, which shows the full unrounded floating-point precision. The values are identical to 3 decimals in both.
WHY:
The brief originally specified MySQL; the supervisor confirmed SQL Server Express as an acceptable substitute for this deliverable, along with the other scope constraints noted throughout (no deployment, no dashboard, no unit tests). Splitting the work into two notebooks exists for a specific technical reason, not organizational preference: SQL Server access requires Windows Authentication, which only works when code executes on the same physical machine as the SQL Server instance -- incompatible with Google Colab's cloud runtime, where the rest of this project is designed to run. Keeping the CSV export in the main notebook (rather than the SQL write itself) means the primary analysis notebook stays fully portable and Colab-compatible, while isolating the one genuinely environment-dependent step into its own small, standalone file. The two-screenshot comparison is the concrete, verifiable proof that the import is accurate and complete, not a display artifact or a partial/corrupted transfer -- this matters for an investor-facing deliverable because it shows the handoff from analysis to database was verified, not just assumed to have worked.
HOW:
The main notebook's export step writes MSISDN/Number, Engagement Score, Experience Score, and Satisfaction Score to Assets/user_satisfaction_scores.csv, with the working 'user_satisfaction' DataFrame used throughout the rest of the main notebook's analysis keeping its original column names unchanged. The separate SQL Import notebook then reads that CSV, cleans column names for SQL compatibility (spaces and the '/' in MSISDN/Number replaced with underscores) on the imported copy only, and uses sqlalchemy and pyodbc via Windows Authentication against a local SQL Server Express instance to create the TelecomDB database (if it doesn't already exist) and import all 106,471 rows into a table named user_satisfaction_scores. A live SELECT TOP 10 query was then run against that table in SQL Server Management Studio to capture the verification screenshot shown here.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recreates the project's README hero dashboard as a full 12-card summary, distilling one headline number from each stage of the analysis into a single view before the recommendation slide: dataset scale (customers, session records, Apple share, Gaming traffic dominance), each pillar's task-specified vs. data-suggested cluster count (Engagement, Experience, Satisfaction), the two Experience Analysis cluster shares (73.6% smooth / 10.8% real problems), the Satisfaction Analysis's engagement-vs-experience finding (72.7% held back by network quality, not usage), the model validation score (0.9935), and the final recommendation (Purchase).
WHY:
73.6% and 10.8% (Experience Analysis) likely reflect, respectively, light/single-session measurement and a genuine, concentrated uplink-reliability concern rather than a broad network-wide failure -- flagged rather than overstated. The 0.9935 cross-validated R² is included as a credibility marker for the underlying scoring methodology, with the appropriate circularity caveat disclosed in full at the Model Validation slide and again in Limitations. The three task-specified vs. data-suggested cluster-count cards make a specific, deliberate point: at every clustering step in this analysis, the number of segments actually used matched what the brief specified, even where an elbow-method check suggested a different number would fit the data more naturally -- shown here together, transparently, rather than smoothed over individually. The tagline at the bottom -- 'same usage, different network quality' -- directly references the Satisfaction Analysis's headline finding (Engagement Scores nearly identical across clusters, Experience Scores sharply divided) that makes the final recommendation possible: because dissatisfaction is driven by network experience specifically, and concentrated in an identifiable minority, the investor has a precise, non-diffuse investment target rather than a diffuse structural problem.
HOW:
Each figure is pulled directly from its source pillar's own clustering, correlation, or modeling output rather than recomputed independently, so this slide is a synthesis view, not a new calculation. The three cluster-count cards each pair the k value specified for that section's clustering step with the k value an independent elbow-method check found to fit the data's own inertia curve most naturally.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Growth potential assessment, grounded directly in the findings across all four pillars -- not a generic buy/sell framing, but a specific answer to where TellCo's actual lever for improvement sits. Overall assessment: positive, contingent on uplink investment. The customer base is broad and largely well-served -- 73.6% of customers show minimal network friction, and engagement levels are comparable across both the more- and less-satisfied customer segments. The specific lever: uplink network reliability for heavy uploaders. The 10.8% of customers with the heaviest uplink traffic show simultaneously the highest TCP retransmission and worst uplink latency -- and this same group anchors the lower-satisfaction cluster in the Satisfaction Analysis, despite engaging with the network just as much as happier customers. A noted open question: Huawei B528S-23A, the single most-used device in the dataset, carries a model name consistent with Huawei's 4G router line rather than a personal handset.
WHY:
The growth opportunity here is unusually well-defined rather than diffuse: TellCo isn't facing a broad-based churn or engagement problem, it's facing one identifiable, addressable weak point. Improving uplink capacity/reliability specifically -- rather than a broad, costly network-wide overhaul -- directly targets the segment most responsible for dissatisfaction, without needing to 'fix' a network that is, for the large majority, already performing acceptably. This is a favorable acquisition profile: the improvement lever is specific rather than structural, the affected customer segment is identifiable rather than diffuse, and the majority of the customer base already reflects a functioning, engaged relationship with the network. The investor's stated goal -- finding where a focused change can drive profitability -- has a clear answer here: uplink capacity and reliability investment, not a network-wide overhaul. The Huawei question is flagged as an open item for further investigation, not a factor driving the recommendation above, since a direct traffic-per-session check found no meaningful difference from other devices, neither confirming nor ruling out shared-infrastructure use.
HOW:
This recommendation synthesizes the Experience Analysis's cluster findings (73.6% minimal friction / 10.8% uplink-strained), the Satisfaction Analysis's cluster comparison (engagement near-identical, experience sharply divided), and the Handset Diagnostics finding on Huawei B528S-23A, rather than being derived from any single pillar in isolation. Further investigation of the Huawei question would require checking IMEI ranges or device registration data outside this dataset.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Six limitations are flagged: (1) 72.74% of customers have exactly one recorded session. (2) Huawei B528S-23A's model name is consistent with Huawei's 4G router product line rather than a personal handset, and it is the single most-used device in the dataset by a wide margin, yet a direct traffic-per-session check found no meaningful difference from other devices (a 1.00x ratio). (3) Satisfaction Score is a deterministic formula built directly from Engagement and Experience Score, which are themselves built from the same underlying metrics used as regression features. (4) All three clustering exercises (Engagement k=3, Experience k=3, Satisfaction k=2) used fixed k values, while elbow checks run alongside each showed the data's own inertia curve pointing elsewhere in every case. (5) Of 1,391 distinct handset types, 591 have exactly one customer. (6) The analysis reflects one month of aggregated data only.
WHY:
For customers with exactly one session, every 'average' metric is really just one raw reading -- not a genuine average of behavior over time. This affects interpretation throughout: Cluster 0's 'best network experience' in the Experience Analysis, and the majority satisfaction cluster's 'minimal friction', likely reflect light, limited measurement rather than confirmed superior treatment. The Huawei traffic-per-session check neither confirms nor rules out shared-infrastructure use, and the dataset offers no further way to resolve it -- an open, unresolved question rather than a settled one. Satisfaction Score prediction is not fully independent: the high model accuracy (XGBoost R² = 0.9934) reflects how well a flexible model can reconstruct a known formula, not a fully independent prediction of unseen customer behavior. The cluster-count discrepancies are reported transparently at each step, but the cluster counts used throughout reflect the specified requirement, not necessarily the structure the data would suggest on its own. Handset-level averages are noisy for rare devices, so any handset-level analysis carries this sample-size constraint even with thresholds in place. One month of data means nothing here can speak to seasonality, trend direction, or whether observed patterns are stable or already improving/worsening -- a material caveat for an acquisition decision.
HOW:
Single-session share was computed by counting customers with exactly one row in the per-session data before aggregation. The Huawei traffic-per-session check compared its average traffic-per-session ratio directly against all other devices. Cluster-count discrepancies were surfaced by running an elbow-method inertia check alongside each K-Means clustering step, independent of the k value actually used. Handset-type sample sizes were audited by counting customers per distinct handset type. Two additional notes for methodology reviewers: two of three frequency-encoded columns remain unused beyond diagnostic checks -- Handset Type_Freq was applied as a diagnostic check against network experience (finding no meaningful relationship); Handset Manufacturer_Freq and Last Location Name_Freq were built but not used in this iteration. And two documented deviations from literal brief wording -- median instead of mean, and IQR instead of Z-score for outlier detection -- were each justified and documented at the point they were made (data skew, established project convention), acknowledged departures from literal brief wording, not from the brief's own methodology intent.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Six challenges are documented: (1) Bearer Id silently overflowed int64 when cast alongside genuine identifier columns. (2) An early outlier-treatment attempt skipped straight to capping without first quantifying skew, kurtosis, or IQR/Z-score outlier rates. (3) An initial regression setup used Engagement Score and Experience Score directly as predictors of Satisfaction Score. (4) An untuned Random Forest with default settings took over 25 minutes to train and cross-validate on 106,471 rows. (5) Both the Engagement and Experience clustering cells originally reused the generic name 'kmeans' for their fitted models. (6) Distinguishing genuinely task-required scope from 'beyond the ask' additions required care throughout (full univariate/bivariate/multivariate treatment vs. a leaner approach, top-N vs. full-population distributions, min/max/total statistics vs. averages only).
WHY:
Bearer Id's values (~1.31e19) exceed int64's maximum (~9.22e18), producing a fixed sentinel value for every row if left uncaught -- a silent, easy-to-miss data corruption rather than an obvious error. The early outlier-treatment attempt conflated a separate design decision (how to aggregate multiple sessions per customer) with outlier treatment itself, which would have produced misleading capping thresholds. The circular regression setup produced a perfect but meaningless fit, since Satisfaction Score is literally defined as the average of the two scores used as predictors -- a model can't be said to meaningfully 'predict' a value it was given the exact ingredients to reconstruct. The Random Forest runtime issue mattered practically at this dataset size, not just as an inconvenience. Reusing 'kmeans' as a variable name across sections meant only the most recently run model remained accessible by the time the Satisfaction Analysis needed both engagement and experience cluster centroids. Distinguishing task-required scope from extras matters because defaulting to the heaviest precedent everywhere would inflate scope without adding real analytical value, while under-scoping would miss genuine requirements -- both were checked against the brief's actual wording at each step, a recurring discipline throughout rather than a one-time fix. Overall learning: building an effective machine learning solution involves much more than selecting a high-performing algorithm -- careful data preparation, thoughtful feature engineering, evidence-based feature selection, robust model evaluation, reproducible experimentation, and meaningful business interpretation all contributed to a reliable, trustworthy final analysis.
HOW:
(1) Root-caused to the data type correction step and resolved by excluding Bearer Id from the int64 cast, since it's a pure identifier only ever used for counting. (2) Corrected by properly separating the aggregation-design decision from outlier treatment, then computing real skew/kurtosis/IQR evidence before any capping decision, mirroring the User Overview section's own established rigor. (3) Diagnosed by explicitly testing the circular version and confirming its R² was suspiciously close to 1.0, then corrected by using the underlying normalized metrics as features instead. (4) Resolved by explicitly parallelizing (n_jobs=-1) and capping tree depth, then ultimately replaced with XGBoost for both stronger accuracy and substantially faster training. (5) Resolved by renaming to kmeans_engagement / kmeans_experience / kmeans_satisfaction, allowing direct access to each model's own stored cluster centroids rather than recomputing them. (6) Resolved by checking each task's actual wording directly rather than defaulting to the heaviest precedent available elsewhere in the notebook.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Conclusion: this project set out to answer two business questions -- which factors genuinely influence the business's fundamentals, and can data-driven analysis support a clear buy/sell recommendation. Final recommendation: TellCo is worth purchasing, with one clearly identified, addressable weak point -- uplink network reliability for a specific, quantifiable minority of heavy uploaders (10.8% of customers), whose poor experience, not their engagement level, is what separates them from the majority's satisfaction. All five of the project's original expected outcomes are confirmed met: customer composition and behavior characterized, dominant handsets/applications identified, engagement/experience clusters built, satisfaction quantified and validated, and a clear acquisition recommendation delivered. Future Scope: several items were explicitly descoped for this deliverable -- a reusable pip-installable package with unit tests and CI/CD, Docker containerization, a Streamlit/Flask dashboard, and model deployment/tracking. Natural extensions include multi-user SQL connection handling, multi-month trend analysis, resolving the Huawei B528S-23A open question, and A/B validation of the uplink investment recommendation on new data.
WHY:
The analysis demonstrates both opening business questions can be answered using a structured, evidence-based pipeline. Across all four analyses, the customer base is broad, engaged, and largely well-served -- this is not a business in decline, nor one with a diffuse, expensive-to-fix problem, which is what makes this a favorable acquisition profile: the improvement lever is specific rather than structural, and the affected customer segment is identifiable rather than diffuse. This recommendation carries the limitations outlined earlier -- most notably that the analysis is based on one month of data with no trend visibility, and that a meaningful share of customers (72.74%) are measured from only a single session -- which is why a specific next step (request additional months of data) is recommended before finalizing any purchase decision, rather than treating this analysis as fully conclusive on its own. The descoped items were deliberate decisions made with supervisor agreement, not oversights -- appropriate scope management for this specific deliverable rather than a shortcut. The suggested extensions each address a specific gap: multi-user SQL handling addresses the current single-analyst assumption; multi-month analysis addresses the one-month trend-visibility limitation directly; the Huawei investigation addresses the one open, unresolved question in the whole analysis; and A/B validation would close the loop on whether the recommended fix actually worked.
HOW:
The conclusion synthesizes findings from the User Overview Summary (composition/behavior), User Overview and User Engagement (handsets/applications), the Engagement and Experience clustering sections, and the Satisfaction regression comparison (with its circularity caveat) directly, rather than introducing new analysis at this stage. The recommended next step of requesting additional months of data would use the same aggregation and clustering pipeline already built, applied to new monthly extracts, to test whether the uplink-strain finding persists. Resolving the Huawei B528S-23A question would require device registration or IMEI-range lookups external to this dataset. A/B validation would involve re-running this same pipeline on new data after any actual network improvement, to confirm it measurably improved the flagged segment's scores.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provides references within the 20-slide deck. The Field Descriptions reference (55 fields) is the complete data dictionary referenced back on slide 2's Business Understanding &amp; Dataset Overview. The Project Repository link points to the GitHub repository holding the complete main analysis notebook (telecom_user_analytics_final.ipynb), the standalone SQL Import notebook (telecom_SQL_Import.ipynb), all data cleaning and feature engineering code, and the README. The dataset and brief section documents provenance: the xDR dataset itself (one month of aggregated data session detail records from TellCo, Republic of Pefkakia, shared by the current ownership specifically for this due-diligence exercise), and the original project brief from Nexthikes IT Solutions that defined the four analytical tasks and final submission requirements this deck responds to.
WHY:
The Field Descriptions file is attached here (rather than only the compact variable-category summary shown on slide 2) so a technical reviewer can check the full field-level detail directly alongside the deck. The GitHub repository link satisfies the final submission's requirement for a link to the data analysis code, and pointing to both notebooks specifically (rather than just the main one) reflects that the deliverable genuinely spans two files for the reason explained on the SQL Export slide.
HOW:
The analysis was conducted end-to-end in Google Colab / Jupyter notebook format, with the one exception of the SQL import step, which required local execution against a SQL Server Express instance via Windows Authentication, since Colab's cloud runtime has no network path to a local machine's SQL Server -- noted explicitly in the README and in-notebook as an environment-specific constraint.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Closing slide for what is an asynchronous, GitHub-hosted deliverable rather than a live presentation -- reviewed alongside the full notebook and README rather than presented with live Q&amp;A.
WHY:
Since there's no live audience to field questions, this slide's role is simply to point a reviewer toward where to go deeper, rather than to prompt a discussion.
HOW:
If a reviewer wants to go deeper on any single pillar, the corresponding main-notebook section (numbered 01 through 15) has the full Python implementation, all interpretive callouts, and the complete set of supporting visuals beyond what was shown on-slide; the SQL import process specifically is documented in the standalone telecom_SQL_Import.ipynb and its own setup notes in the README.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chart" Target="../charts/chart3.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S-Yousuf-S/NHIS_Project5"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2540"/>
          </a:solidFill>
          <a:ln/>
        </p:spPr>
      </p:sp>
      <p:sp>
        <p:nvSpPr>
          <p:cNvPr id="3" name="Shape 1"/>
          <p:cNvSpPr/>
          <p:nvPr/>
        </p:nvSpPr>
        <p:spPr>
          <a:xfrm>
            <a:off x="0" y="5166360"/>
            <a:ext cx="12188952" cy="27432"/>
          </a:xfrm>
          <a:prstGeom prst="rect">
            <a:avLst/>
          </a:prstGeom>
          <a:solidFill>
            <a:srgbClr val="0E7C7B"/>
          </a:solidFill>
          <a:ln/>
        </p:spPr>
      </p:sp>
      <p:sp>
        <p:nvSpPr>
          <p:cNvPr id="4" name="Text 2"/>
          <p:cNvSpPr/>
          <p:nvPr/>
        </p:nvSpPr>
        <p:spPr>
          <a:xfrm>
            <a:off x="822960" y="2057400"/>
            <a:ext cx="10543032" cy="914400"/>
          </a:xfrm>
          <a:prstGeom prst="rect">
            <a:avLst/>
          </a:prstGeom>
          <a:noFill/>
          <a:ln/>
        </p:spPr>
        <p:txBody>
          <a:bodyPr wrap="square" rtlCol="0" anchor="ctr"/>
          <a:lstStyle/>
          <a:p>
            <a:pPr marL="0" indent="0" algn="l">
              <a:buNone/>
            </a:pPr>
            <a:r>
              <a:rPr lang="en-US" sz="4800" b="1" dirty="0">
                <a:solidFill>
                  <a:srgbClr val="FFFFFF"/>
                </a:solidFill>
                <a:latin typeface="Bahnschrift" panose="020B0502040204020203" pitchFamily="34" charset="0"/>
                <a:ea typeface="Calibri" pitchFamily="34" charset="-122"/>
                <a:cs typeface="Calibri" pitchFamily="34" charset="-120"/>
              </a:rPr>
              <a:t>TELLCO USER ANALYTICS</a:t>
            </a:r>
            <a:endParaRPr lang="en-US" sz="4800" dirty="0">
              <a:latin typeface="Bahnschrift" panose="020B0502040204020203" pitchFamily="34" charset="0"/>
            </a:endParaRPr>
          </a:p>
        </p:txBody>
      </p:sp>
      <p:sp>
        <p:nvSpPr>
          <p:cNvPr id="5" name="Text 3"/>
          <p:cNvSpPr/>
          <p:nvPr/>
        </p:nvSpPr>
        <p:spPr>
          <a:xfrm>
            <a:off x="841248" y="3096644"/>
            <a:ext cx="10543032" cy="457200"/>
          </a:xfrm>
          <a:prstGeom prst="rect">
            <a:avLst/>
          </a:prstGeom>
          <a:noFill/>
          <a:ln/>
        </p:spPr>
        <p:txBody>
          <a:bodyPr wrap="square" rtlCol="0" anchor="ctr"/>
          <a:lstStyle/>
          <a:p>
            <a:pPr marL="0" indent="0" algn="l">
              <a:buNone/>
            </a:pPr>
            <a:r>
              <a:rPr lang="en-US" i="1" dirty="0">
                <a:solidFill>
                  <a:srgbClr val="9FC6E6"/>
                </a:solidFill>
                <a:latin typeface="Segoe UI" panose="020B0502040204020203" pitchFamily="34" charset="0"/>
                <a:ea typeface="Calibri" pitchFamily="34" charset="-122"/>
                <a:cs typeface="Segoe UI" panose="020B0502040204020203" pitchFamily="34" charset="0"/>
              </a:rPr>
              <a:t>A Due-Diligence Analysis for Acquisition Decision-Making</a:t>
            </a:r>
            <a:endParaRPr lang="en-US" dirty="0">
              <a:latin typeface="Segoe UI" panose="020B0502040204020203" pitchFamily="34" charset="0"/>
              <a:cs typeface="Segoe UI" panose="020B0502040204020203" pitchFamily="34" charset="0"/>
            </a:endParaRPr>
          </a:p>
        </p:txBody>
      </p:sp>
      <p:sp>
        <p:nvSpPr>
          <p:cNvPr id="16" name="Text 14"/>
          <p:cNvSpPr/>
          <p:nvPr/>
        </p:nvSpPr>
        <p:spPr>
          <a:xfrm>
            <a:off x="9630685" y="6113417"/>
            <a:ext cx="2456540" cy="365760"/>
          </a:xfrm>
          <a:prstGeom prst="rect">
            <a:avLst/>
          </a:prstGeom>
          <a:noFill/>
          <a:ln/>
        </p:spPr>
        <p:txBody>
          <a:bodyPr wrap="square" rtlCol="0" anchor="ctr"/>
          <a:lstStyle/>
          <a:p>
            <a:pPr marL="0" indent="0">
              <a:buNone/>
            </a:pPr>
            <a:r>
              <a:rPr lang="en-US" b="1" dirty="0">
                <a:solidFill>
                  <a:srgbClr val="C9D8E4"/>
                </a:solidFill>
                <a:latin typeface="Bahnschrift" panose="020B0502040204020203" pitchFamily="34" charset="0"/>
                <a:ea typeface="Calibri" pitchFamily="34" charset="-122"/>
                <a:cs typeface="Calibri" pitchFamily="34" charset="-120"/>
              </a:rPr>
              <a:t>Yousuf S. R. Sakkaf</a:t>
            </a:r>
            <a:endParaRPr lang="en-US" b="1" dirty="0">
              <a:latin typeface="Bahnschrift" panose="020B05020402040202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05B96"/>
          </a:solidFill>
          <a:ln/>
        </p:spPr>
      </p:sp>
      <p:sp>
        <p:nvSpPr>
          <p:cNvPr id="3" name="Text 1"/>
          <p:cNvSpPr/>
          <p:nvPr/>
        </p:nvSpPr>
        <p:spPr>
          <a:xfrm>
            <a:off x="457200" y="118872"/>
            <a:ext cx="11274552" cy="726481"/>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Business Understanding &amp; Dataset Overview</a:t>
            </a:r>
            <a:endParaRPr lang="en-US" sz="3600" dirty="0">
              <a:latin typeface="Bahnschrift" panose="020B0502040204020203" pitchFamily="34" charset="0"/>
            </a:endParaRPr>
          </a:p>
        </p:txBody>
      </p:sp>
      <p:sp>
        <p:nvSpPr>
          <p:cNvPr id="4" name="Text 2"/>
          <p:cNvSpPr/>
          <p:nvPr/>
        </p:nvSpPr>
        <p:spPr>
          <a:xfrm>
            <a:off x="548640" y="1078992"/>
            <a:ext cx="11091672" cy="502920"/>
          </a:xfrm>
          <a:prstGeom prst="rect">
            <a:avLst/>
          </a:prstGeom>
          <a:noFill/>
          <a:ln/>
        </p:spPr>
        <p:txBody>
          <a:bodyPr wrap="square" rtlCol="0" anchor="ctr"/>
          <a:lstStyle/>
          <a:p>
            <a:pPr marL="0" indent="0" algn="ctr">
              <a:buNone/>
            </a:pPr>
            <a:r>
              <a:rPr lang="en-US" i="1" dirty="0">
                <a:solidFill>
                  <a:schemeClr val="tx2">
                    <a:lumMod val="75000"/>
                  </a:schemeClr>
                </a:solidFill>
                <a:latin typeface="Segoe UI" panose="020B0502040204020203" pitchFamily="34" charset="0"/>
                <a:ea typeface="Calibri" pitchFamily="34" charset="-122"/>
                <a:cs typeface="Segoe UI" panose="020B0502040204020203" pitchFamily="34" charset="0"/>
              </a:rPr>
              <a:t>“Who is TellCo's customer, and is the network good enough to keep them?”</a:t>
            </a:r>
            <a:endParaRPr lang="en-US" dirty="0">
              <a:solidFill>
                <a:schemeClr val="tx2">
                  <a:lumMod val="75000"/>
                </a:schemeClr>
              </a:solidFill>
              <a:latin typeface="Segoe UI" panose="020B0502040204020203" pitchFamily="34" charset="0"/>
              <a:cs typeface="Segoe UI" panose="020B0502040204020203" pitchFamily="34" charset="0"/>
            </a:endParaRPr>
          </a:p>
        </p:txBody>
      </p:sp>
      <p:sp>
        <p:nvSpPr>
          <p:cNvPr id="5" name="Shape 3"/>
          <p:cNvSpPr/>
          <p:nvPr/>
        </p:nvSpPr>
        <p:spPr>
          <a:xfrm>
            <a:off x="612648" y="2128499"/>
            <a:ext cx="2606040" cy="1371600"/>
          </a:xfrm>
          <a:prstGeom prst="roundRect">
            <a:avLst>
              <a:gd name="adj" fmla="val 5333"/>
            </a:avLst>
          </a:prstGeom>
          <a:solidFill>
            <a:srgbClr val="EAF4FC"/>
          </a:solidFill>
          <a:ln w="9525">
            <a:solidFill>
              <a:srgbClr val="D7E6F2"/>
            </a:solidFill>
            <a:prstDash val="solid"/>
          </a:ln>
          <a:effectLst>
            <a:outerShdw blurRad="76200" dist="25400" dir="5400000" algn="bl" rotWithShape="0">
              <a:srgbClr val="3A4A5A">
                <a:alpha val="12000"/>
              </a:srgbClr>
            </a:outerShdw>
          </a:effectLst>
        </p:spPr>
      </p:sp>
      <p:sp>
        <p:nvSpPr>
          <p:cNvPr id="6" name="Text 4"/>
          <p:cNvSpPr/>
          <p:nvPr/>
        </p:nvSpPr>
        <p:spPr>
          <a:xfrm>
            <a:off x="704088" y="2347955"/>
            <a:ext cx="2423160" cy="630936"/>
          </a:xfrm>
          <a:prstGeom prst="rect">
            <a:avLst/>
          </a:prstGeom>
          <a:noFill/>
          <a:ln/>
        </p:spPr>
        <p:txBody>
          <a:bodyPr wrap="square" rtlCol="0" anchor="b"/>
          <a:lstStyle/>
          <a:p>
            <a:pPr marL="0" indent="0" algn="ctr">
              <a:buNone/>
            </a:pPr>
            <a:r>
              <a:rPr lang="en-US" sz="2400" b="1" dirty="0">
                <a:solidFill>
                  <a:srgbClr val="005B96"/>
                </a:solidFill>
                <a:ea typeface="Calibri" pitchFamily="34" charset="-122"/>
                <a:cs typeface="Calibri" pitchFamily="34" charset="-120"/>
              </a:rPr>
              <a:t>106,471</a:t>
            </a:r>
            <a:endParaRPr lang="en-US" sz="2400" dirty="0"/>
          </a:p>
        </p:txBody>
      </p:sp>
      <p:sp>
        <p:nvSpPr>
          <p:cNvPr id="7" name="Text 5"/>
          <p:cNvSpPr/>
          <p:nvPr/>
        </p:nvSpPr>
        <p:spPr>
          <a:xfrm>
            <a:off x="722376" y="2978891"/>
            <a:ext cx="2386584" cy="493776"/>
          </a:xfrm>
          <a:prstGeom prst="rect">
            <a:avLst/>
          </a:prstGeom>
          <a:noFill/>
          <a:ln/>
        </p:spPr>
        <p:txBody>
          <a:bodyPr wrap="square" rtlCol="0" anchor="t"/>
          <a:lstStyle/>
          <a:p>
            <a:pPr marL="0" indent="0" algn="ctr">
              <a:buNone/>
            </a:pPr>
            <a:r>
              <a:rPr lang="en-US" sz="1200" dirty="0">
                <a:solidFill>
                  <a:srgbClr val="56687A"/>
                </a:solidFill>
                <a:latin typeface="Segoe UI" panose="020B0502040204020203" pitchFamily="34" charset="0"/>
                <a:ea typeface="Calibri" pitchFamily="34" charset="-122"/>
                <a:cs typeface="Segoe UI" panose="020B0502040204020203" pitchFamily="34" charset="0"/>
              </a:rPr>
              <a:t>Unique Customers</a:t>
            </a:r>
            <a:endParaRPr lang="en-US" sz="1200" dirty="0">
              <a:latin typeface="Segoe UI" panose="020B0502040204020203" pitchFamily="34" charset="0"/>
              <a:cs typeface="Segoe UI" panose="020B0502040204020203" pitchFamily="34" charset="0"/>
            </a:endParaRPr>
          </a:p>
        </p:txBody>
      </p:sp>
      <p:sp>
        <p:nvSpPr>
          <p:cNvPr id="8" name="Shape 6"/>
          <p:cNvSpPr/>
          <p:nvPr/>
        </p:nvSpPr>
        <p:spPr>
          <a:xfrm>
            <a:off x="3419856" y="2128499"/>
            <a:ext cx="2606040" cy="1371600"/>
          </a:xfrm>
          <a:prstGeom prst="roundRect">
            <a:avLst>
              <a:gd name="adj" fmla="val 5333"/>
            </a:avLst>
          </a:prstGeom>
          <a:solidFill>
            <a:srgbClr val="EAF4FC"/>
          </a:solidFill>
          <a:ln w="9525">
            <a:solidFill>
              <a:srgbClr val="D7E6F2"/>
            </a:solidFill>
            <a:prstDash val="solid"/>
          </a:ln>
          <a:effectLst>
            <a:outerShdw blurRad="76200" dist="25400" dir="5400000" algn="bl" rotWithShape="0">
              <a:srgbClr val="3A4A5A">
                <a:alpha val="12000"/>
              </a:srgbClr>
            </a:outerShdw>
          </a:effectLst>
        </p:spPr>
      </p:sp>
      <p:sp>
        <p:nvSpPr>
          <p:cNvPr id="9" name="Text 7"/>
          <p:cNvSpPr/>
          <p:nvPr/>
        </p:nvSpPr>
        <p:spPr>
          <a:xfrm>
            <a:off x="3511296" y="2347955"/>
            <a:ext cx="2423160" cy="630936"/>
          </a:xfrm>
          <a:prstGeom prst="rect">
            <a:avLst/>
          </a:prstGeom>
          <a:noFill/>
          <a:ln/>
        </p:spPr>
        <p:txBody>
          <a:bodyPr wrap="square" rtlCol="0" anchor="b"/>
          <a:lstStyle/>
          <a:p>
            <a:pPr marL="0" indent="0" algn="ctr">
              <a:buNone/>
            </a:pPr>
            <a:r>
              <a:rPr lang="en-US" sz="2400" b="1" dirty="0">
                <a:solidFill>
                  <a:srgbClr val="005B96"/>
                </a:solidFill>
                <a:latin typeface="Calibri" pitchFamily="34" charset="0"/>
                <a:ea typeface="Calibri" pitchFamily="34" charset="-122"/>
                <a:cs typeface="Calibri" pitchFamily="34" charset="-120"/>
              </a:rPr>
              <a:t>150,001</a:t>
            </a:r>
            <a:endParaRPr lang="en-US" sz="2400" dirty="0"/>
          </a:p>
        </p:txBody>
      </p:sp>
      <p:sp>
        <p:nvSpPr>
          <p:cNvPr id="10" name="Text 8"/>
          <p:cNvSpPr/>
          <p:nvPr/>
        </p:nvSpPr>
        <p:spPr>
          <a:xfrm>
            <a:off x="3529584" y="2978891"/>
            <a:ext cx="2386584" cy="493776"/>
          </a:xfrm>
          <a:prstGeom prst="rect">
            <a:avLst/>
          </a:prstGeom>
          <a:noFill/>
          <a:ln/>
        </p:spPr>
        <p:txBody>
          <a:bodyPr wrap="square" rtlCol="0" anchor="t"/>
          <a:lstStyle/>
          <a:p>
            <a:pPr algn="ctr"/>
            <a:r>
              <a:rPr lang="en-US" sz="1200" dirty="0">
                <a:solidFill>
                  <a:srgbClr val="56687A"/>
                </a:solidFill>
                <a:latin typeface="Segoe UI" panose="020B0502040204020203" pitchFamily="34" charset="0"/>
                <a:ea typeface="Calibri" pitchFamily="34" charset="-122"/>
                <a:cs typeface="Segoe UI" panose="020B0502040204020203" pitchFamily="34" charset="0"/>
              </a:rPr>
              <a:t>Raw xDR Session Records</a:t>
            </a:r>
          </a:p>
        </p:txBody>
      </p:sp>
      <p:sp>
        <p:nvSpPr>
          <p:cNvPr id="11" name="Shape 9"/>
          <p:cNvSpPr/>
          <p:nvPr/>
        </p:nvSpPr>
        <p:spPr>
          <a:xfrm>
            <a:off x="6227064" y="2128499"/>
            <a:ext cx="2606040" cy="1371600"/>
          </a:xfrm>
          <a:prstGeom prst="roundRect">
            <a:avLst>
              <a:gd name="adj" fmla="val 5333"/>
            </a:avLst>
          </a:prstGeom>
          <a:solidFill>
            <a:srgbClr val="EAF4FC"/>
          </a:solidFill>
          <a:ln w="9525">
            <a:solidFill>
              <a:srgbClr val="D7E6F2"/>
            </a:solidFill>
            <a:prstDash val="solid"/>
          </a:ln>
          <a:effectLst>
            <a:outerShdw blurRad="76200" dist="25400" dir="5400000" algn="bl" rotWithShape="0">
              <a:srgbClr val="3A4A5A">
                <a:alpha val="12000"/>
              </a:srgbClr>
            </a:outerShdw>
          </a:effectLst>
        </p:spPr>
      </p:sp>
      <p:sp>
        <p:nvSpPr>
          <p:cNvPr id="12" name="Text 10"/>
          <p:cNvSpPr/>
          <p:nvPr/>
        </p:nvSpPr>
        <p:spPr>
          <a:xfrm>
            <a:off x="6318504" y="2347955"/>
            <a:ext cx="2423160" cy="630936"/>
          </a:xfrm>
          <a:prstGeom prst="rect">
            <a:avLst/>
          </a:prstGeom>
          <a:noFill/>
          <a:ln/>
        </p:spPr>
        <p:txBody>
          <a:bodyPr wrap="square" rtlCol="0" anchor="b"/>
          <a:lstStyle/>
          <a:p>
            <a:pPr marL="0" indent="0" algn="ctr">
              <a:buNone/>
            </a:pPr>
            <a:r>
              <a:rPr lang="en-US" sz="2400" b="1" dirty="0">
                <a:solidFill>
                  <a:srgbClr val="005B96"/>
                </a:solidFill>
                <a:latin typeface="Calibri" pitchFamily="34" charset="0"/>
                <a:ea typeface="Calibri" pitchFamily="34" charset="-122"/>
                <a:cs typeface="Calibri" pitchFamily="34" charset="-120"/>
              </a:rPr>
              <a:t>55</a:t>
            </a:r>
            <a:endParaRPr lang="en-US" sz="2400" dirty="0"/>
          </a:p>
        </p:txBody>
      </p:sp>
      <p:sp>
        <p:nvSpPr>
          <p:cNvPr id="13" name="Text 11"/>
          <p:cNvSpPr/>
          <p:nvPr/>
        </p:nvSpPr>
        <p:spPr>
          <a:xfrm>
            <a:off x="6336792" y="2978891"/>
            <a:ext cx="2386584" cy="493776"/>
          </a:xfrm>
          <a:prstGeom prst="rect">
            <a:avLst/>
          </a:prstGeom>
          <a:noFill/>
          <a:ln/>
        </p:spPr>
        <p:txBody>
          <a:bodyPr wrap="square" rtlCol="0" anchor="t"/>
          <a:lstStyle/>
          <a:p>
            <a:pPr indent="0" algn="ctr">
              <a:buNone/>
            </a:pPr>
            <a:r>
              <a:rPr lang="en-US" sz="1200" dirty="0">
                <a:solidFill>
                  <a:srgbClr val="56687A"/>
                </a:solidFill>
                <a:latin typeface="Segoe UI" panose="020B0502040204020203" pitchFamily="34" charset="0"/>
                <a:ea typeface="Calibri" pitchFamily="34" charset="-122"/>
                <a:cs typeface="Segoe UI" panose="020B0502040204020203" pitchFamily="34" charset="0"/>
              </a:rPr>
              <a:t>Raw Data Columns</a:t>
            </a:r>
          </a:p>
        </p:txBody>
      </p:sp>
      <p:sp>
        <p:nvSpPr>
          <p:cNvPr id="14" name="Shape 12"/>
          <p:cNvSpPr/>
          <p:nvPr/>
        </p:nvSpPr>
        <p:spPr>
          <a:xfrm>
            <a:off x="9034272" y="2128499"/>
            <a:ext cx="2606040" cy="1371600"/>
          </a:xfrm>
          <a:prstGeom prst="roundRect">
            <a:avLst>
              <a:gd name="adj" fmla="val 5333"/>
            </a:avLst>
          </a:prstGeom>
          <a:solidFill>
            <a:srgbClr val="EAF4FC"/>
          </a:solidFill>
          <a:ln w="9525">
            <a:solidFill>
              <a:srgbClr val="D7E6F2"/>
            </a:solidFill>
            <a:prstDash val="solid"/>
          </a:ln>
          <a:effectLst>
            <a:outerShdw blurRad="76200" dist="25400" dir="5400000" algn="bl" rotWithShape="0">
              <a:srgbClr val="3A4A5A">
                <a:alpha val="12000"/>
              </a:srgbClr>
            </a:outerShdw>
          </a:effectLst>
        </p:spPr>
      </p:sp>
      <p:sp>
        <p:nvSpPr>
          <p:cNvPr id="15" name="Text 13"/>
          <p:cNvSpPr/>
          <p:nvPr/>
        </p:nvSpPr>
        <p:spPr>
          <a:xfrm>
            <a:off x="9125712" y="2347955"/>
            <a:ext cx="2423160" cy="630936"/>
          </a:xfrm>
          <a:prstGeom prst="rect">
            <a:avLst/>
          </a:prstGeom>
          <a:noFill/>
          <a:ln/>
        </p:spPr>
        <p:txBody>
          <a:bodyPr wrap="square" rtlCol="0" anchor="b"/>
          <a:lstStyle/>
          <a:p>
            <a:pPr marL="0" indent="0" algn="ctr">
              <a:buNone/>
            </a:pPr>
            <a:r>
              <a:rPr lang="en-US" sz="2400" b="1" dirty="0">
                <a:solidFill>
                  <a:srgbClr val="005B96"/>
                </a:solidFill>
                <a:latin typeface="Calibri" pitchFamily="34" charset="0"/>
                <a:ea typeface="Calibri" pitchFamily="34" charset="-122"/>
                <a:cs typeface="Calibri" pitchFamily="34" charset="-120"/>
              </a:rPr>
              <a:t>1 Month</a:t>
            </a:r>
            <a:endParaRPr lang="en-US" sz="2400" dirty="0"/>
          </a:p>
        </p:txBody>
      </p:sp>
      <p:sp>
        <p:nvSpPr>
          <p:cNvPr id="16" name="Text 14"/>
          <p:cNvSpPr/>
          <p:nvPr/>
        </p:nvSpPr>
        <p:spPr>
          <a:xfrm>
            <a:off x="9144000" y="2978891"/>
            <a:ext cx="2386584" cy="493776"/>
          </a:xfrm>
          <a:prstGeom prst="rect">
            <a:avLst/>
          </a:prstGeom>
          <a:noFill/>
          <a:ln/>
        </p:spPr>
        <p:txBody>
          <a:bodyPr wrap="square" rtlCol="0" anchor="t"/>
          <a:lstStyle/>
          <a:p>
            <a:pPr algn="ctr"/>
            <a:r>
              <a:rPr lang="en-US" sz="1200" dirty="0">
                <a:solidFill>
                  <a:srgbClr val="56687A"/>
                </a:solidFill>
                <a:latin typeface="Segoe UI" panose="020B0502040204020203" pitchFamily="34" charset="0"/>
                <a:ea typeface="Calibri" pitchFamily="34" charset="-122"/>
                <a:cs typeface="Segoe UI" panose="020B0502040204020203" pitchFamily="34" charset="0"/>
              </a:rPr>
              <a:t>Aggregated Network Data</a:t>
            </a:r>
          </a:p>
        </p:txBody>
      </p:sp>
      <p:sp>
        <p:nvSpPr>
          <p:cNvPr id="17" name="Shape 15"/>
          <p:cNvSpPr/>
          <p:nvPr/>
        </p:nvSpPr>
        <p:spPr>
          <a:xfrm>
            <a:off x="612648" y="3728699"/>
            <a:ext cx="2606040" cy="1417320"/>
          </a:xfrm>
          <a:prstGeom prst="roundRect">
            <a:avLst>
              <a:gd name="adj" fmla="val 5161"/>
            </a:avLst>
          </a:prstGeom>
          <a:solidFill>
            <a:srgbClr val="E3F5F4"/>
          </a:solidFill>
          <a:ln w="9525">
            <a:solidFill>
              <a:srgbClr val="CDEAE8"/>
            </a:solidFill>
            <a:prstDash val="solid"/>
          </a:ln>
        </p:spPr>
      </p:sp>
      <p:sp>
        <p:nvSpPr>
          <p:cNvPr id="18" name="Text 16"/>
          <p:cNvSpPr/>
          <p:nvPr/>
        </p:nvSpPr>
        <p:spPr>
          <a:xfrm>
            <a:off x="740664" y="3820139"/>
            <a:ext cx="2350008" cy="365760"/>
          </a:xfrm>
          <a:prstGeom prst="rect">
            <a:avLst/>
          </a:prstGeom>
          <a:noFill/>
          <a:ln/>
        </p:spPr>
        <p:txBody>
          <a:bodyPr wrap="square" rtlCol="0" anchor="ctr"/>
          <a:lstStyle/>
          <a:p>
            <a:pPr marL="0" indent="0">
              <a:buNone/>
            </a:pPr>
            <a:r>
              <a:rPr lang="en-US" sz="1400" b="1" dirty="0">
                <a:solidFill>
                  <a:srgbClr val="0E7C7B"/>
                </a:solidFill>
                <a:latin typeface="Segoe UI" panose="020B0502040204020203" pitchFamily="34" charset="0"/>
                <a:ea typeface="Calibri" pitchFamily="34" charset="-122"/>
                <a:cs typeface="Segoe UI" panose="020B0502040204020203" pitchFamily="34" charset="0"/>
              </a:rPr>
              <a:t>Identifiers &amp; Timing</a:t>
            </a:r>
            <a:endParaRPr lang="en-US" sz="1400" dirty="0">
              <a:latin typeface="Segoe UI" panose="020B0502040204020203" pitchFamily="34" charset="0"/>
              <a:cs typeface="Segoe UI" panose="020B0502040204020203" pitchFamily="34" charset="0"/>
            </a:endParaRPr>
          </a:p>
        </p:txBody>
      </p:sp>
      <p:sp>
        <p:nvSpPr>
          <p:cNvPr id="19" name="Text 17"/>
          <p:cNvSpPr/>
          <p:nvPr/>
        </p:nvSpPr>
        <p:spPr>
          <a:xfrm>
            <a:off x="740664" y="4185899"/>
            <a:ext cx="2350008" cy="960120"/>
          </a:xfrm>
          <a:prstGeom prst="rect">
            <a:avLst/>
          </a:prstGeom>
          <a:noFill/>
          <a:ln/>
        </p:spPr>
        <p:txBody>
          <a:bodyPr wrap="square" rtlCol="0" anchor="t"/>
          <a:lstStyle/>
          <a:p>
            <a:pPr marL="0" indent="0">
              <a:lnSpc>
                <a:spcPct val="105000"/>
              </a:lnSpc>
              <a:buNone/>
            </a:pPr>
            <a:r>
              <a:rPr lang="en-US" sz="1050" dirty="0">
                <a:solidFill>
                  <a:srgbClr val="56687A"/>
                </a:solidFill>
                <a:latin typeface="Segoe UI" panose="020B0502040204020203" pitchFamily="34" charset="0"/>
                <a:ea typeface="Calibri" pitchFamily="34" charset="-122"/>
                <a:cs typeface="Segoe UI" panose="020B0502040204020203" pitchFamily="34" charset="0"/>
              </a:rPr>
              <a:t>IMSI, MSISDN, Bearer Id, Start/End timestamps, Duration</a:t>
            </a:r>
            <a:endParaRPr lang="en-US" sz="1050" dirty="0">
              <a:latin typeface="Segoe UI" panose="020B0502040204020203" pitchFamily="34" charset="0"/>
              <a:cs typeface="Segoe UI" panose="020B0502040204020203" pitchFamily="34" charset="0"/>
            </a:endParaRPr>
          </a:p>
        </p:txBody>
      </p:sp>
      <p:sp>
        <p:nvSpPr>
          <p:cNvPr id="20" name="Shape 18"/>
          <p:cNvSpPr/>
          <p:nvPr/>
        </p:nvSpPr>
        <p:spPr>
          <a:xfrm>
            <a:off x="3419856" y="3728699"/>
            <a:ext cx="2606040" cy="1417320"/>
          </a:xfrm>
          <a:prstGeom prst="roundRect">
            <a:avLst>
              <a:gd name="adj" fmla="val 5161"/>
            </a:avLst>
          </a:prstGeom>
          <a:solidFill>
            <a:srgbClr val="E3F5F4"/>
          </a:solidFill>
          <a:ln w="9525">
            <a:solidFill>
              <a:srgbClr val="CDEAE8"/>
            </a:solidFill>
            <a:prstDash val="solid"/>
          </a:ln>
        </p:spPr>
      </p:sp>
      <p:sp>
        <p:nvSpPr>
          <p:cNvPr id="21" name="Text 19"/>
          <p:cNvSpPr/>
          <p:nvPr/>
        </p:nvSpPr>
        <p:spPr>
          <a:xfrm>
            <a:off x="3547872" y="3820139"/>
            <a:ext cx="2350008" cy="365760"/>
          </a:xfrm>
          <a:prstGeom prst="rect">
            <a:avLst/>
          </a:prstGeom>
          <a:noFill/>
          <a:ln/>
        </p:spPr>
        <p:txBody>
          <a:bodyPr wrap="square" rtlCol="0" anchor="ctr"/>
          <a:lstStyle/>
          <a:p>
            <a:r>
              <a:rPr lang="en-US" sz="1400" b="1" dirty="0">
                <a:solidFill>
                  <a:srgbClr val="0E7C7B"/>
                </a:solidFill>
                <a:latin typeface="Segoe UI" panose="020B0502040204020203" pitchFamily="34" charset="0"/>
                <a:ea typeface="Calibri" pitchFamily="34" charset="-122"/>
                <a:cs typeface="Segoe UI" panose="020B0502040204020203" pitchFamily="34" charset="0"/>
              </a:rPr>
              <a:t>Network Quality</a:t>
            </a:r>
          </a:p>
        </p:txBody>
      </p:sp>
      <p:sp>
        <p:nvSpPr>
          <p:cNvPr id="22" name="Text 20"/>
          <p:cNvSpPr/>
          <p:nvPr/>
        </p:nvSpPr>
        <p:spPr>
          <a:xfrm>
            <a:off x="3547872" y="4185899"/>
            <a:ext cx="2350008" cy="960120"/>
          </a:xfrm>
          <a:prstGeom prst="rect">
            <a:avLst/>
          </a:prstGeom>
          <a:noFill/>
          <a:ln/>
        </p:spPr>
        <p:txBody>
          <a:bodyPr wrap="square" rtlCol="0" anchor="t"/>
          <a:lstStyle/>
          <a:p>
            <a:pPr>
              <a:lnSpc>
                <a:spcPct val="105000"/>
              </a:lnSpc>
            </a:pPr>
            <a:r>
              <a:rPr lang="en-US" sz="1050" dirty="0">
                <a:solidFill>
                  <a:srgbClr val="56687A"/>
                </a:solidFill>
                <a:latin typeface="Segoe UI" panose="020B0502040204020203" pitchFamily="34" charset="0"/>
                <a:ea typeface="Calibri" pitchFamily="34" charset="-122"/>
                <a:cs typeface="Segoe UI" panose="020B0502040204020203" pitchFamily="34" charset="0"/>
              </a:rPr>
              <a:t>TCP Retransmission, RTT (DL/UL), Throughput (DL/UL)</a:t>
            </a:r>
          </a:p>
        </p:txBody>
      </p:sp>
      <p:sp>
        <p:nvSpPr>
          <p:cNvPr id="23" name="Shape 21"/>
          <p:cNvSpPr/>
          <p:nvPr/>
        </p:nvSpPr>
        <p:spPr>
          <a:xfrm>
            <a:off x="6227064" y="3728699"/>
            <a:ext cx="2606040" cy="1417320"/>
          </a:xfrm>
          <a:prstGeom prst="roundRect">
            <a:avLst>
              <a:gd name="adj" fmla="val 5161"/>
            </a:avLst>
          </a:prstGeom>
          <a:solidFill>
            <a:srgbClr val="E3F5F4"/>
          </a:solidFill>
          <a:ln w="9525">
            <a:solidFill>
              <a:srgbClr val="CDEAE8"/>
            </a:solidFill>
            <a:prstDash val="solid"/>
          </a:ln>
        </p:spPr>
      </p:sp>
      <p:sp>
        <p:nvSpPr>
          <p:cNvPr id="24" name="Text 22"/>
          <p:cNvSpPr/>
          <p:nvPr/>
        </p:nvSpPr>
        <p:spPr>
          <a:xfrm>
            <a:off x="6355080" y="3820139"/>
            <a:ext cx="2350008" cy="365760"/>
          </a:xfrm>
          <a:prstGeom prst="rect">
            <a:avLst/>
          </a:prstGeom>
          <a:noFill/>
          <a:ln/>
        </p:spPr>
        <p:txBody>
          <a:bodyPr wrap="square" rtlCol="0" anchor="ctr"/>
          <a:lstStyle/>
          <a:p>
            <a:pPr indent="0">
              <a:buNone/>
            </a:pPr>
            <a:r>
              <a:rPr lang="en-US" sz="1400" b="1" dirty="0">
                <a:solidFill>
                  <a:srgbClr val="0E7C7B"/>
                </a:solidFill>
                <a:latin typeface="Segoe UI" panose="020B0502040204020203" pitchFamily="34" charset="0"/>
                <a:ea typeface="Calibri" pitchFamily="34" charset="-122"/>
                <a:cs typeface="Segoe UI" panose="020B0502040204020203" pitchFamily="34" charset="0"/>
              </a:rPr>
              <a:t>Per-App Traffic</a:t>
            </a:r>
          </a:p>
        </p:txBody>
      </p:sp>
      <p:sp>
        <p:nvSpPr>
          <p:cNvPr id="25" name="Text 23"/>
          <p:cNvSpPr/>
          <p:nvPr/>
        </p:nvSpPr>
        <p:spPr>
          <a:xfrm>
            <a:off x="6355080" y="4185899"/>
            <a:ext cx="2350008" cy="960120"/>
          </a:xfrm>
          <a:prstGeom prst="rect">
            <a:avLst/>
          </a:prstGeom>
          <a:noFill/>
          <a:ln/>
        </p:spPr>
        <p:txBody>
          <a:bodyPr wrap="square" rtlCol="0" anchor="t"/>
          <a:lstStyle/>
          <a:p>
            <a:pPr marL="0" indent="0">
              <a:lnSpc>
                <a:spcPct val="105000"/>
              </a:lnSpc>
              <a:buNone/>
            </a:pPr>
            <a:r>
              <a:rPr lang="en-US" sz="1050" dirty="0">
                <a:solidFill>
                  <a:srgbClr val="56687A"/>
                </a:solidFill>
                <a:latin typeface="Segoe UI" panose="020B0502040204020203" pitchFamily="34" charset="0"/>
                <a:ea typeface="Calibri" pitchFamily="34" charset="-122"/>
                <a:cs typeface="Segoe UI" panose="020B0502040204020203" pitchFamily="34" charset="0"/>
              </a:rPr>
              <a:t>Social Media, Google, Email, YouTube, Netflix, Gaming, Other (DL/UL Bytes)</a:t>
            </a:r>
          </a:p>
        </p:txBody>
      </p:sp>
      <p:sp>
        <p:nvSpPr>
          <p:cNvPr id="26" name="Shape 24"/>
          <p:cNvSpPr/>
          <p:nvPr/>
        </p:nvSpPr>
        <p:spPr>
          <a:xfrm>
            <a:off x="9034272" y="3728699"/>
            <a:ext cx="2606040" cy="1417320"/>
          </a:xfrm>
          <a:prstGeom prst="roundRect">
            <a:avLst>
              <a:gd name="adj" fmla="val 5161"/>
            </a:avLst>
          </a:prstGeom>
          <a:solidFill>
            <a:srgbClr val="E3F5F4"/>
          </a:solidFill>
          <a:ln w="9525">
            <a:solidFill>
              <a:srgbClr val="CDEAE8"/>
            </a:solidFill>
            <a:prstDash val="solid"/>
          </a:ln>
        </p:spPr>
      </p:sp>
      <p:sp>
        <p:nvSpPr>
          <p:cNvPr id="27" name="Text 25"/>
          <p:cNvSpPr/>
          <p:nvPr/>
        </p:nvSpPr>
        <p:spPr>
          <a:xfrm>
            <a:off x="9162288" y="3820139"/>
            <a:ext cx="2350008" cy="365760"/>
          </a:xfrm>
          <a:prstGeom prst="rect">
            <a:avLst/>
          </a:prstGeom>
          <a:noFill/>
          <a:ln/>
        </p:spPr>
        <p:txBody>
          <a:bodyPr wrap="square" rtlCol="0" anchor="ctr"/>
          <a:lstStyle/>
          <a:p>
            <a:r>
              <a:rPr lang="en-US" sz="1400" b="1" dirty="0">
                <a:solidFill>
                  <a:srgbClr val="0E7C7B"/>
                </a:solidFill>
                <a:latin typeface="Segoe UI" panose="020B0502040204020203" pitchFamily="34" charset="0"/>
                <a:ea typeface="Calibri" pitchFamily="34" charset="-122"/>
                <a:cs typeface="Segoe UI" panose="020B0502040204020203" pitchFamily="34" charset="0"/>
              </a:rPr>
              <a:t>Device &amp; Location</a:t>
            </a:r>
          </a:p>
        </p:txBody>
      </p:sp>
      <p:sp>
        <p:nvSpPr>
          <p:cNvPr id="28" name="Text 26"/>
          <p:cNvSpPr/>
          <p:nvPr/>
        </p:nvSpPr>
        <p:spPr>
          <a:xfrm>
            <a:off x="9162288" y="4185899"/>
            <a:ext cx="2350008" cy="960120"/>
          </a:xfrm>
          <a:prstGeom prst="rect">
            <a:avLst/>
          </a:prstGeom>
          <a:noFill/>
          <a:ln/>
        </p:spPr>
        <p:txBody>
          <a:bodyPr wrap="square" rtlCol="0" anchor="t"/>
          <a:lstStyle/>
          <a:p>
            <a:pPr marL="0" indent="0">
              <a:lnSpc>
                <a:spcPct val="105000"/>
              </a:lnSpc>
              <a:buNone/>
            </a:pPr>
            <a:r>
              <a:rPr lang="en-US" sz="1050" dirty="0">
                <a:solidFill>
                  <a:srgbClr val="56687A"/>
                </a:solidFill>
                <a:latin typeface="Segoe UI" panose="020B0502040204020203" pitchFamily="34" charset="0"/>
                <a:ea typeface="Calibri" pitchFamily="34" charset="-122"/>
                <a:cs typeface="Segoe UI" panose="020B0502040204020203" pitchFamily="34" charset="0"/>
              </a:rPr>
              <a:t>Handset Manufacturer, Handset Type, Last Location Name</a:t>
            </a:r>
          </a:p>
        </p:txBody>
      </p:sp>
      <p:sp>
        <p:nvSpPr>
          <p:cNvPr id="29" name="Text 27"/>
          <p:cNvSpPr/>
          <p:nvPr/>
        </p:nvSpPr>
        <p:spPr>
          <a:xfrm>
            <a:off x="548640" y="5692607"/>
            <a:ext cx="11091672" cy="320040"/>
          </a:xfrm>
          <a:prstGeom prst="rect">
            <a:avLst/>
          </a:prstGeom>
          <a:noFill/>
          <a:ln/>
        </p:spPr>
        <p:txBody>
          <a:bodyPr wrap="square" rtlCol="0" anchor="ctr"/>
          <a:lstStyle/>
          <a:p>
            <a:pPr marL="0" indent="0" algn="ctr">
              <a:buNone/>
            </a:pPr>
            <a:r>
              <a:rPr lang="en-US" sz="1400" i="1" dirty="0">
                <a:solidFill>
                  <a:srgbClr val="56687A"/>
                </a:solidFill>
                <a:latin typeface="Calibri" pitchFamily="34" charset="0"/>
                <a:ea typeface="Calibri" pitchFamily="34" charset="-122"/>
                <a:cs typeface="Calibri" pitchFamily="34" charset="-120"/>
              </a:rPr>
              <a:t>Field Descriptions reference (55 fields) → </a:t>
            </a:r>
            <a:r>
              <a:rPr lang="en-US" sz="1400" i="1" dirty="0">
                <a:solidFill>
                  <a:srgbClr val="56687A"/>
                </a:solidFill>
                <a:latin typeface="Calibri" pitchFamily="34" charset="0"/>
                <a:ea typeface="Calibri" pitchFamily="34" charset="-122"/>
                <a:cs typeface="Calibri" pitchFamily="34" charset="-120"/>
                <a:hlinkClick r:id="rId3" action="ppaction://hlinksldjump"/>
              </a:rPr>
              <a:t>see References, slide 19</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05B96"/>
          </a:solidFill>
          <a:ln/>
        </p:spPr>
      </p:sp>
      <p:sp>
        <p:nvSpPr>
          <p:cNvPr id="3" name="Text 1"/>
          <p:cNvSpPr/>
          <p:nvPr/>
        </p:nvSpPr>
        <p:spPr>
          <a:xfrm>
            <a:off x="457200" y="74644"/>
            <a:ext cx="11274552" cy="718457"/>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Analytical Framework</a:t>
            </a:r>
            <a:endParaRPr lang="en-US" sz="3600" dirty="0">
              <a:latin typeface="Bahnschrift" panose="020B0502040204020203" pitchFamily="34" charset="0"/>
            </a:endParaRPr>
          </a:p>
        </p:txBody>
      </p:sp>
      <p:sp>
        <p:nvSpPr>
          <p:cNvPr id="4" name="Shape 2"/>
          <p:cNvSpPr/>
          <p:nvPr/>
        </p:nvSpPr>
        <p:spPr>
          <a:xfrm>
            <a:off x="508517" y="2450592"/>
            <a:ext cx="1569461" cy="1280160"/>
          </a:xfrm>
          <a:prstGeom prst="roundRect">
            <a:avLst>
              <a:gd name="adj" fmla="val 9091"/>
            </a:avLst>
          </a:prstGeom>
          <a:solidFill>
            <a:srgbClr val="EAF4FC"/>
          </a:solidFill>
          <a:ln w="19050">
            <a:solidFill>
              <a:srgbClr val="005B96"/>
            </a:solidFill>
            <a:prstDash val="solid"/>
          </a:ln>
        </p:spPr>
        <p:txBody>
          <a:bodyPr/>
          <a:lstStyle/>
          <a:p>
            <a:endParaRPr lang="en-IN" dirty="0"/>
          </a:p>
        </p:txBody>
      </p:sp>
      <p:sp>
        <p:nvSpPr>
          <p:cNvPr id="6" name="Text 4"/>
          <p:cNvSpPr/>
          <p:nvPr/>
        </p:nvSpPr>
        <p:spPr>
          <a:xfrm>
            <a:off x="532867" y="2881666"/>
            <a:ext cx="1453896" cy="548640"/>
          </a:xfrm>
          <a:prstGeom prst="rect">
            <a:avLst/>
          </a:prstGeom>
          <a:noFill/>
          <a:ln/>
        </p:spPr>
        <p:txBody>
          <a:bodyPr wrap="square" rtlCol="0" anchor="ctr"/>
          <a:lstStyle/>
          <a:p>
            <a:pPr marL="0" indent="0" algn="ctr">
              <a:buNone/>
            </a:pPr>
            <a:r>
              <a:rPr lang="en-US" sz="1400" b="1" dirty="0">
                <a:solidFill>
                  <a:srgbClr val="16232E"/>
                </a:solidFill>
                <a:latin typeface="Segoe UI" panose="020B0502040204020203" pitchFamily="34" charset="0"/>
                <a:ea typeface="Calibri" pitchFamily="34" charset="-122"/>
                <a:cs typeface="Segoe UI" panose="020B0502040204020203" pitchFamily="34" charset="0"/>
              </a:rPr>
              <a:t>Overview</a:t>
            </a:r>
            <a:endParaRPr lang="en-US" sz="1400" dirty="0">
              <a:latin typeface="Segoe UI" panose="020B0502040204020203" pitchFamily="34" charset="0"/>
              <a:cs typeface="Segoe UI" panose="020B0502040204020203" pitchFamily="34" charset="0"/>
            </a:endParaRPr>
          </a:p>
        </p:txBody>
      </p:sp>
      <p:sp>
        <p:nvSpPr>
          <p:cNvPr id="7" name="Shape 5"/>
          <p:cNvSpPr/>
          <p:nvPr/>
        </p:nvSpPr>
        <p:spPr>
          <a:xfrm>
            <a:off x="2102329" y="2871216"/>
            <a:ext cx="345138" cy="548640"/>
          </a:xfrm>
          <a:prstGeom prst="rightArrow">
            <a:avLst/>
          </a:prstGeom>
          <a:solidFill>
            <a:srgbClr val="AFC6D8"/>
          </a:solidFill>
          <a:ln/>
        </p:spPr>
      </p:sp>
      <p:sp>
        <p:nvSpPr>
          <p:cNvPr id="8" name="Shape 6"/>
          <p:cNvSpPr/>
          <p:nvPr/>
        </p:nvSpPr>
        <p:spPr>
          <a:xfrm>
            <a:off x="2406811" y="2450592"/>
            <a:ext cx="1569461" cy="1280160"/>
          </a:xfrm>
          <a:prstGeom prst="roundRect">
            <a:avLst>
              <a:gd name="adj" fmla="val 9091"/>
            </a:avLst>
          </a:prstGeom>
          <a:solidFill>
            <a:srgbClr val="EAF4FC"/>
          </a:solidFill>
          <a:ln w="19050">
            <a:solidFill>
              <a:srgbClr val="005B96"/>
            </a:solidFill>
            <a:prstDash val="solid"/>
          </a:ln>
        </p:spPr>
      </p:sp>
      <p:sp>
        <p:nvSpPr>
          <p:cNvPr id="10" name="Text 8"/>
          <p:cNvSpPr/>
          <p:nvPr/>
        </p:nvSpPr>
        <p:spPr>
          <a:xfrm>
            <a:off x="2471285" y="2881666"/>
            <a:ext cx="1453896" cy="548640"/>
          </a:xfrm>
          <a:prstGeom prst="rect">
            <a:avLst/>
          </a:prstGeom>
          <a:noFill/>
          <a:ln/>
        </p:spPr>
        <p:txBody>
          <a:bodyPr wrap="square" rtlCol="0" anchor="ctr"/>
          <a:lstStyle/>
          <a:p>
            <a:pPr algn="ctr"/>
            <a:r>
              <a:rPr lang="en-US" sz="1400" b="1" dirty="0">
                <a:solidFill>
                  <a:srgbClr val="16232E"/>
                </a:solidFill>
                <a:latin typeface="Segoe UI" panose="020B0502040204020203" pitchFamily="34" charset="0"/>
                <a:ea typeface="Calibri" pitchFamily="34" charset="-122"/>
                <a:cs typeface="Segoe UI" panose="020B0502040204020203" pitchFamily="34" charset="0"/>
              </a:rPr>
              <a:t>Engagement</a:t>
            </a:r>
          </a:p>
        </p:txBody>
      </p:sp>
      <p:sp>
        <p:nvSpPr>
          <p:cNvPr id="11" name="Shape 9"/>
          <p:cNvSpPr/>
          <p:nvPr/>
        </p:nvSpPr>
        <p:spPr>
          <a:xfrm>
            <a:off x="4000624" y="2871216"/>
            <a:ext cx="345138" cy="548640"/>
          </a:xfrm>
          <a:prstGeom prst="rightArrow">
            <a:avLst/>
          </a:prstGeom>
          <a:solidFill>
            <a:srgbClr val="AFC6D8"/>
          </a:solidFill>
          <a:ln/>
        </p:spPr>
      </p:sp>
      <p:sp>
        <p:nvSpPr>
          <p:cNvPr id="12" name="Shape 10"/>
          <p:cNvSpPr/>
          <p:nvPr/>
        </p:nvSpPr>
        <p:spPr>
          <a:xfrm>
            <a:off x="4305106" y="2450592"/>
            <a:ext cx="1569461" cy="1280160"/>
          </a:xfrm>
          <a:prstGeom prst="roundRect">
            <a:avLst>
              <a:gd name="adj" fmla="val 9091"/>
            </a:avLst>
          </a:prstGeom>
          <a:solidFill>
            <a:srgbClr val="EAF4FC"/>
          </a:solidFill>
          <a:ln w="19050">
            <a:solidFill>
              <a:srgbClr val="005B96"/>
            </a:solidFill>
            <a:prstDash val="solid"/>
          </a:ln>
        </p:spPr>
      </p:sp>
      <p:sp>
        <p:nvSpPr>
          <p:cNvPr id="14" name="Text 12"/>
          <p:cNvSpPr/>
          <p:nvPr/>
        </p:nvSpPr>
        <p:spPr>
          <a:xfrm>
            <a:off x="4369580" y="2881666"/>
            <a:ext cx="1453896" cy="548640"/>
          </a:xfrm>
          <a:prstGeom prst="rect">
            <a:avLst/>
          </a:prstGeom>
          <a:noFill/>
          <a:ln/>
        </p:spPr>
        <p:txBody>
          <a:bodyPr wrap="square" rtlCol="0" anchor="ctr"/>
          <a:lstStyle/>
          <a:p>
            <a:pPr indent="0" algn="ctr">
              <a:buNone/>
            </a:pPr>
            <a:r>
              <a:rPr lang="en-US" sz="1400" b="1" dirty="0">
                <a:solidFill>
                  <a:srgbClr val="16232E"/>
                </a:solidFill>
                <a:latin typeface="Segoe UI" panose="020B0502040204020203" pitchFamily="34" charset="0"/>
                <a:ea typeface="Calibri" pitchFamily="34" charset="-122"/>
                <a:cs typeface="Segoe UI" panose="020B0502040204020203" pitchFamily="34" charset="0"/>
              </a:rPr>
              <a:t>Experience</a:t>
            </a:r>
          </a:p>
        </p:txBody>
      </p:sp>
      <p:sp>
        <p:nvSpPr>
          <p:cNvPr id="15" name="Shape 13"/>
          <p:cNvSpPr/>
          <p:nvPr/>
        </p:nvSpPr>
        <p:spPr>
          <a:xfrm>
            <a:off x="5898918" y="2871216"/>
            <a:ext cx="345138" cy="548640"/>
          </a:xfrm>
          <a:prstGeom prst="rightArrow">
            <a:avLst/>
          </a:prstGeom>
          <a:solidFill>
            <a:srgbClr val="AFC6D8"/>
          </a:solidFill>
          <a:ln/>
        </p:spPr>
      </p:sp>
      <p:sp>
        <p:nvSpPr>
          <p:cNvPr id="16" name="Shape 14"/>
          <p:cNvSpPr/>
          <p:nvPr/>
        </p:nvSpPr>
        <p:spPr>
          <a:xfrm>
            <a:off x="6203400" y="2450592"/>
            <a:ext cx="1569461" cy="1280160"/>
          </a:xfrm>
          <a:prstGeom prst="roundRect">
            <a:avLst>
              <a:gd name="adj" fmla="val 9091"/>
            </a:avLst>
          </a:prstGeom>
          <a:solidFill>
            <a:srgbClr val="EAF4FC"/>
          </a:solidFill>
          <a:ln w="19050">
            <a:solidFill>
              <a:srgbClr val="005B96"/>
            </a:solidFill>
            <a:prstDash val="solid"/>
          </a:ln>
        </p:spPr>
      </p:sp>
      <p:sp>
        <p:nvSpPr>
          <p:cNvPr id="18" name="Text 16"/>
          <p:cNvSpPr/>
          <p:nvPr/>
        </p:nvSpPr>
        <p:spPr>
          <a:xfrm>
            <a:off x="6303646" y="2881666"/>
            <a:ext cx="1453896" cy="548640"/>
          </a:xfrm>
          <a:prstGeom prst="rect">
            <a:avLst/>
          </a:prstGeom>
          <a:noFill/>
          <a:ln/>
        </p:spPr>
        <p:txBody>
          <a:bodyPr wrap="square" rtlCol="0" anchor="ctr"/>
          <a:lstStyle/>
          <a:p>
            <a:pPr algn="ctr"/>
            <a:r>
              <a:rPr lang="en-US" sz="1400" b="1" dirty="0">
                <a:solidFill>
                  <a:srgbClr val="16232E"/>
                </a:solidFill>
                <a:latin typeface="Segoe UI" panose="020B0502040204020203" pitchFamily="34" charset="0"/>
                <a:ea typeface="Calibri" pitchFamily="34" charset="-122"/>
                <a:cs typeface="Segoe UI" panose="020B0502040204020203" pitchFamily="34" charset="0"/>
              </a:rPr>
              <a:t>Satisfaction</a:t>
            </a:r>
          </a:p>
        </p:txBody>
      </p:sp>
      <p:sp>
        <p:nvSpPr>
          <p:cNvPr id="19" name="Shape 17"/>
          <p:cNvSpPr/>
          <p:nvPr/>
        </p:nvSpPr>
        <p:spPr>
          <a:xfrm>
            <a:off x="7797213" y="2871216"/>
            <a:ext cx="345138" cy="548640"/>
          </a:xfrm>
          <a:prstGeom prst="rightArrow">
            <a:avLst/>
          </a:prstGeom>
          <a:solidFill>
            <a:srgbClr val="AFC6D8"/>
          </a:solidFill>
          <a:ln/>
        </p:spPr>
      </p:sp>
      <p:sp>
        <p:nvSpPr>
          <p:cNvPr id="20" name="Shape 18"/>
          <p:cNvSpPr/>
          <p:nvPr/>
        </p:nvSpPr>
        <p:spPr>
          <a:xfrm>
            <a:off x="8101695" y="2450592"/>
            <a:ext cx="1569461" cy="1280160"/>
          </a:xfrm>
          <a:prstGeom prst="roundRect">
            <a:avLst>
              <a:gd name="adj" fmla="val 9091"/>
            </a:avLst>
          </a:prstGeom>
          <a:solidFill>
            <a:srgbClr val="F3F5F7"/>
          </a:solidFill>
          <a:ln w="19050">
            <a:solidFill>
              <a:srgbClr val="56687A"/>
            </a:solidFill>
            <a:prstDash val="solid"/>
          </a:ln>
        </p:spPr>
      </p:sp>
      <p:sp>
        <p:nvSpPr>
          <p:cNvPr id="22" name="Text 20"/>
          <p:cNvSpPr/>
          <p:nvPr/>
        </p:nvSpPr>
        <p:spPr>
          <a:xfrm>
            <a:off x="8166169" y="2881666"/>
            <a:ext cx="1453896" cy="548640"/>
          </a:xfrm>
          <a:prstGeom prst="rect">
            <a:avLst/>
          </a:prstGeom>
          <a:noFill/>
          <a:ln/>
        </p:spPr>
        <p:txBody>
          <a:bodyPr wrap="square" rtlCol="0" anchor="ctr"/>
          <a:lstStyle/>
          <a:p>
            <a:pPr indent="0" algn="ctr">
              <a:buNone/>
            </a:pPr>
            <a:r>
              <a:rPr lang="en-US" sz="1400" b="1" dirty="0">
                <a:solidFill>
                  <a:srgbClr val="16232E"/>
                </a:solidFill>
                <a:latin typeface="Segoe UI" panose="020B0502040204020203" pitchFamily="34" charset="0"/>
                <a:ea typeface="Calibri" pitchFamily="34" charset="-122"/>
                <a:cs typeface="Segoe UI" panose="020B0502040204020203" pitchFamily="34" charset="0"/>
              </a:rPr>
              <a:t>SQL Export</a:t>
            </a:r>
          </a:p>
        </p:txBody>
      </p:sp>
      <p:sp>
        <p:nvSpPr>
          <p:cNvPr id="23" name="Shape 21"/>
          <p:cNvSpPr/>
          <p:nvPr/>
        </p:nvSpPr>
        <p:spPr>
          <a:xfrm>
            <a:off x="9695507" y="2871216"/>
            <a:ext cx="345138" cy="548640"/>
          </a:xfrm>
          <a:prstGeom prst="rightArrow">
            <a:avLst/>
          </a:prstGeom>
          <a:solidFill>
            <a:srgbClr val="AFC6D8"/>
          </a:solidFill>
          <a:ln/>
        </p:spPr>
      </p:sp>
      <p:sp>
        <p:nvSpPr>
          <p:cNvPr id="24" name="Shape 22"/>
          <p:cNvSpPr/>
          <p:nvPr/>
        </p:nvSpPr>
        <p:spPr>
          <a:xfrm>
            <a:off x="9999988" y="2450592"/>
            <a:ext cx="1821897" cy="1280160"/>
          </a:xfrm>
          <a:prstGeom prst="roundRect">
            <a:avLst>
              <a:gd name="adj" fmla="val 9091"/>
            </a:avLst>
          </a:prstGeom>
          <a:solidFill>
            <a:srgbClr val="E3F5F4"/>
          </a:solidFill>
          <a:ln w="19050">
            <a:solidFill>
              <a:srgbClr val="0E7C7B"/>
            </a:solidFill>
            <a:prstDash val="solid"/>
          </a:ln>
        </p:spPr>
      </p:sp>
      <p:sp>
        <p:nvSpPr>
          <p:cNvPr id="26" name="Text 24"/>
          <p:cNvSpPr/>
          <p:nvPr/>
        </p:nvSpPr>
        <p:spPr>
          <a:xfrm>
            <a:off x="9991312" y="2881666"/>
            <a:ext cx="1821897" cy="548640"/>
          </a:xfrm>
          <a:prstGeom prst="rect">
            <a:avLst/>
          </a:prstGeom>
          <a:noFill/>
          <a:ln/>
        </p:spPr>
        <p:txBody>
          <a:bodyPr wrap="square" rtlCol="0" anchor="ctr"/>
          <a:lstStyle/>
          <a:p>
            <a:pPr algn="ctr"/>
            <a:r>
              <a:rPr lang="en-US" sz="1400" b="1" dirty="0">
                <a:solidFill>
                  <a:srgbClr val="16232E"/>
                </a:solidFill>
                <a:latin typeface="Segoe UI" panose="020B0502040204020203" pitchFamily="34" charset="0"/>
                <a:ea typeface="Calibri" pitchFamily="34" charset="-122"/>
                <a:cs typeface="Segoe UI" panose="020B0502040204020203" pitchFamily="34" charset="0"/>
              </a:rPr>
              <a:t>Recommendation</a:t>
            </a:r>
          </a:p>
        </p:txBody>
      </p:sp>
      <p:sp>
        <p:nvSpPr>
          <p:cNvPr id="27" name="Text 25"/>
          <p:cNvSpPr/>
          <p:nvPr/>
        </p:nvSpPr>
        <p:spPr>
          <a:xfrm>
            <a:off x="508517" y="4438572"/>
            <a:ext cx="11304691" cy="548640"/>
          </a:xfrm>
          <a:prstGeom prst="rect">
            <a:avLst/>
          </a:prstGeom>
          <a:noFill/>
          <a:ln/>
        </p:spPr>
        <p:txBody>
          <a:bodyPr wrap="square" rtlCol="0" anchor="ctr"/>
          <a:lstStyle/>
          <a:p>
            <a:pPr marL="0" indent="0" algn="ctr">
              <a:buNone/>
            </a:pPr>
            <a:r>
              <a:rPr lang="en-US" sz="1400" i="1" dirty="0">
                <a:solidFill>
                  <a:srgbClr val="56687A"/>
                </a:solidFill>
                <a:latin typeface="Calibri" pitchFamily="34" charset="0"/>
                <a:ea typeface="Calibri" pitchFamily="34" charset="-122"/>
                <a:cs typeface="Calibri" pitchFamily="34" charset="-120"/>
              </a:rPr>
              <a:t>Each pillar's output becomes the next pillar's input — </a:t>
            </a:r>
            <a:r>
              <a:rPr lang="en-US" sz="1400" b="1" i="1" dirty="0">
                <a:solidFill>
                  <a:srgbClr val="56687A"/>
                </a:solidFill>
                <a:latin typeface="Calibri" pitchFamily="34" charset="0"/>
                <a:ea typeface="Calibri" pitchFamily="34" charset="-122"/>
                <a:cs typeface="Calibri" pitchFamily="34" charset="-120"/>
              </a:rPr>
              <a:t>Engagement</a:t>
            </a:r>
            <a:r>
              <a:rPr lang="en-US" sz="1400" i="1" dirty="0">
                <a:solidFill>
                  <a:srgbClr val="56687A"/>
                </a:solidFill>
                <a:latin typeface="Calibri" pitchFamily="34" charset="0"/>
                <a:ea typeface="Calibri" pitchFamily="34" charset="-122"/>
                <a:cs typeface="Calibri" pitchFamily="34" charset="-120"/>
              </a:rPr>
              <a:t> and </a:t>
            </a:r>
            <a:r>
              <a:rPr lang="en-US" sz="1400" b="1" i="1" dirty="0">
                <a:solidFill>
                  <a:srgbClr val="56687A"/>
                </a:solidFill>
                <a:latin typeface="Calibri" pitchFamily="34" charset="0"/>
                <a:ea typeface="Calibri" pitchFamily="34" charset="-122"/>
                <a:cs typeface="Calibri" pitchFamily="34" charset="-120"/>
              </a:rPr>
              <a:t>Experience</a:t>
            </a:r>
            <a:r>
              <a:rPr lang="en-US" sz="1400" i="1" dirty="0">
                <a:solidFill>
                  <a:srgbClr val="56687A"/>
                </a:solidFill>
                <a:latin typeface="Calibri" pitchFamily="34" charset="0"/>
                <a:ea typeface="Calibri" pitchFamily="34" charset="-122"/>
                <a:cs typeface="Calibri" pitchFamily="34" charset="-120"/>
              </a:rPr>
              <a:t> scores converge into </a:t>
            </a:r>
            <a:r>
              <a:rPr lang="en-US" sz="1400" b="1" i="1" dirty="0">
                <a:solidFill>
                  <a:srgbClr val="56687A"/>
                </a:solidFill>
                <a:latin typeface="Calibri" pitchFamily="34" charset="0"/>
                <a:ea typeface="Calibri" pitchFamily="34" charset="-122"/>
                <a:cs typeface="Calibri" pitchFamily="34" charset="-120"/>
              </a:rPr>
              <a:t>Satisfaction</a:t>
            </a:r>
            <a:r>
              <a:rPr lang="en-US" sz="1400" i="1" dirty="0">
                <a:solidFill>
                  <a:srgbClr val="56687A"/>
                </a:solidFill>
                <a:latin typeface="Calibri" pitchFamily="34" charset="0"/>
                <a:ea typeface="Calibri" pitchFamily="34" charset="-122"/>
                <a:cs typeface="Calibri" pitchFamily="34" charset="-120"/>
              </a:rPr>
              <a:t>, which is exported to SQL and synthesized into the final recommendation.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E7C7B"/>
          </a:solidFill>
          <a:ln/>
        </p:spPr>
      </p:sp>
      <p:sp>
        <p:nvSpPr>
          <p:cNvPr id="3" name="Text 1"/>
          <p:cNvSpPr/>
          <p:nvPr/>
        </p:nvSpPr>
        <p:spPr>
          <a:xfrm>
            <a:off x="411480" y="54864"/>
            <a:ext cx="11320272" cy="786384"/>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User Overview — Customer &amp; Handset Composition</a:t>
            </a:r>
            <a:endParaRPr lang="en-US" sz="3600" dirty="0">
              <a:latin typeface="Bahnschrift" panose="020B0502040204020203" pitchFamily="34" charset="0"/>
            </a:endParaRPr>
          </a:p>
        </p:txBody>
      </p:sp>
      <p:sp>
        <p:nvSpPr>
          <p:cNvPr id="7" name="Shape 3"/>
          <p:cNvSpPr/>
          <p:nvPr/>
        </p:nvSpPr>
        <p:spPr>
          <a:xfrm>
            <a:off x="7543800" y="4057370"/>
            <a:ext cx="4491946" cy="1246103"/>
          </a:xfrm>
          <a:prstGeom prst="roundRect">
            <a:avLst>
              <a:gd name="adj" fmla="val 5161"/>
            </a:avLst>
          </a:prstGeom>
          <a:solidFill>
            <a:srgbClr val="E3F5F4"/>
          </a:solidFill>
          <a:ln w="9525">
            <a:solidFill>
              <a:srgbClr val="008080"/>
            </a:solidFill>
            <a:prstDash val="solid"/>
          </a:ln>
        </p:spPr>
      </p:sp>
      <p:sp>
        <p:nvSpPr>
          <p:cNvPr id="8" name="Text 4"/>
          <p:cNvSpPr/>
          <p:nvPr/>
        </p:nvSpPr>
        <p:spPr>
          <a:xfrm>
            <a:off x="7827264" y="4121378"/>
            <a:ext cx="3931920" cy="274320"/>
          </a:xfrm>
          <a:prstGeom prst="rect">
            <a:avLst/>
          </a:prstGeom>
          <a:noFill/>
          <a:ln/>
        </p:spPr>
        <p:txBody>
          <a:bodyPr wrap="square" rtlCol="0" anchor="ctr"/>
          <a:lstStyle/>
          <a:p>
            <a:pPr marL="0" indent="0">
              <a:buNone/>
            </a:pPr>
            <a:r>
              <a:rPr lang="en-US" sz="1400" b="1" dirty="0">
                <a:solidFill>
                  <a:srgbClr val="0E7C7B"/>
                </a:solidFill>
                <a:latin typeface="Segoe UI" panose="020B0502040204020203" pitchFamily="34" charset="0"/>
                <a:ea typeface="Calibri" pitchFamily="34" charset="-122"/>
                <a:cs typeface="Segoe UI" panose="020B0502040204020203" pitchFamily="34" charset="0"/>
              </a:rPr>
              <a:t>Top 5 Handsets per Top 3 Manufacturer</a:t>
            </a:r>
            <a:endParaRPr lang="en-US" sz="1400" dirty="0">
              <a:latin typeface="Segoe UI" panose="020B0502040204020203" pitchFamily="34" charset="0"/>
              <a:cs typeface="Segoe UI" panose="020B0502040204020203" pitchFamily="34" charset="0"/>
            </a:endParaRPr>
          </a:p>
        </p:txBody>
      </p:sp>
      <p:sp>
        <p:nvSpPr>
          <p:cNvPr id="9" name="Text 5"/>
          <p:cNvSpPr/>
          <p:nvPr/>
        </p:nvSpPr>
        <p:spPr>
          <a:xfrm>
            <a:off x="7854696" y="4548813"/>
            <a:ext cx="3931920" cy="754660"/>
          </a:xfrm>
          <a:prstGeom prst="rect">
            <a:avLst/>
          </a:prstGeom>
          <a:noFill/>
          <a:ln/>
        </p:spPr>
        <p:txBody>
          <a:bodyPr wrap="square" rtlCol="0" anchor="t"/>
          <a:lstStyle/>
          <a:p>
            <a:pPr marL="0" indent="0">
              <a:lnSpc>
                <a:spcPct val="110000"/>
              </a:lnSpc>
              <a:buNone/>
            </a:pPr>
            <a:r>
              <a:rPr lang="en-US" sz="1100" b="1" dirty="0">
                <a:solidFill>
                  <a:srgbClr val="16232E"/>
                </a:solidFill>
                <a:latin typeface="Segoe UI" panose="020B0502040204020203" pitchFamily="34" charset="0"/>
                <a:ea typeface="Calibri" pitchFamily="34" charset="-122"/>
                <a:cs typeface="Segoe UI" panose="020B0502040204020203" pitchFamily="34" charset="0"/>
              </a:rPr>
              <a:t>Huawei: </a:t>
            </a:r>
            <a:r>
              <a:rPr lang="en-US" sz="1100" dirty="0">
                <a:solidFill>
                  <a:srgbClr val="16232E"/>
                </a:solidFill>
                <a:latin typeface="Segoe UI" panose="020B0502040204020203" pitchFamily="34" charset="0"/>
                <a:ea typeface="Calibri" pitchFamily="34" charset="-122"/>
                <a:cs typeface="Segoe UI" panose="020B0502040204020203" pitchFamily="34" charset="0"/>
              </a:rPr>
              <a:t>B528S-23A dominates (19,727) — ~20x its own #2
</a:t>
            </a:r>
            <a:r>
              <a:rPr lang="en-US" sz="1100" b="1" dirty="0">
                <a:solidFill>
                  <a:srgbClr val="16232E"/>
                </a:solidFill>
                <a:latin typeface="Segoe UI" panose="020B0502040204020203" pitchFamily="34" charset="0"/>
                <a:ea typeface="Calibri" pitchFamily="34" charset="-122"/>
                <a:cs typeface="Segoe UI" panose="020B0502040204020203" pitchFamily="34" charset="0"/>
              </a:rPr>
              <a:t>Apple: </a:t>
            </a:r>
            <a:r>
              <a:rPr lang="en-US" sz="1100" dirty="0">
                <a:solidFill>
                  <a:srgbClr val="16232E"/>
                </a:solidFill>
                <a:latin typeface="Segoe UI" panose="020B0502040204020203" pitchFamily="34" charset="0"/>
                <a:ea typeface="Calibri" pitchFamily="34" charset="-122"/>
                <a:cs typeface="Segoe UI" panose="020B0502040204020203" pitchFamily="34" charset="0"/>
              </a:rPr>
              <a:t>even spread, 4,977–9,395 (~2x top-to-bottom)
</a:t>
            </a:r>
            <a:r>
              <a:rPr lang="en-US" sz="1100" b="1" dirty="0">
                <a:solidFill>
                  <a:srgbClr val="16232E"/>
                </a:solidFill>
                <a:latin typeface="Segoe UI" panose="020B0502040204020203" pitchFamily="34" charset="0"/>
                <a:ea typeface="Calibri" pitchFamily="34" charset="-122"/>
                <a:cs typeface="Segoe UI" panose="020B0502040204020203" pitchFamily="34" charset="0"/>
              </a:rPr>
              <a:t>Samsung: </a:t>
            </a:r>
            <a:r>
              <a:rPr lang="en-US" sz="1100" dirty="0">
                <a:solidFill>
                  <a:srgbClr val="16232E"/>
                </a:solidFill>
                <a:latin typeface="Segoe UI" panose="020B0502040204020203" pitchFamily="34" charset="0"/>
                <a:ea typeface="Calibri" pitchFamily="34" charset="-122"/>
                <a:cs typeface="Segoe UI" panose="020B0502040204020203" pitchFamily="34" charset="0"/>
              </a:rPr>
              <a:t>most balanced, 3,171–4,464</a:t>
            </a:r>
            <a:endParaRPr lang="en-US" sz="1100" dirty="0">
              <a:latin typeface="Segoe UI" panose="020B0502040204020203" pitchFamily="34" charset="0"/>
              <a:cs typeface="Segoe UI" panose="020B0502040204020203" pitchFamily="34" charset="0"/>
            </a:endParaRPr>
          </a:p>
        </p:txBody>
      </p:sp>
      <p:pic>
        <p:nvPicPr>
          <p:cNvPr id="12" name="Picture 11">
            <a:extLst>
              <a:ext uri="{FF2B5EF4-FFF2-40B4-BE49-F238E27FC236}">
                <a16:creationId xmlns:a16="http://schemas.microsoft.com/office/drawing/2014/main" id="{3EC7246A-5F35-61B7-E90E-7BD8098F5EC3}"/>
              </a:ext>
            </a:extLst>
          </p:cNvPr>
          <p:cNvPicPr>
            <a:picLocks noChangeAspect="1"/>
          </p:cNvPicPr>
          <p:nvPr/>
        </p:nvPicPr>
        <p:blipFill>
          <a:blip r:embed="rId3"/>
          <a:stretch>
            <a:fillRect/>
          </a:stretch>
        </p:blipFill>
        <p:spPr>
          <a:xfrm>
            <a:off x="0" y="1093827"/>
            <a:ext cx="7294848" cy="5003915"/>
          </a:xfrm>
          <a:prstGeom prst="rect">
            <a:avLst/>
          </a:prstGeom>
          <a:ln w="9525">
            <a:solidFill>
              <a:srgbClr val="008080"/>
            </a:solidFill>
          </a:ln>
        </p:spPr>
      </p:pic>
      <p:pic>
        <p:nvPicPr>
          <p:cNvPr id="14" name="Picture 13">
            <a:extLst>
              <a:ext uri="{FF2B5EF4-FFF2-40B4-BE49-F238E27FC236}">
                <a16:creationId xmlns:a16="http://schemas.microsoft.com/office/drawing/2014/main" id="{862DC228-66A3-76E0-8EF7-CE55E218B305}"/>
              </a:ext>
            </a:extLst>
          </p:cNvPr>
          <p:cNvPicPr>
            <a:picLocks noChangeAspect="1"/>
          </p:cNvPicPr>
          <p:nvPr/>
        </p:nvPicPr>
        <p:blipFill>
          <a:blip r:embed="rId4"/>
          <a:stretch>
            <a:fillRect/>
          </a:stretch>
        </p:blipFill>
        <p:spPr>
          <a:xfrm>
            <a:off x="7543800" y="1093827"/>
            <a:ext cx="4491946" cy="2834362"/>
          </a:xfrm>
          <a:prstGeom prst="rect">
            <a:avLst/>
          </a:prstGeom>
          <a:ln w="9525">
            <a:solidFill>
              <a:srgbClr val="008080"/>
            </a:solidFill>
          </a:ln>
        </p:spPr>
      </p:pic>
      <p:sp>
        <p:nvSpPr>
          <p:cNvPr id="20" name="Text 5">
            <a:extLst>
              <a:ext uri="{FF2B5EF4-FFF2-40B4-BE49-F238E27FC236}">
                <a16:creationId xmlns:a16="http://schemas.microsoft.com/office/drawing/2014/main" id="{DBD97A86-8E70-ED10-16B2-96E56DB3505C}"/>
              </a:ext>
            </a:extLst>
          </p:cNvPr>
          <p:cNvSpPr/>
          <p:nvPr/>
        </p:nvSpPr>
        <p:spPr>
          <a:xfrm>
            <a:off x="7543800" y="5428907"/>
            <a:ext cx="4491946" cy="668835"/>
          </a:xfrm>
          <a:prstGeom prst="rect">
            <a:avLst/>
          </a:prstGeom>
          <a:noFill/>
          <a:ln/>
        </p:spPr>
        <p:txBody>
          <a:bodyPr wrap="square" rtlCol="0" anchor="t"/>
          <a:lstStyle/>
          <a:p>
            <a:pPr algn="ctr">
              <a:lnSpc>
                <a:spcPct val="112000"/>
              </a:lnSpc>
            </a:pPr>
            <a:r>
              <a:rPr lang="en-IN" sz="1400" i="1" dirty="0">
                <a:solidFill>
                  <a:srgbClr val="56687A"/>
                </a:solidFill>
                <a:latin typeface="Calibri" pitchFamily="34" charset="0"/>
                <a:ea typeface="Calibri" pitchFamily="34" charset="-122"/>
                <a:cs typeface="Calibri" pitchFamily="34" charset="-120"/>
              </a:rPr>
              <a:t>Usage is concentrated in a </a:t>
            </a:r>
            <a:r>
              <a:rPr lang="en-IN" sz="1400" b="1" i="1" dirty="0">
                <a:solidFill>
                  <a:srgbClr val="56687A"/>
                </a:solidFill>
                <a:latin typeface="Calibri" pitchFamily="34" charset="0"/>
                <a:ea typeface="Calibri" pitchFamily="34" charset="-122"/>
                <a:cs typeface="Calibri" pitchFamily="34" charset="-120"/>
              </a:rPr>
              <a:t>single 7 AM hour</a:t>
            </a:r>
            <a:r>
              <a:rPr lang="en-IN" sz="1400" i="1" dirty="0">
                <a:solidFill>
                  <a:srgbClr val="56687A"/>
                </a:solidFill>
                <a:latin typeface="Calibri" pitchFamily="34" charset="0"/>
                <a:ea typeface="Calibri" pitchFamily="34" charset="-122"/>
                <a:cs typeface="Calibri" pitchFamily="34" charset="-120"/>
              </a:rPr>
              <a:t>, not a gradual ramp — see notebook for the full hourly pattern.</a:t>
            </a:r>
            <a:endParaRPr lang="en-US" sz="1400" i="1" dirty="0">
              <a:solidFill>
                <a:srgbClr val="56687A"/>
              </a:solidFill>
              <a:latin typeface="Calibri" pitchFamily="34" charset="0"/>
              <a:ea typeface="Calibri" pitchFamily="34" charset="-122"/>
              <a:cs typeface="Calibri" pitchFamily="34"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E7C7B"/>
          </a:solidFill>
          <a:ln/>
        </p:spPr>
      </p:sp>
      <p:sp>
        <p:nvSpPr>
          <p:cNvPr id="3" name="Text 1"/>
          <p:cNvSpPr/>
          <p:nvPr/>
        </p:nvSpPr>
        <p:spPr>
          <a:xfrm>
            <a:off x="289249" y="74645"/>
            <a:ext cx="11607282" cy="746450"/>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User Overview — Application Usage &amp; Relationships</a:t>
            </a:r>
            <a:endParaRPr lang="en-US" sz="3600" dirty="0">
              <a:latin typeface="Bahnschrift" panose="020B0502040204020203" pitchFamily="34" charset="0"/>
            </a:endParaRPr>
          </a:p>
        </p:txBody>
      </p:sp>
      <p:sp>
        <p:nvSpPr>
          <p:cNvPr id="6" name="Shape 3"/>
          <p:cNvSpPr/>
          <p:nvPr/>
        </p:nvSpPr>
        <p:spPr>
          <a:xfrm>
            <a:off x="6410131" y="1815832"/>
            <a:ext cx="5486400" cy="1712167"/>
          </a:xfrm>
          <a:prstGeom prst="roundRect">
            <a:avLst>
              <a:gd name="adj" fmla="val 3810"/>
            </a:avLst>
          </a:prstGeom>
          <a:solidFill>
            <a:srgbClr val="EAF4FC"/>
          </a:solidFill>
          <a:ln w="9525">
            <a:solidFill>
              <a:srgbClr val="0066CC"/>
            </a:solidFill>
            <a:prstDash val="solid"/>
          </a:ln>
        </p:spPr>
        <p:txBody>
          <a:bodyPr/>
          <a:lstStyle/>
          <a:p>
            <a:endParaRPr lang="en-IN" dirty="0"/>
          </a:p>
        </p:txBody>
      </p:sp>
      <p:sp>
        <p:nvSpPr>
          <p:cNvPr id="7" name="Text 4"/>
          <p:cNvSpPr/>
          <p:nvPr/>
        </p:nvSpPr>
        <p:spPr>
          <a:xfrm>
            <a:off x="6547291" y="1888984"/>
            <a:ext cx="5212080" cy="320040"/>
          </a:xfrm>
          <a:prstGeom prst="rect">
            <a:avLst/>
          </a:prstGeom>
          <a:noFill/>
          <a:ln/>
        </p:spPr>
        <p:txBody>
          <a:bodyPr wrap="square" rtlCol="0" anchor="ctr"/>
          <a:lstStyle/>
          <a:p>
            <a:pPr marL="0" indent="0">
              <a:buNone/>
            </a:pPr>
            <a:r>
              <a:rPr lang="en-US" sz="1400" b="1" dirty="0">
                <a:solidFill>
                  <a:srgbClr val="005B96"/>
                </a:solidFill>
                <a:latin typeface="Segoe UI" panose="020B0502040204020203" pitchFamily="34" charset="0"/>
                <a:ea typeface="Calibri" pitchFamily="34" charset="-122"/>
                <a:cs typeface="Segoe UI" panose="020B0502040204020203" pitchFamily="34" charset="0"/>
              </a:rPr>
              <a:t>Two-Tier Split</a:t>
            </a:r>
            <a:endParaRPr lang="en-US" sz="1400" dirty="0">
              <a:latin typeface="Segoe UI" panose="020B0502040204020203" pitchFamily="34" charset="0"/>
              <a:cs typeface="Segoe UI" panose="020B0502040204020203" pitchFamily="34" charset="0"/>
            </a:endParaRPr>
          </a:p>
        </p:txBody>
      </p:sp>
      <p:sp>
        <p:nvSpPr>
          <p:cNvPr id="8" name="Text 5"/>
          <p:cNvSpPr/>
          <p:nvPr/>
        </p:nvSpPr>
        <p:spPr>
          <a:xfrm>
            <a:off x="6547291" y="2362419"/>
            <a:ext cx="5212080" cy="1011065"/>
          </a:xfrm>
          <a:prstGeom prst="rect">
            <a:avLst/>
          </a:prstGeom>
          <a:noFill/>
          <a:ln/>
        </p:spPr>
        <p:txBody>
          <a:bodyPr wrap="square" rtlCol="0" anchor="t"/>
          <a:lstStyle/>
          <a:p>
            <a:pPr marL="0" indent="0">
              <a:lnSpc>
                <a:spcPct val="110000"/>
              </a:lnSpc>
              <a:buNone/>
            </a:pPr>
            <a:r>
              <a:rPr lang="en-US" sz="1100" b="1" dirty="0">
                <a:solidFill>
                  <a:srgbClr val="16232E"/>
                </a:solidFill>
                <a:latin typeface="Segoe UI" panose="020B0502040204020203" pitchFamily="34" charset="0"/>
                <a:ea typeface="Calibri" pitchFamily="34" charset="-122"/>
                <a:cs typeface="Segoe UI" panose="020B0502040204020203" pitchFamily="34" charset="0"/>
              </a:rPr>
              <a:t>Gaming (0.720) </a:t>
            </a:r>
            <a:r>
              <a:rPr lang="en-US" sz="1100" dirty="0">
                <a:solidFill>
                  <a:srgbClr val="16232E"/>
                </a:solidFill>
                <a:latin typeface="Segoe UI" panose="020B0502040204020203" pitchFamily="34" charset="0"/>
                <a:ea typeface="Calibri" pitchFamily="34" charset="-122"/>
                <a:cs typeface="Segoe UI" panose="020B0502040204020203" pitchFamily="34" charset="0"/>
              </a:rPr>
              <a:t>and </a:t>
            </a:r>
            <a:r>
              <a:rPr lang="en-US" sz="1100" b="1" dirty="0">
                <a:solidFill>
                  <a:srgbClr val="16232E"/>
                </a:solidFill>
                <a:latin typeface="Segoe UI" panose="020B0502040204020203" pitchFamily="34" charset="0"/>
                <a:ea typeface="Calibri" pitchFamily="34" charset="-122"/>
                <a:cs typeface="Segoe UI" panose="020B0502040204020203" pitchFamily="34" charset="0"/>
              </a:rPr>
              <a:t>Other (0.721) </a:t>
            </a:r>
            <a:r>
              <a:rPr lang="en-US" sz="1100" dirty="0">
                <a:solidFill>
                  <a:srgbClr val="16232E"/>
                </a:solidFill>
                <a:latin typeface="Segoe UI" panose="020B0502040204020203" pitchFamily="34" charset="0"/>
                <a:ea typeface="Calibri" pitchFamily="34" charset="-122"/>
                <a:cs typeface="Segoe UI" panose="020B0502040204020203" pitchFamily="34" charset="0"/>
              </a:rPr>
              <a:t>drive Total Traffic nearly 2x as strongly as the remaining five apps (0.37–0.44). </a:t>
            </a:r>
          </a:p>
          <a:p>
            <a:pPr marL="0" indent="0">
              <a:lnSpc>
                <a:spcPct val="110000"/>
              </a:lnSpc>
              <a:buNone/>
            </a:pPr>
            <a:r>
              <a:rPr lang="en-US" sz="1100" dirty="0">
                <a:solidFill>
                  <a:srgbClr val="16232E"/>
                </a:solidFill>
                <a:latin typeface="Segoe UI" panose="020B0502040204020203" pitchFamily="34" charset="0"/>
                <a:ea typeface="Calibri" pitchFamily="34" charset="-122"/>
                <a:cs typeface="Segoe UI" panose="020B0502040204020203" pitchFamily="34" charset="0"/>
              </a:rPr>
              <a:t>No single app pair among the 7 required apps correlates strongly with another (moderate 0.31–0.42 band) — usage is spread, not concentrated.</a:t>
            </a:r>
            <a:endParaRPr lang="en-US" sz="1100" dirty="0">
              <a:latin typeface="Segoe UI" panose="020B0502040204020203" pitchFamily="34" charset="0"/>
              <a:cs typeface="Segoe UI" panose="020B0502040204020203" pitchFamily="34" charset="0"/>
            </a:endParaRPr>
          </a:p>
        </p:txBody>
      </p:sp>
      <p:sp>
        <p:nvSpPr>
          <p:cNvPr id="9" name="Shape 6"/>
          <p:cNvSpPr/>
          <p:nvPr/>
        </p:nvSpPr>
        <p:spPr>
          <a:xfrm>
            <a:off x="6410131" y="3906122"/>
            <a:ext cx="5486400" cy="1997684"/>
          </a:xfrm>
          <a:prstGeom prst="roundRect">
            <a:avLst>
              <a:gd name="adj" fmla="val 3137"/>
            </a:avLst>
          </a:prstGeom>
          <a:solidFill>
            <a:srgbClr val="E3F5F4"/>
          </a:solidFill>
          <a:ln w="9525">
            <a:solidFill>
              <a:srgbClr val="00CC99"/>
            </a:solidFill>
            <a:prstDash val="solid"/>
          </a:ln>
        </p:spPr>
      </p:sp>
      <p:sp>
        <p:nvSpPr>
          <p:cNvPr id="10" name="Text 7"/>
          <p:cNvSpPr/>
          <p:nvPr/>
        </p:nvSpPr>
        <p:spPr>
          <a:xfrm>
            <a:off x="6547291" y="3979274"/>
            <a:ext cx="5212080" cy="320040"/>
          </a:xfrm>
          <a:prstGeom prst="rect">
            <a:avLst/>
          </a:prstGeom>
          <a:noFill/>
          <a:ln/>
        </p:spPr>
        <p:txBody>
          <a:bodyPr wrap="square" rtlCol="0" anchor="ctr"/>
          <a:lstStyle/>
          <a:p>
            <a:pPr marL="0" indent="0">
              <a:buNone/>
            </a:pPr>
            <a:r>
              <a:rPr lang="en-US" sz="1400" b="1" dirty="0">
                <a:solidFill>
                  <a:srgbClr val="0E7C7B"/>
                </a:solidFill>
                <a:latin typeface="Segoe UI" panose="020B0502040204020203" pitchFamily="34" charset="0"/>
                <a:ea typeface="Calibri" pitchFamily="34" charset="-122"/>
                <a:cs typeface="Segoe UI" panose="020B0502040204020203" pitchFamily="34" charset="0"/>
              </a:rPr>
              <a:t>What the Full Correlation Matrix Adds</a:t>
            </a:r>
            <a:endParaRPr lang="en-US" sz="1400" dirty="0">
              <a:latin typeface="Segoe UI" panose="020B0502040204020203" pitchFamily="34" charset="0"/>
              <a:cs typeface="Segoe UI" panose="020B0502040204020203" pitchFamily="34" charset="0"/>
            </a:endParaRPr>
          </a:p>
        </p:txBody>
      </p:sp>
      <p:sp>
        <p:nvSpPr>
          <p:cNvPr id="11" name="Text 8"/>
          <p:cNvSpPr/>
          <p:nvPr/>
        </p:nvSpPr>
        <p:spPr>
          <a:xfrm>
            <a:off x="6547291" y="4409695"/>
            <a:ext cx="5212080" cy="1324574"/>
          </a:xfrm>
          <a:prstGeom prst="rect">
            <a:avLst/>
          </a:prstGeom>
          <a:noFill/>
          <a:ln/>
        </p:spPr>
        <p:txBody>
          <a:bodyPr wrap="square" rtlCol="0" anchor="t"/>
          <a:lstStyle/>
          <a:p>
            <a:pPr marL="0" indent="0">
              <a:lnSpc>
                <a:spcPct val="112000"/>
              </a:lnSpc>
              <a:buNone/>
            </a:pPr>
            <a:r>
              <a:rPr lang="en-US" sz="1200" b="1" dirty="0">
                <a:solidFill>
                  <a:srgbClr val="16232E"/>
                </a:solidFill>
                <a:latin typeface="Segoe UI" panose="020B0502040204020203" pitchFamily="34" charset="0"/>
                <a:ea typeface="Calibri" pitchFamily="34" charset="-122"/>
                <a:cs typeface="Segoe UI" panose="020B0502040204020203" pitchFamily="34" charset="0"/>
              </a:rPr>
              <a:t>YouTube–Netflix (0.42): </a:t>
            </a:r>
            <a:r>
              <a:rPr lang="en-US" sz="1200" dirty="0">
                <a:solidFill>
                  <a:srgbClr val="16232E"/>
                </a:solidFill>
                <a:latin typeface="Segoe UI" panose="020B0502040204020203" pitchFamily="34" charset="0"/>
                <a:ea typeface="Calibri" pitchFamily="34" charset="-122"/>
                <a:cs typeface="Segoe UI" panose="020B0502040204020203" pitchFamily="34" charset="0"/>
              </a:rPr>
              <a:t>highest among the 7 — streaming usage clusters together.
</a:t>
            </a:r>
            <a:r>
              <a:rPr lang="en-US" sz="1200" b="1" dirty="0">
                <a:solidFill>
                  <a:srgbClr val="16232E"/>
                </a:solidFill>
                <a:latin typeface="Segoe UI" panose="020B0502040204020203" pitchFamily="34" charset="0"/>
                <a:ea typeface="Calibri" pitchFamily="34" charset="-122"/>
                <a:cs typeface="Segoe UI" panose="020B0502040204020203" pitchFamily="34" charset="0"/>
              </a:rPr>
              <a:t>Gaming–Other (0.31): </a:t>
            </a:r>
            <a:r>
              <a:rPr lang="en-US" sz="1200" dirty="0">
                <a:solidFill>
                  <a:srgbClr val="16232E"/>
                </a:solidFill>
                <a:latin typeface="Segoe UI" panose="020B0502040204020203" pitchFamily="34" charset="0"/>
                <a:ea typeface="Calibri" pitchFamily="34" charset="-122"/>
                <a:cs typeface="Segoe UI" panose="020B0502040204020203" pitchFamily="34" charset="0"/>
              </a:rPr>
              <a:t>both drive traffic strongly, but not the same customers.
</a:t>
            </a:r>
            <a:r>
              <a:rPr lang="en-US" sz="1200" b="1" dirty="0">
                <a:solidFill>
                  <a:srgbClr val="16232E"/>
                </a:solidFill>
                <a:latin typeface="Segoe UI" panose="020B0502040204020203" pitchFamily="34" charset="0"/>
                <a:ea typeface="Calibri" pitchFamily="34" charset="-122"/>
                <a:cs typeface="Segoe UI" panose="020B0502040204020203" pitchFamily="34" charset="0"/>
              </a:rPr>
              <a:t>Total Duration–Avg Duration (0.76): </a:t>
            </a:r>
            <a:r>
              <a:rPr lang="en-US" sz="1200" dirty="0">
                <a:solidFill>
                  <a:srgbClr val="16232E"/>
                </a:solidFill>
                <a:latin typeface="Segoe UI" panose="020B0502040204020203" pitchFamily="34" charset="0"/>
                <a:ea typeface="Calibri" pitchFamily="34" charset="-122"/>
                <a:cs typeface="Segoe UI" panose="020B0502040204020203" pitchFamily="34" charset="0"/>
              </a:rPr>
              <a:t>a genuine signal — some customers reach high totals via many sessions, others via long ones.</a:t>
            </a:r>
            <a:endParaRPr lang="en-US" sz="1200" dirty="0">
              <a:latin typeface="Segoe UI" panose="020B0502040204020203" pitchFamily="34" charset="0"/>
              <a:cs typeface="Segoe UI" panose="020B0502040204020203" pitchFamily="34" charset="0"/>
            </a:endParaRPr>
          </a:p>
        </p:txBody>
      </p:sp>
      <p:pic>
        <p:nvPicPr>
          <p:cNvPr id="14" name="Picture 13">
            <a:extLst>
              <a:ext uri="{FF2B5EF4-FFF2-40B4-BE49-F238E27FC236}">
                <a16:creationId xmlns:a16="http://schemas.microsoft.com/office/drawing/2014/main" id="{0494852F-01DF-B99B-EE42-2F8C3868DB80}"/>
              </a:ext>
            </a:extLst>
          </p:cNvPr>
          <p:cNvPicPr>
            <a:picLocks noChangeAspect="1"/>
          </p:cNvPicPr>
          <p:nvPr/>
        </p:nvPicPr>
        <p:blipFill>
          <a:blip r:embed="rId3"/>
          <a:stretch>
            <a:fillRect/>
          </a:stretch>
        </p:blipFill>
        <p:spPr>
          <a:xfrm>
            <a:off x="337886" y="1818957"/>
            <a:ext cx="5901495" cy="4100804"/>
          </a:xfrm>
          <a:prstGeom prst="rect">
            <a:avLst/>
          </a:prstGeom>
          <a:ln>
            <a:solidFill>
              <a:srgbClr val="008080"/>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E7C7B"/>
          </a:solidFill>
          <a:ln/>
        </p:spPr>
      </p:sp>
      <p:sp>
        <p:nvSpPr>
          <p:cNvPr id="3" name="Text 1"/>
          <p:cNvSpPr/>
          <p:nvPr/>
        </p:nvSpPr>
        <p:spPr>
          <a:xfrm>
            <a:off x="205273" y="65314"/>
            <a:ext cx="11709919" cy="727788"/>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User Overview — Dimensionality &amp; Duration Segments</a:t>
            </a:r>
            <a:endParaRPr lang="en-US" sz="3600" dirty="0">
              <a:latin typeface="Bahnschrift" panose="020B0502040204020203" pitchFamily="34" charset="0"/>
            </a:endParaRPr>
          </a:p>
        </p:txBody>
      </p:sp>
      <p:sp>
        <p:nvSpPr>
          <p:cNvPr id="7" name="Shape 3"/>
          <p:cNvSpPr/>
          <p:nvPr/>
        </p:nvSpPr>
        <p:spPr>
          <a:xfrm>
            <a:off x="6531429" y="4975236"/>
            <a:ext cx="5574672" cy="1644833"/>
          </a:xfrm>
          <a:prstGeom prst="roundRect">
            <a:avLst>
              <a:gd name="adj" fmla="val 3200"/>
            </a:avLst>
          </a:prstGeom>
          <a:solidFill>
            <a:srgbClr val="EAF4FC"/>
          </a:solidFill>
          <a:ln w="9525">
            <a:solidFill>
              <a:srgbClr val="0066CC"/>
            </a:solidFill>
            <a:prstDash val="solid"/>
          </a:ln>
        </p:spPr>
      </p:sp>
      <p:sp>
        <p:nvSpPr>
          <p:cNvPr id="8" name="Text 4"/>
          <p:cNvSpPr/>
          <p:nvPr/>
        </p:nvSpPr>
        <p:spPr>
          <a:xfrm>
            <a:off x="6746033" y="5064455"/>
            <a:ext cx="4866847" cy="275234"/>
          </a:xfrm>
          <a:prstGeom prst="rect">
            <a:avLst/>
          </a:prstGeom>
          <a:noFill/>
          <a:ln/>
        </p:spPr>
        <p:txBody>
          <a:bodyPr wrap="square" rtlCol="0" anchor="ctr"/>
          <a:lstStyle/>
          <a:p>
            <a:pPr marL="0" indent="0">
              <a:buNone/>
            </a:pPr>
            <a:r>
              <a:rPr lang="en-US" sz="1400" b="1" dirty="0">
                <a:solidFill>
                  <a:srgbClr val="005B96"/>
                </a:solidFill>
                <a:latin typeface="Segoe UI" panose="020B0502040204020203" pitchFamily="34" charset="0"/>
                <a:ea typeface="Calibri" pitchFamily="34" charset="-122"/>
                <a:cs typeface="Segoe UI" panose="020B0502040204020203" pitchFamily="34" charset="0"/>
              </a:rPr>
              <a:t>Why This Matters</a:t>
            </a:r>
            <a:endParaRPr lang="en-US" sz="1400" dirty="0">
              <a:latin typeface="Segoe UI" panose="020B0502040204020203" pitchFamily="34" charset="0"/>
              <a:cs typeface="Segoe UI" panose="020B0502040204020203" pitchFamily="34" charset="0"/>
            </a:endParaRPr>
          </a:p>
        </p:txBody>
      </p:sp>
      <p:sp>
        <p:nvSpPr>
          <p:cNvPr id="9" name="Text 5"/>
          <p:cNvSpPr/>
          <p:nvPr/>
        </p:nvSpPr>
        <p:spPr>
          <a:xfrm>
            <a:off x="6746033" y="5428907"/>
            <a:ext cx="5169159" cy="1101945"/>
          </a:xfrm>
          <a:prstGeom prst="rect">
            <a:avLst/>
          </a:prstGeom>
          <a:noFill/>
          <a:ln/>
        </p:spPr>
        <p:txBody>
          <a:bodyPr wrap="square" rtlCol="0" anchor="t"/>
          <a:lstStyle/>
          <a:p>
            <a:pPr marL="0" indent="0">
              <a:lnSpc>
                <a:spcPct val="112000"/>
              </a:lnSpc>
              <a:buNone/>
            </a:pPr>
            <a:r>
              <a:rPr lang="en-US" sz="1200" b="1" dirty="0">
                <a:solidFill>
                  <a:srgbClr val="16232E"/>
                </a:solidFill>
                <a:latin typeface="Segoe UI" panose="020B0502040204020203" pitchFamily="34" charset="0"/>
                <a:ea typeface="Calibri" pitchFamily="34" charset="-122"/>
                <a:cs typeface="Segoe UI" panose="020B0502040204020203" pitchFamily="34" charset="0"/>
              </a:rPr>
              <a:t>PCA: </a:t>
            </a:r>
            <a:r>
              <a:rPr lang="en-US" sz="1200" dirty="0">
                <a:solidFill>
                  <a:srgbClr val="16232E"/>
                </a:solidFill>
                <a:latin typeface="Segoe UI" panose="020B0502040204020203" pitchFamily="34" charset="0"/>
                <a:ea typeface="Calibri" pitchFamily="34" charset="-122"/>
                <a:cs typeface="Segoe UI" panose="020B0502040204020203" pitchFamily="34" charset="0"/>
              </a:rPr>
              <a:t>8 of 9 components needed for 90% variance — usage behavior can't be compressed into 2–3 “super-metrics.”
</a:t>
            </a:r>
            <a:r>
              <a:rPr lang="en-US" sz="1200" b="1" dirty="0">
                <a:solidFill>
                  <a:srgbClr val="16232E"/>
                </a:solidFill>
                <a:latin typeface="Segoe UI" panose="020B0502040204020203" pitchFamily="34" charset="0"/>
                <a:ea typeface="Calibri" pitchFamily="34" charset="-122"/>
                <a:cs typeface="Segoe UI" panose="020B0502040204020203" pitchFamily="34" charset="0"/>
              </a:rPr>
              <a:t>Deciles: </a:t>
            </a:r>
            <a:r>
              <a:rPr lang="en-US" sz="1200" dirty="0">
                <a:solidFill>
                  <a:srgbClr val="16232E"/>
                </a:solidFill>
                <a:latin typeface="Segoe UI" panose="020B0502040204020203" pitchFamily="34" charset="0"/>
                <a:ea typeface="Calibri" pitchFamily="34" charset="-122"/>
                <a:cs typeface="Segoe UI" panose="020B0502040204020203" pitchFamily="34" charset="0"/>
              </a:rPr>
              <a:t>traffic rises with duration, but not smoothly — deciles 7–8 are nearly flat before jumping again at 9–10.</a:t>
            </a:r>
            <a:endParaRPr lang="en-US" sz="1200" dirty="0">
              <a:latin typeface="Segoe UI" panose="020B0502040204020203" pitchFamily="34" charset="0"/>
              <a:cs typeface="Segoe UI" panose="020B0502040204020203" pitchFamily="34" charset="0"/>
            </a:endParaRPr>
          </a:p>
        </p:txBody>
      </p:sp>
      <p:pic>
        <p:nvPicPr>
          <p:cNvPr id="16" name="Picture 15">
            <a:extLst>
              <a:ext uri="{FF2B5EF4-FFF2-40B4-BE49-F238E27FC236}">
                <a16:creationId xmlns:a16="http://schemas.microsoft.com/office/drawing/2014/main" id="{AAE59FF7-5757-A6BA-55B4-F319F122DA09}"/>
              </a:ext>
            </a:extLst>
          </p:cNvPr>
          <p:cNvPicPr>
            <a:picLocks noChangeAspect="1"/>
          </p:cNvPicPr>
          <p:nvPr/>
        </p:nvPicPr>
        <p:blipFill>
          <a:blip r:embed="rId3"/>
          <a:stretch>
            <a:fillRect/>
          </a:stretch>
        </p:blipFill>
        <p:spPr>
          <a:xfrm>
            <a:off x="6531429" y="1233058"/>
            <a:ext cx="5574672" cy="3652960"/>
          </a:xfrm>
          <a:prstGeom prst="rect">
            <a:avLst/>
          </a:prstGeom>
          <a:ln>
            <a:solidFill>
              <a:srgbClr val="008080"/>
            </a:solidFill>
          </a:ln>
        </p:spPr>
      </p:pic>
      <p:pic>
        <p:nvPicPr>
          <p:cNvPr id="18" name="Picture 17">
            <a:extLst>
              <a:ext uri="{FF2B5EF4-FFF2-40B4-BE49-F238E27FC236}">
                <a16:creationId xmlns:a16="http://schemas.microsoft.com/office/drawing/2014/main" id="{CFBE49D1-3F4F-4463-D202-E06B4E2A522D}"/>
              </a:ext>
            </a:extLst>
          </p:cNvPr>
          <p:cNvPicPr>
            <a:picLocks noChangeAspect="1"/>
          </p:cNvPicPr>
          <p:nvPr/>
        </p:nvPicPr>
        <p:blipFill>
          <a:blip r:embed="rId4"/>
          <a:stretch>
            <a:fillRect/>
          </a:stretch>
        </p:blipFill>
        <p:spPr>
          <a:xfrm>
            <a:off x="85899" y="1233058"/>
            <a:ext cx="6240256" cy="5387011"/>
          </a:xfrm>
          <a:prstGeom prst="rect">
            <a:avLst/>
          </a:prstGeom>
          <a:ln>
            <a:solidFill>
              <a:srgbClr val="008080"/>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E7C7B"/>
          </a:solidFill>
          <a:ln/>
        </p:spPr>
      </p:sp>
      <p:sp>
        <p:nvSpPr>
          <p:cNvPr id="3" name="Text 1"/>
          <p:cNvSpPr/>
          <p:nvPr/>
        </p:nvSpPr>
        <p:spPr>
          <a:xfrm>
            <a:off x="457200" y="109728"/>
            <a:ext cx="11274552" cy="730606"/>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User Engagement — Segmenting Power Users</a:t>
            </a:r>
            <a:endParaRPr lang="en-US" sz="3600" dirty="0">
              <a:latin typeface="Bahnschrift" panose="020B0502040204020203" pitchFamily="34" charset="0"/>
            </a:endParaRPr>
          </a:p>
        </p:txBody>
      </p:sp>
      <p:graphicFrame>
        <p:nvGraphicFramePr>
          <p:cNvPr id="5" name="Chart 0"/>
          <p:cNvGraphicFramePr/>
          <p:nvPr>
            <p:extLst>
              <p:ext uri="{D42A27DB-BD31-4B8C-83A1-F6EECF244321}">
                <p14:modId xmlns:p14="http://schemas.microsoft.com/office/powerpoint/2010/main" val="288612701"/>
              </p:ext>
            </p:extLst>
          </p:nvPr>
        </p:nvGraphicFramePr>
        <p:xfrm>
          <a:off x="488240" y="1065648"/>
          <a:ext cx="3388276" cy="244928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extLst>
              <p:ext uri="{D42A27DB-BD31-4B8C-83A1-F6EECF244321}">
                <p14:modId xmlns:p14="http://schemas.microsoft.com/office/powerpoint/2010/main" val="47136706"/>
              </p:ext>
            </p:extLst>
          </p:nvPr>
        </p:nvGraphicFramePr>
        <p:xfrm>
          <a:off x="4339098" y="1028231"/>
          <a:ext cx="3419316" cy="244928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2"/>
          <p:cNvGraphicFramePr/>
          <p:nvPr>
            <p:extLst>
              <p:ext uri="{D42A27DB-BD31-4B8C-83A1-F6EECF244321}">
                <p14:modId xmlns:p14="http://schemas.microsoft.com/office/powerpoint/2010/main" val="432320095"/>
              </p:ext>
            </p:extLst>
          </p:nvPr>
        </p:nvGraphicFramePr>
        <p:xfrm>
          <a:off x="8220996" y="1077144"/>
          <a:ext cx="3419316" cy="2449286"/>
        </p:xfrm>
        <a:graphic>
          <a:graphicData uri="http://schemas.openxmlformats.org/drawingml/2006/chart">
            <c:chart xmlns:c="http://schemas.openxmlformats.org/drawingml/2006/chart" xmlns:r="http://schemas.openxmlformats.org/officeDocument/2006/relationships" r:id="rId5"/>
          </a:graphicData>
        </a:graphic>
      </p:graphicFrame>
      <p:sp>
        <p:nvSpPr>
          <p:cNvPr id="8" name="Shape 3"/>
          <p:cNvSpPr/>
          <p:nvPr/>
        </p:nvSpPr>
        <p:spPr>
          <a:xfrm>
            <a:off x="385351" y="3809594"/>
            <a:ext cx="2518020" cy="868680"/>
          </a:xfrm>
          <a:prstGeom prst="roundRect">
            <a:avLst>
              <a:gd name="adj" fmla="val 50000"/>
            </a:avLst>
          </a:prstGeom>
          <a:solidFill>
            <a:srgbClr val="3366CC"/>
          </a:solidFill>
          <a:ln/>
        </p:spPr>
      </p:sp>
      <p:sp>
        <p:nvSpPr>
          <p:cNvPr id="9" name="Text 4"/>
          <p:cNvSpPr/>
          <p:nvPr/>
        </p:nvSpPr>
        <p:spPr>
          <a:xfrm>
            <a:off x="450665" y="3770694"/>
            <a:ext cx="2481942" cy="538582"/>
          </a:xfrm>
          <a:prstGeom prst="rect">
            <a:avLst/>
          </a:prstGeom>
          <a:noFill/>
          <a:ln/>
        </p:spPr>
        <p:txBody>
          <a:bodyPr wrap="square" rtlCol="0" anchor="b"/>
          <a:lstStyle/>
          <a:p>
            <a:pPr marL="0" indent="0" algn="ctr">
              <a:buNone/>
            </a:pPr>
            <a:r>
              <a:rPr lang="en-US" sz="1600" b="1" dirty="0">
                <a:solidFill>
                  <a:srgbClr val="FFFFFF"/>
                </a:solidFill>
                <a:latin typeface="Segoe UI" panose="020B0502040204020203" pitchFamily="34" charset="0"/>
                <a:ea typeface="Calibri" pitchFamily="34" charset="-122"/>
                <a:cs typeface="Segoe UI" panose="020B0502040204020203" pitchFamily="34" charset="0"/>
              </a:rPr>
              <a:t>36,631</a:t>
            </a:r>
            <a:endParaRPr lang="en-US" sz="1600" dirty="0">
              <a:latin typeface="Segoe UI" panose="020B0502040204020203" pitchFamily="34" charset="0"/>
              <a:cs typeface="Segoe UI" panose="020B0502040204020203" pitchFamily="34" charset="0"/>
            </a:endParaRPr>
          </a:p>
        </p:txBody>
      </p:sp>
      <p:sp>
        <p:nvSpPr>
          <p:cNvPr id="10" name="Text 5"/>
          <p:cNvSpPr/>
          <p:nvPr/>
        </p:nvSpPr>
        <p:spPr>
          <a:xfrm>
            <a:off x="385351" y="4264470"/>
            <a:ext cx="2481942" cy="347472"/>
          </a:xfrm>
          <a:prstGeom prst="rect">
            <a:avLst/>
          </a:prstGeom>
          <a:noFill/>
          <a:ln/>
        </p:spPr>
        <p:txBody>
          <a:bodyPr wrap="square" rtlCol="0" anchor="t"/>
          <a:lstStyle/>
          <a:p>
            <a:pPr marL="0" indent="0" algn="ctr">
              <a:buNone/>
            </a:pPr>
            <a:r>
              <a:rPr lang="en-US" sz="1100" b="1" dirty="0">
                <a:solidFill>
                  <a:srgbClr val="FFFFFF"/>
                </a:solidFill>
                <a:latin typeface="Segoe UI" panose="020B0502040204020203" pitchFamily="34" charset="0"/>
                <a:ea typeface="Calibri" pitchFamily="34" charset="-122"/>
                <a:cs typeface="Segoe UI" panose="020B0502040204020203" pitchFamily="34" charset="0"/>
              </a:rPr>
              <a:t>Cluster 0 — 34.4%</a:t>
            </a:r>
            <a:endParaRPr lang="en-US" sz="1100" b="1" dirty="0">
              <a:latin typeface="Segoe UI" panose="020B0502040204020203" pitchFamily="34" charset="0"/>
              <a:cs typeface="Segoe UI" panose="020B0502040204020203" pitchFamily="34" charset="0"/>
            </a:endParaRPr>
          </a:p>
        </p:txBody>
      </p:sp>
      <p:sp>
        <p:nvSpPr>
          <p:cNvPr id="11" name="Shape 6"/>
          <p:cNvSpPr/>
          <p:nvPr/>
        </p:nvSpPr>
        <p:spPr>
          <a:xfrm>
            <a:off x="355493" y="4723910"/>
            <a:ext cx="2518020" cy="868680"/>
          </a:xfrm>
          <a:prstGeom prst="roundRect">
            <a:avLst>
              <a:gd name="adj" fmla="val 50000"/>
            </a:avLst>
          </a:prstGeom>
          <a:solidFill>
            <a:srgbClr val="FF9933"/>
          </a:solidFill>
          <a:ln/>
        </p:spPr>
      </p:sp>
      <p:sp>
        <p:nvSpPr>
          <p:cNvPr id="12" name="Text 7"/>
          <p:cNvSpPr/>
          <p:nvPr/>
        </p:nvSpPr>
        <p:spPr>
          <a:xfrm>
            <a:off x="376953" y="4751342"/>
            <a:ext cx="2491274" cy="538582"/>
          </a:xfrm>
          <a:prstGeom prst="rect">
            <a:avLst/>
          </a:prstGeom>
          <a:noFill/>
          <a:ln/>
        </p:spPr>
        <p:txBody>
          <a:bodyPr wrap="square" rtlCol="0" anchor="b"/>
          <a:lstStyle/>
          <a:p>
            <a:pPr marL="0" indent="0" algn="ctr">
              <a:buNone/>
            </a:pPr>
            <a:r>
              <a:rPr lang="en-US" sz="1600" b="1" dirty="0">
                <a:solidFill>
                  <a:srgbClr val="FFFFFF"/>
                </a:solidFill>
                <a:latin typeface="Segoe UI" panose="020B0502040204020203" pitchFamily="34" charset="0"/>
                <a:ea typeface="Calibri" pitchFamily="34" charset="-122"/>
                <a:cs typeface="Segoe UI" panose="020B0502040204020203" pitchFamily="34" charset="0"/>
              </a:rPr>
              <a:t>40,236</a:t>
            </a:r>
            <a:endParaRPr lang="en-US" sz="1600" dirty="0">
              <a:latin typeface="Segoe UI" panose="020B0502040204020203" pitchFamily="34" charset="0"/>
              <a:cs typeface="Segoe UI" panose="020B0502040204020203" pitchFamily="34" charset="0"/>
            </a:endParaRPr>
          </a:p>
        </p:txBody>
      </p:sp>
      <p:sp>
        <p:nvSpPr>
          <p:cNvPr id="13" name="Text 8"/>
          <p:cNvSpPr/>
          <p:nvPr/>
        </p:nvSpPr>
        <p:spPr>
          <a:xfrm>
            <a:off x="107298" y="5245118"/>
            <a:ext cx="3108960" cy="347472"/>
          </a:xfrm>
          <a:prstGeom prst="rect">
            <a:avLst/>
          </a:prstGeom>
          <a:noFill/>
          <a:ln/>
        </p:spPr>
        <p:txBody>
          <a:bodyPr wrap="square" rtlCol="0" anchor="t"/>
          <a:lstStyle/>
          <a:p>
            <a:pPr algn="ctr"/>
            <a:r>
              <a:rPr lang="en-US" sz="1100" b="1" dirty="0">
                <a:solidFill>
                  <a:srgbClr val="FFFFFF"/>
                </a:solidFill>
                <a:latin typeface="Segoe UI" panose="020B0502040204020203" pitchFamily="34" charset="0"/>
                <a:ea typeface="Calibri" pitchFamily="34" charset="-122"/>
                <a:cs typeface="Segoe UI" panose="020B0502040204020203" pitchFamily="34" charset="0"/>
              </a:rPr>
              <a:t>Cluster 1 — 37.8%</a:t>
            </a:r>
          </a:p>
        </p:txBody>
      </p:sp>
      <p:sp>
        <p:nvSpPr>
          <p:cNvPr id="14" name="Shape 9"/>
          <p:cNvSpPr/>
          <p:nvPr/>
        </p:nvSpPr>
        <p:spPr>
          <a:xfrm>
            <a:off x="355493" y="5678336"/>
            <a:ext cx="2518020" cy="868680"/>
          </a:xfrm>
          <a:prstGeom prst="roundRect">
            <a:avLst>
              <a:gd name="adj" fmla="val 50000"/>
            </a:avLst>
          </a:prstGeom>
          <a:solidFill>
            <a:srgbClr val="969696"/>
          </a:solidFill>
          <a:ln/>
        </p:spPr>
      </p:sp>
      <p:sp>
        <p:nvSpPr>
          <p:cNvPr id="15" name="Text 10"/>
          <p:cNvSpPr/>
          <p:nvPr/>
        </p:nvSpPr>
        <p:spPr>
          <a:xfrm>
            <a:off x="424538" y="5705768"/>
            <a:ext cx="2478833" cy="538582"/>
          </a:xfrm>
          <a:prstGeom prst="rect">
            <a:avLst/>
          </a:prstGeom>
          <a:noFill/>
          <a:ln/>
        </p:spPr>
        <p:txBody>
          <a:bodyPr wrap="square" rtlCol="0" anchor="b"/>
          <a:lstStyle/>
          <a:p>
            <a:pPr marL="0" indent="0" algn="ctr">
              <a:buNone/>
            </a:pPr>
            <a:r>
              <a:rPr lang="en-US" sz="1600" b="1" dirty="0">
                <a:solidFill>
                  <a:srgbClr val="FFFFFF"/>
                </a:solidFill>
                <a:latin typeface="Segoe UI" panose="020B0502040204020203" pitchFamily="34" charset="0"/>
                <a:ea typeface="Calibri" pitchFamily="34" charset="-122"/>
                <a:cs typeface="Segoe UI" panose="020B0502040204020203" pitchFamily="34" charset="0"/>
              </a:rPr>
              <a:t>29,604</a:t>
            </a:r>
            <a:endParaRPr lang="en-US" sz="1600" dirty="0">
              <a:latin typeface="Segoe UI" panose="020B0502040204020203" pitchFamily="34" charset="0"/>
              <a:cs typeface="Segoe UI" panose="020B0502040204020203" pitchFamily="34" charset="0"/>
            </a:endParaRPr>
          </a:p>
        </p:txBody>
      </p:sp>
      <p:sp>
        <p:nvSpPr>
          <p:cNvPr id="16" name="Text 11"/>
          <p:cNvSpPr/>
          <p:nvPr/>
        </p:nvSpPr>
        <p:spPr>
          <a:xfrm>
            <a:off x="107298" y="6199544"/>
            <a:ext cx="3108960" cy="347472"/>
          </a:xfrm>
          <a:prstGeom prst="rect">
            <a:avLst/>
          </a:prstGeom>
          <a:noFill/>
          <a:ln/>
        </p:spPr>
        <p:txBody>
          <a:bodyPr wrap="square" rtlCol="0" anchor="t"/>
          <a:lstStyle/>
          <a:p>
            <a:pPr indent="0" algn="ctr">
              <a:buNone/>
            </a:pPr>
            <a:r>
              <a:rPr lang="en-US" sz="1100" b="1" dirty="0">
                <a:solidFill>
                  <a:srgbClr val="FFFFFF"/>
                </a:solidFill>
                <a:latin typeface="Segoe UI" panose="020B0502040204020203" pitchFamily="34" charset="0"/>
                <a:ea typeface="Calibri" pitchFamily="34" charset="-122"/>
                <a:cs typeface="Segoe UI" panose="020B0502040204020203" pitchFamily="34" charset="0"/>
              </a:rPr>
              <a:t>Cluster 2 — 27.8% (Power Users)</a:t>
            </a:r>
          </a:p>
        </p:txBody>
      </p:sp>
      <p:sp>
        <p:nvSpPr>
          <p:cNvPr id="17" name="Shape 12"/>
          <p:cNvSpPr/>
          <p:nvPr/>
        </p:nvSpPr>
        <p:spPr>
          <a:xfrm>
            <a:off x="7994840" y="3684470"/>
            <a:ext cx="3820207" cy="3063802"/>
          </a:xfrm>
          <a:prstGeom prst="roundRect">
            <a:avLst>
              <a:gd name="adj" fmla="val 7273"/>
            </a:avLst>
          </a:prstGeom>
          <a:solidFill>
            <a:srgbClr val="F3F5F7"/>
          </a:solidFill>
          <a:ln w="9525">
            <a:solidFill>
              <a:srgbClr val="969696"/>
            </a:solidFill>
            <a:prstDash val="solid"/>
          </a:ln>
        </p:spPr>
      </p:sp>
      <p:sp>
        <p:nvSpPr>
          <p:cNvPr id="18" name="Text 13"/>
          <p:cNvSpPr/>
          <p:nvPr/>
        </p:nvSpPr>
        <p:spPr>
          <a:xfrm>
            <a:off x="8185865" y="3770694"/>
            <a:ext cx="3454448" cy="2910023"/>
          </a:xfrm>
          <a:prstGeom prst="rect">
            <a:avLst/>
          </a:prstGeom>
          <a:noFill/>
          <a:ln/>
        </p:spPr>
        <p:txBody>
          <a:bodyPr wrap="square" rtlCol="0" anchor="ctr"/>
          <a:lstStyle/>
          <a:p>
            <a:pPr marL="0" indent="0">
              <a:lnSpc>
                <a:spcPct val="108000"/>
              </a:lnSpc>
              <a:buNone/>
            </a:pPr>
            <a:r>
              <a:rPr lang="en-US" sz="1200" dirty="0">
                <a:solidFill>
                  <a:srgbClr val="16232E"/>
                </a:solidFill>
                <a:latin typeface="Segoe UI" panose="020B0502040204020203" pitchFamily="34" charset="0"/>
                <a:ea typeface="Calibri" pitchFamily="34" charset="-122"/>
                <a:cs typeface="Segoe UI" panose="020B0502040204020203" pitchFamily="34" charset="0"/>
              </a:rPr>
              <a:t>K-Means (</a:t>
            </a:r>
            <a:r>
              <a:rPr lang="en-US" sz="1200" b="1" dirty="0">
                <a:solidFill>
                  <a:srgbClr val="16232E"/>
                </a:solidFill>
                <a:latin typeface="Segoe UI" panose="020B0502040204020203" pitchFamily="34" charset="0"/>
                <a:ea typeface="Calibri" pitchFamily="34" charset="-122"/>
                <a:cs typeface="Segoe UI" panose="020B0502040204020203" pitchFamily="34" charset="0"/>
              </a:rPr>
              <a:t>k=3</a:t>
            </a:r>
            <a:r>
              <a:rPr lang="en-US" sz="1200" dirty="0">
                <a:solidFill>
                  <a:srgbClr val="16232E"/>
                </a:solidFill>
                <a:latin typeface="Segoe UI" panose="020B0502040204020203" pitchFamily="34" charset="0"/>
                <a:ea typeface="Calibri" pitchFamily="34" charset="-122"/>
                <a:cs typeface="Segoe UI" panose="020B0502040204020203" pitchFamily="34" charset="0"/>
              </a:rPr>
              <a:t>, task specified) found three comparably-sized tiers — no single cluster dominates. </a:t>
            </a:r>
          </a:p>
          <a:p>
            <a:pPr marL="0" indent="0">
              <a:lnSpc>
                <a:spcPct val="108000"/>
              </a:lnSpc>
              <a:buNone/>
            </a:pPr>
            <a:endParaRPr lang="en-US" sz="1200" dirty="0">
              <a:solidFill>
                <a:srgbClr val="16232E"/>
              </a:solidFill>
              <a:latin typeface="Segoe UI" panose="020B0502040204020203" pitchFamily="34" charset="0"/>
              <a:ea typeface="Calibri" pitchFamily="34" charset="-122"/>
              <a:cs typeface="Segoe UI" panose="020B0502040204020203" pitchFamily="34" charset="0"/>
            </a:endParaRPr>
          </a:p>
          <a:p>
            <a:pPr marL="0" indent="0">
              <a:lnSpc>
                <a:spcPct val="108000"/>
              </a:lnSpc>
              <a:buNone/>
            </a:pPr>
            <a:r>
              <a:rPr lang="en-US" sz="1200" b="1" dirty="0">
                <a:solidFill>
                  <a:srgbClr val="16232E"/>
                </a:solidFill>
                <a:latin typeface="Segoe UI" panose="020B0502040204020203" pitchFamily="34" charset="0"/>
                <a:ea typeface="Calibri" pitchFamily="34" charset="-122"/>
                <a:cs typeface="Segoe UI" panose="020B0502040204020203" pitchFamily="34" charset="0"/>
              </a:rPr>
              <a:t>Cluster 2 </a:t>
            </a:r>
            <a:r>
              <a:rPr lang="en-US" sz="1200" dirty="0">
                <a:solidFill>
                  <a:srgbClr val="16232E"/>
                </a:solidFill>
                <a:latin typeface="Segoe UI" panose="020B0502040204020203" pitchFamily="34" charset="0"/>
                <a:ea typeface="Calibri" pitchFamily="34" charset="-122"/>
                <a:cs typeface="Segoe UI" panose="020B0502040204020203" pitchFamily="34" charset="0"/>
              </a:rPr>
              <a:t>stands apart on session duration and traffic despite a similar session-frequency profile: engagement here is a duration/volume story more than a frequency one. </a:t>
            </a:r>
          </a:p>
          <a:p>
            <a:pPr marL="0" indent="0">
              <a:lnSpc>
                <a:spcPct val="108000"/>
              </a:lnSpc>
              <a:buNone/>
            </a:pPr>
            <a:endParaRPr lang="en-US" sz="1200" dirty="0">
              <a:solidFill>
                <a:srgbClr val="16232E"/>
              </a:solidFill>
              <a:latin typeface="Segoe UI" panose="020B0502040204020203" pitchFamily="34" charset="0"/>
              <a:ea typeface="Calibri" pitchFamily="34" charset="-122"/>
              <a:cs typeface="Segoe UI" panose="020B0502040204020203" pitchFamily="34" charset="0"/>
            </a:endParaRPr>
          </a:p>
          <a:p>
            <a:pPr marL="0" indent="0">
              <a:lnSpc>
                <a:spcPct val="108000"/>
              </a:lnSpc>
              <a:buNone/>
            </a:pPr>
            <a:r>
              <a:rPr lang="en-US" sz="1200" dirty="0">
                <a:solidFill>
                  <a:srgbClr val="16232E"/>
                </a:solidFill>
                <a:latin typeface="Segoe UI" panose="020B0502040204020203" pitchFamily="34" charset="0"/>
                <a:ea typeface="Calibri" pitchFamily="34" charset="-122"/>
                <a:cs typeface="Segoe UI" panose="020B0502040204020203" pitchFamily="34" charset="0"/>
              </a:rPr>
              <a:t>An independent elbow as well as silhouette check suggests </a:t>
            </a:r>
            <a:r>
              <a:rPr lang="en-US" sz="1200" b="1" dirty="0">
                <a:solidFill>
                  <a:srgbClr val="16232E"/>
                </a:solidFill>
                <a:latin typeface="Segoe UI" panose="020B0502040204020203" pitchFamily="34" charset="0"/>
                <a:ea typeface="Calibri" pitchFamily="34" charset="-122"/>
                <a:cs typeface="Segoe UI" panose="020B0502040204020203" pitchFamily="34" charset="0"/>
              </a:rPr>
              <a:t>k=4</a:t>
            </a:r>
            <a:r>
              <a:rPr lang="en-US" sz="1200" dirty="0">
                <a:solidFill>
                  <a:srgbClr val="16232E"/>
                </a:solidFill>
                <a:latin typeface="Segoe UI" panose="020B0502040204020203" pitchFamily="34" charset="0"/>
                <a:ea typeface="Calibri" pitchFamily="34" charset="-122"/>
                <a:cs typeface="Segoe UI" panose="020B0502040204020203" pitchFamily="34" charset="0"/>
              </a:rPr>
              <a:t> as the data's natural optimum — reported transparently as a finding, without overriding the brief's specified k=3.</a:t>
            </a:r>
            <a:endParaRPr lang="en-US" sz="1200" dirty="0">
              <a:latin typeface="Segoe UI" panose="020B0502040204020203" pitchFamily="34" charset="0"/>
              <a:cs typeface="Segoe UI" panose="020B0502040204020203" pitchFamily="34" charset="0"/>
            </a:endParaRPr>
          </a:p>
        </p:txBody>
      </p:sp>
      <p:pic>
        <p:nvPicPr>
          <p:cNvPr id="23" name="Picture 22">
            <a:extLst>
              <a:ext uri="{FF2B5EF4-FFF2-40B4-BE49-F238E27FC236}">
                <a16:creationId xmlns:a16="http://schemas.microsoft.com/office/drawing/2014/main" id="{2DB6174F-6C91-B61F-57A4-E64B44F3B9A9}"/>
              </a:ext>
            </a:extLst>
          </p:cNvPr>
          <p:cNvPicPr>
            <a:picLocks noChangeAspect="1"/>
          </p:cNvPicPr>
          <p:nvPr/>
        </p:nvPicPr>
        <p:blipFill>
          <a:blip r:embed="rId6"/>
          <a:stretch>
            <a:fillRect/>
          </a:stretch>
        </p:blipFill>
        <p:spPr>
          <a:xfrm>
            <a:off x="3136388" y="3684470"/>
            <a:ext cx="4512298" cy="2996247"/>
          </a:xfrm>
          <a:prstGeom prst="rect">
            <a:avLst/>
          </a:prstGeom>
          <a:ln>
            <a:solidFill>
              <a:srgbClr val="008080"/>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E7C7B"/>
          </a:solidFill>
          <a:ln/>
        </p:spPr>
      </p:sp>
      <p:sp>
        <p:nvSpPr>
          <p:cNvPr id="3" name="Text 1"/>
          <p:cNvSpPr/>
          <p:nvPr/>
        </p:nvSpPr>
        <p:spPr>
          <a:xfrm>
            <a:off x="457200" y="109728"/>
            <a:ext cx="11274552" cy="692705"/>
          </a:xfrm>
          <a:prstGeom prst="rect">
            <a:avLst/>
          </a:prstGeom>
          <a:noFill/>
          <a:ln/>
        </p:spPr>
        <p:txBody>
          <a:bodyPr wrap="square" rtlCol="0" anchor="ctr"/>
          <a:lstStyle/>
          <a:p>
            <a:pPr marL="0" indent="0" algn="ctr">
              <a:buNone/>
            </a:pPr>
            <a:r>
              <a:rPr lang="en-US" sz="3600" b="1" dirty="0">
                <a:solidFill>
                  <a:srgbClr val="FFFFFF"/>
                </a:solidFill>
                <a:latin typeface="Bahnschrift" panose="020B0502040204020203" pitchFamily="34" charset="0"/>
                <a:ea typeface="Calibri" pitchFamily="34" charset="-122"/>
                <a:cs typeface="Calibri" pitchFamily="34" charset="-120"/>
              </a:rPr>
              <a:t>User Engagement — Application Traffic Dominance</a:t>
            </a:r>
            <a:endParaRPr lang="en-US" sz="3600" dirty="0">
              <a:latin typeface="Bahnschrift" panose="020B0502040204020203" pitchFamily="34" charset="0"/>
            </a:endParaRPr>
          </a:p>
        </p:txBody>
      </p:sp>
      <p:graphicFrame>
        <p:nvGraphicFramePr>
          <p:cNvPr id="5" name="Chart 0"/>
          <p:cNvGraphicFramePr/>
          <p:nvPr/>
        </p:nvGraphicFramePr>
        <p:xfrm>
          <a:off x="1097280" y="1234440"/>
          <a:ext cx="676656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183880" y="1234440"/>
            <a:ext cx="3566160" cy="4297680"/>
          </a:xfrm>
          <a:prstGeom prst="roundRect">
            <a:avLst>
              <a:gd name="adj" fmla="val 2051"/>
            </a:avLst>
          </a:prstGeom>
          <a:solidFill>
            <a:srgbClr val="E3F5F4"/>
          </a:solidFill>
          <a:ln w="9525">
            <a:solidFill>
              <a:srgbClr val="CDEAE8"/>
            </a:solidFill>
            <a:prstDash val="solid"/>
          </a:ln>
        </p:spPr>
      </p:sp>
      <p:sp>
        <p:nvSpPr>
          <p:cNvPr id="7" name="Text 4"/>
          <p:cNvSpPr/>
          <p:nvPr/>
        </p:nvSpPr>
        <p:spPr>
          <a:xfrm>
            <a:off x="8321040" y="1417320"/>
            <a:ext cx="3291840" cy="822960"/>
          </a:xfrm>
          <a:prstGeom prst="rect">
            <a:avLst/>
          </a:prstGeom>
          <a:noFill/>
          <a:ln/>
        </p:spPr>
        <p:txBody>
          <a:bodyPr wrap="square" rtlCol="0" anchor="ctr"/>
          <a:lstStyle/>
          <a:p>
            <a:pPr marL="0" indent="0" algn="ctr">
              <a:buNone/>
            </a:pPr>
            <a:r>
              <a:rPr lang="en-US" sz="4400" b="1" dirty="0">
                <a:solidFill>
                  <a:srgbClr val="0E7C7B"/>
                </a:solidFill>
                <a:latin typeface="Calibri" pitchFamily="34" charset="0"/>
                <a:ea typeface="Calibri" pitchFamily="34" charset="-122"/>
                <a:cs typeface="Calibri" pitchFamily="34" charset="-120"/>
              </a:rPr>
              <a:t>~20x</a:t>
            </a:r>
            <a:endParaRPr lang="en-US" sz="4400" dirty="0"/>
          </a:p>
        </p:txBody>
      </p:sp>
      <p:sp>
        <p:nvSpPr>
          <p:cNvPr id="8" name="Text 5"/>
          <p:cNvSpPr/>
          <p:nvPr/>
        </p:nvSpPr>
        <p:spPr>
          <a:xfrm>
            <a:off x="8321040" y="2240280"/>
            <a:ext cx="3291840" cy="365760"/>
          </a:xfrm>
          <a:prstGeom prst="rect">
            <a:avLst/>
          </a:prstGeom>
          <a:noFill/>
          <a:ln/>
        </p:spPr>
        <p:txBody>
          <a:bodyPr wrap="square" rtlCol="0" anchor="ctr"/>
          <a:lstStyle/>
          <a:p>
            <a:pPr marL="0" indent="0" algn="ctr">
              <a:buNone/>
            </a:pPr>
            <a:r>
              <a:rPr lang="en-US" sz="1200" b="1" dirty="0">
                <a:solidFill>
                  <a:srgbClr val="16232E"/>
                </a:solidFill>
                <a:latin typeface="Calibri" pitchFamily="34" charset="0"/>
                <a:ea typeface="Calibri" pitchFamily="34" charset="-122"/>
                <a:cs typeface="Calibri" pitchFamily="34" charset="-120"/>
              </a:rPr>
              <a:t>Gaming vs. Netflix / YouTube</a:t>
            </a:r>
            <a:endParaRPr lang="en-US" sz="1200" dirty="0"/>
          </a:p>
        </p:txBody>
      </p:sp>
      <p:sp>
        <p:nvSpPr>
          <p:cNvPr id="9" name="Text 6"/>
          <p:cNvSpPr/>
          <p:nvPr/>
        </p:nvSpPr>
        <p:spPr>
          <a:xfrm>
            <a:off x="8321040" y="2697480"/>
            <a:ext cx="3291840" cy="2651760"/>
          </a:xfrm>
          <a:prstGeom prst="rect">
            <a:avLst/>
          </a:prstGeom>
          <a:noFill/>
          <a:ln/>
        </p:spPr>
        <p:txBody>
          <a:bodyPr wrap="square" rtlCol="0" anchor="t"/>
          <a:lstStyle/>
          <a:p>
            <a:pPr marL="0" indent="0" algn="ctr">
              <a:lnSpc>
                <a:spcPct val="112000"/>
              </a:lnSpc>
              <a:buNone/>
            </a:pPr>
            <a:r>
              <a:rPr lang="en-US" sz="1030" dirty="0">
                <a:solidFill>
                  <a:srgbClr val="16232E"/>
                </a:solidFill>
                <a:latin typeface="Calibri" pitchFamily="34" charset="0"/>
                <a:ea typeface="Calibri" pitchFamily="34" charset="-122"/>
                <a:cs typeface="Calibri" pitchFamily="34" charset="-120"/>
              </a:rPr>
              <a:t>Excluding the catch-all “Other” category, Gaming alone accounts for 57,491 GB — roughly 19–20x either streaming app. Netflix and YouTube are essentially tied (within 1.13 GB of each other), forming a clear secondary tier of demand distinct from Gaming's outsized dominance.</a:t>
            </a:r>
            <a:endParaRPr lang="en-US" sz="1030" dirty="0"/>
          </a:p>
        </p:txBody>
      </p:sp>
      <p:sp>
        <p:nvSpPr>
          <p:cNvPr id="11" name="Text 7"/>
          <p:cNvSpPr/>
          <p:nvPr/>
        </p:nvSpPr>
        <p:spPr>
          <a:xfrm>
            <a:off x="11640312" y="6473952"/>
            <a:ext cx="365760" cy="274320"/>
          </a:xfrm>
          <a:prstGeom prst="rect">
            <a:avLst/>
          </a:prstGeom>
          <a:noFill/>
          <a:ln/>
        </p:spPr>
        <p:txBody>
          <a:bodyPr wrap="square" rtlCol="0" anchor="ctr"/>
          <a:lstStyle/>
          <a:p>
            <a:pPr marL="0" indent="0" algn="r">
              <a:buNone/>
            </a:pPr>
            <a:r>
              <a:rPr lang="en-US" sz="1000" dirty="0">
                <a:solidFill>
                  <a:srgbClr val="9AA7B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E7C7B"/>
          </a:solidFill>
          <a:ln/>
        </p:spPr>
      </p:sp>
      <p:sp>
        <p:nvSpPr>
          <p:cNvPr id="3" name="Text 1"/>
          <p:cNvSpPr/>
          <p:nvPr/>
        </p:nvSpPr>
        <p:spPr>
          <a:xfrm>
            <a:off x="457200" y="0"/>
            <a:ext cx="11274552" cy="896112"/>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User Experience — Network Quality Segments</a:t>
            </a:r>
            <a:endParaRPr lang="en-US" sz="2600" dirty="0"/>
          </a:p>
        </p:txBody>
      </p:sp>
      <p:sp>
        <p:nvSpPr>
          <p:cNvPr id="4" name="Text 2"/>
          <p:cNvSpPr/>
          <p:nvPr/>
        </p:nvSpPr>
        <p:spPr>
          <a:xfrm>
            <a:off x="457200" y="18288"/>
            <a:ext cx="11274552" cy="274320"/>
          </a:xfrm>
          <a:prstGeom prst="rect">
            <a:avLst/>
          </a:prstGeom>
          <a:noFill/>
          <a:ln/>
        </p:spPr>
        <p:txBody>
          <a:bodyPr wrap="square" rtlCol="0" anchor="t"/>
          <a:lstStyle/>
          <a:p>
            <a:pPr marL="0" indent="0" algn="l">
              <a:buNone/>
            </a:pPr>
            <a:r>
              <a:rPr lang="en-US" sz="1100" i="1" dirty="0">
                <a:solidFill>
                  <a:srgbClr val="BFEAE8"/>
                </a:solidFill>
                <a:latin typeface="Calibri" pitchFamily="34" charset="0"/>
                <a:ea typeface="Calibri" pitchFamily="34" charset="-122"/>
                <a:cs typeface="Calibri" pitchFamily="34" charset="-120"/>
              </a:rPr>
              <a:t>PILLAR 3 OF 4</a:t>
            </a:r>
            <a:endParaRPr lang="en-US" sz="1100" dirty="0"/>
          </a:p>
        </p:txBody>
      </p:sp>
      <p:graphicFrame>
        <p:nvGraphicFramePr>
          <p:cNvPr id="5" name="Chart 0"/>
          <p:cNvGraphicFramePr/>
          <p:nvPr/>
        </p:nvGraphicFramePr>
        <p:xfrm>
          <a:off x="411480" y="1143000"/>
          <a:ext cx="685800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543800" y="1234440"/>
            <a:ext cx="4206240" cy="914400"/>
          </a:xfrm>
          <a:prstGeom prst="roundRect">
            <a:avLst>
              <a:gd name="adj" fmla="val 50000"/>
            </a:avLst>
          </a:prstGeom>
          <a:solidFill>
            <a:srgbClr val="2E8B57"/>
          </a:solidFill>
          <a:ln/>
        </p:spPr>
      </p:sp>
      <p:sp>
        <p:nvSpPr>
          <p:cNvPr id="7" name="Text 4"/>
          <p:cNvSpPr/>
          <p:nvPr/>
        </p:nvSpPr>
        <p:spPr>
          <a:xfrm>
            <a:off x="7543800" y="1261872"/>
            <a:ext cx="4206240" cy="566928"/>
          </a:xfrm>
          <a:prstGeom prst="rect">
            <a:avLst/>
          </a:prstGeom>
          <a:noFill/>
          <a:ln/>
        </p:spPr>
        <p:txBody>
          <a:bodyPr wrap="square" rtlCol="0" anchor="b"/>
          <a:lstStyle/>
          <a:p>
            <a:pPr marL="0" indent="0" algn="ctr">
              <a:buNone/>
            </a:pPr>
            <a:r>
              <a:rPr lang="en-US" sz="1500" b="1" dirty="0">
                <a:solidFill>
                  <a:srgbClr val="FFFFFF"/>
                </a:solidFill>
                <a:latin typeface="Calibri" pitchFamily="34" charset="0"/>
                <a:ea typeface="Calibri" pitchFamily="34" charset="-122"/>
                <a:cs typeface="Calibri" pitchFamily="34" charset="-120"/>
              </a:rPr>
              <a:t>73.6%</a:t>
            </a:r>
            <a:endParaRPr lang="en-US" sz="1500" dirty="0"/>
          </a:p>
        </p:txBody>
      </p:sp>
      <p:sp>
        <p:nvSpPr>
          <p:cNvPr id="8" name="Text 5"/>
          <p:cNvSpPr/>
          <p:nvPr/>
        </p:nvSpPr>
        <p:spPr>
          <a:xfrm>
            <a:off x="7543800" y="1783080"/>
            <a:ext cx="4206240" cy="365760"/>
          </a:xfrm>
          <a:prstGeom prst="rect">
            <a:avLst/>
          </a:prstGeom>
          <a:noFill/>
          <a:ln/>
        </p:spPr>
        <p:txBody>
          <a:bodyPr wrap="square" rtlCol="0" anchor="t"/>
          <a:lstStyle/>
          <a:p>
            <a:pPr marL="0" indent="0" algn="ctr">
              <a:buNone/>
            </a:pPr>
            <a:r>
              <a:rPr lang="en-US" sz="850" dirty="0">
                <a:solidFill>
                  <a:srgbClr val="FFFFFF"/>
                </a:solidFill>
                <a:latin typeface="Calibri" pitchFamily="34" charset="0"/>
                <a:ea typeface="Calibri" pitchFamily="34" charset="-122"/>
                <a:cs typeface="Calibri" pitchFamily="34" charset="-120"/>
              </a:rPr>
              <a:t>Cluster 0 — Minimal Friction</a:t>
            </a:r>
            <a:endParaRPr lang="en-US" sz="850" dirty="0"/>
          </a:p>
        </p:txBody>
      </p:sp>
      <p:sp>
        <p:nvSpPr>
          <p:cNvPr id="9" name="Shape 6"/>
          <p:cNvSpPr/>
          <p:nvPr/>
        </p:nvSpPr>
        <p:spPr>
          <a:xfrm>
            <a:off x="7543800" y="2286000"/>
            <a:ext cx="4206240" cy="914400"/>
          </a:xfrm>
          <a:prstGeom prst="roundRect">
            <a:avLst>
              <a:gd name="adj" fmla="val 50000"/>
            </a:avLst>
          </a:prstGeom>
          <a:solidFill>
            <a:srgbClr val="C0392B"/>
          </a:solidFill>
          <a:ln/>
        </p:spPr>
      </p:sp>
      <p:sp>
        <p:nvSpPr>
          <p:cNvPr id="10" name="Text 7"/>
          <p:cNvSpPr/>
          <p:nvPr/>
        </p:nvSpPr>
        <p:spPr>
          <a:xfrm>
            <a:off x="7543800" y="2313432"/>
            <a:ext cx="4206240" cy="566928"/>
          </a:xfrm>
          <a:prstGeom prst="rect">
            <a:avLst/>
          </a:prstGeom>
          <a:noFill/>
          <a:ln/>
        </p:spPr>
        <p:txBody>
          <a:bodyPr wrap="square" rtlCol="0" anchor="b"/>
          <a:lstStyle/>
          <a:p>
            <a:pPr marL="0" indent="0" algn="ctr">
              <a:buNone/>
            </a:pPr>
            <a:r>
              <a:rPr lang="en-US" sz="1500" b="1" dirty="0">
                <a:solidFill>
                  <a:srgbClr val="FFFFFF"/>
                </a:solidFill>
                <a:latin typeface="Calibri" pitchFamily="34" charset="0"/>
                <a:ea typeface="Calibri" pitchFamily="34" charset="-122"/>
                <a:cs typeface="Calibri" pitchFamily="34" charset="-120"/>
              </a:rPr>
              <a:t>10.8%</a:t>
            </a:r>
            <a:endParaRPr lang="en-US" sz="1500" dirty="0"/>
          </a:p>
        </p:txBody>
      </p:sp>
      <p:sp>
        <p:nvSpPr>
          <p:cNvPr id="11" name="Text 8"/>
          <p:cNvSpPr/>
          <p:nvPr/>
        </p:nvSpPr>
        <p:spPr>
          <a:xfrm>
            <a:off x="7543800" y="2834640"/>
            <a:ext cx="4206240" cy="365760"/>
          </a:xfrm>
          <a:prstGeom prst="rect">
            <a:avLst/>
          </a:prstGeom>
          <a:noFill/>
          <a:ln/>
        </p:spPr>
        <p:txBody>
          <a:bodyPr wrap="square" rtlCol="0" anchor="t"/>
          <a:lstStyle/>
          <a:p>
            <a:pPr marL="0" indent="0" algn="ctr">
              <a:buNone/>
            </a:pPr>
            <a:r>
              <a:rPr lang="en-US" sz="850" dirty="0">
                <a:solidFill>
                  <a:srgbClr val="FFFFFF"/>
                </a:solidFill>
                <a:latin typeface="Calibri" pitchFamily="34" charset="0"/>
                <a:ea typeface="Calibri" pitchFamily="34" charset="-122"/>
                <a:cs typeface="Calibri" pitchFamily="34" charset="-120"/>
              </a:rPr>
              <a:t>Cluster 1 — Genuine Uplink Strain</a:t>
            </a:r>
            <a:endParaRPr lang="en-US" sz="850" dirty="0"/>
          </a:p>
        </p:txBody>
      </p:sp>
      <p:sp>
        <p:nvSpPr>
          <p:cNvPr id="12" name="Shape 9"/>
          <p:cNvSpPr/>
          <p:nvPr/>
        </p:nvSpPr>
        <p:spPr>
          <a:xfrm>
            <a:off x="7543800" y="3337560"/>
            <a:ext cx="4206240" cy="914400"/>
          </a:xfrm>
          <a:prstGeom prst="roundRect">
            <a:avLst>
              <a:gd name="adj" fmla="val 50000"/>
            </a:avLst>
          </a:prstGeom>
          <a:solidFill>
            <a:srgbClr val="005B96"/>
          </a:solidFill>
          <a:ln/>
        </p:spPr>
      </p:sp>
      <p:sp>
        <p:nvSpPr>
          <p:cNvPr id="13" name="Text 10"/>
          <p:cNvSpPr/>
          <p:nvPr/>
        </p:nvSpPr>
        <p:spPr>
          <a:xfrm>
            <a:off x="7543800" y="3364992"/>
            <a:ext cx="4206240" cy="566928"/>
          </a:xfrm>
          <a:prstGeom prst="rect">
            <a:avLst/>
          </a:prstGeom>
          <a:noFill/>
          <a:ln/>
        </p:spPr>
        <p:txBody>
          <a:bodyPr wrap="square" rtlCol="0" anchor="b"/>
          <a:lstStyle/>
          <a:p>
            <a:pPr marL="0" indent="0" algn="ctr">
              <a:buNone/>
            </a:pPr>
            <a:r>
              <a:rPr lang="en-US" sz="1500" b="1" dirty="0">
                <a:solidFill>
                  <a:srgbClr val="FFFFFF"/>
                </a:solidFill>
                <a:latin typeface="Calibri" pitchFamily="34" charset="0"/>
                <a:ea typeface="Calibri" pitchFamily="34" charset="-122"/>
                <a:cs typeface="Calibri" pitchFamily="34" charset="-120"/>
              </a:rPr>
              <a:t>15.6%</a:t>
            </a:r>
            <a:endParaRPr lang="en-US" sz="1500" dirty="0"/>
          </a:p>
        </p:txBody>
      </p:sp>
      <p:sp>
        <p:nvSpPr>
          <p:cNvPr id="14" name="Text 11"/>
          <p:cNvSpPr/>
          <p:nvPr/>
        </p:nvSpPr>
        <p:spPr>
          <a:xfrm>
            <a:off x="7543800" y="3886200"/>
            <a:ext cx="4206240" cy="365760"/>
          </a:xfrm>
          <a:prstGeom prst="rect">
            <a:avLst/>
          </a:prstGeom>
          <a:noFill/>
          <a:ln/>
        </p:spPr>
        <p:txBody>
          <a:bodyPr wrap="square" rtlCol="0" anchor="t"/>
          <a:lstStyle/>
          <a:p>
            <a:pPr marL="0" indent="0" algn="ctr">
              <a:buNone/>
            </a:pPr>
            <a:r>
              <a:rPr lang="en-US" sz="850" dirty="0">
                <a:solidFill>
                  <a:srgbClr val="FFFFFF"/>
                </a:solidFill>
                <a:latin typeface="Calibri" pitchFamily="34" charset="0"/>
                <a:ea typeface="Calibri" pitchFamily="34" charset="-122"/>
                <a:cs typeface="Calibri" pitchFamily="34" charset="-120"/>
              </a:rPr>
              <a:t>Cluster 2 — Moderate Profile</a:t>
            </a:r>
            <a:endParaRPr lang="en-US" sz="850" dirty="0"/>
          </a:p>
        </p:txBody>
      </p:sp>
      <p:sp>
        <p:nvSpPr>
          <p:cNvPr id="15" name="Shape 12"/>
          <p:cNvSpPr/>
          <p:nvPr/>
        </p:nvSpPr>
        <p:spPr>
          <a:xfrm>
            <a:off x="7543800" y="4389120"/>
            <a:ext cx="4206240" cy="960120"/>
          </a:xfrm>
          <a:prstGeom prst="roundRect">
            <a:avLst>
              <a:gd name="adj" fmla="val 7619"/>
            </a:avLst>
          </a:prstGeom>
          <a:solidFill>
            <a:srgbClr val="FDEDEC"/>
          </a:solidFill>
          <a:ln w="9525">
            <a:solidFill>
              <a:srgbClr val="F5C6C0"/>
            </a:solidFill>
            <a:prstDash val="solid"/>
          </a:ln>
        </p:spPr>
      </p:sp>
      <p:sp>
        <p:nvSpPr>
          <p:cNvPr id="16" name="Text 13"/>
          <p:cNvSpPr/>
          <p:nvPr/>
        </p:nvSpPr>
        <p:spPr>
          <a:xfrm>
            <a:off x="7680960" y="4443984"/>
            <a:ext cx="3931920" cy="868680"/>
          </a:xfrm>
          <a:prstGeom prst="rect">
            <a:avLst/>
          </a:prstGeom>
          <a:noFill/>
          <a:ln/>
        </p:spPr>
        <p:txBody>
          <a:bodyPr wrap="square" rtlCol="0" anchor="t"/>
          <a:lstStyle/>
          <a:p>
            <a:pPr marL="0" indent="0">
              <a:lnSpc>
                <a:spcPct val="105000"/>
              </a:lnSpc>
              <a:buNone/>
            </a:pPr>
            <a:r>
              <a:rPr lang="en-US" sz="950" dirty="0">
                <a:solidFill>
                  <a:srgbClr val="C0392B"/>
                </a:solidFill>
                <a:latin typeface="Calibri" pitchFamily="34" charset="0"/>
                <a:ea typeface="Calibri" pitchFamily="34" charset="-122"/>
                <a:cs typeface="Calibri" pitchFamily="34" charset="-120"/>
              </a:rPr>
              <a:t>The single clearest lever: Cluster 1's heaviest uplink users show the highest retransmission AND worst uplink latency simultaneously — a real reliability concern, concentrated, not network-wide.</a:t>
            </a:r>
            <a:endParaRPr lang="en-US" sz="950" dirty="0"/>
          </a:p>
        </p:txBody>
      </p:sp>
      <p:sp>
        <p:nvSpPr>
          <p:cNvPr id="17" name="Text 14"/>
          <p:cNvSpPr/>
          <p:nvPr/>
        </p:nvSpPr>
        <p:spPr>
          <a:xfrm>
            <a:off x="7543800" y="5413248"/>
            <a:ext cx="4206240" cy="411480"/>
          </a:xfrm>
          <a:prstGeom prst="rect">
            <a:avLst/>
          </a:prstGeom>
          <a:noFill/>
          <a:ln/>
        </p:spPr>
        <p:txBody>
          <a:bodyPr wrap="square" rtlCol="0" anchor="t"/>
          <a:lstStyle/>
          <a:p>
            <a:pPr marL="0" indent="0">
              <a:lnSpc>
                <a:spcPct val="105000"/>
              </a:lnSpc>
              <a:buNone/>
            </a:pPr>
            <a:r>
              <a:rPr lang="en-US" sz="880" i="1" dirty="0">
                <a:solidFill>
                  <a:srgbClr val="56687A"/>
                </a:solidFill>
                <a:latin typeface="Calibri" pitchFamily="34" charset="0"/>
                <a:ea typeface="Calibri" pitchFamily="34" charset="-122"/>
                <a:cs typeface="Calibri" pitchFamily="34" charset="-120"/>
              </a:rPr>
              <a:t>An independent elbow check suggests k=2 as the data's natural optimum for this clustering — reported transparently as a finding, without overriding the brief's specified k=3.</a:t>
            </a:r>
            <a:endParaRPr lang="en-US" sz="880" dirty="0"/>
          </a:p>
        </p:txBody>
      </p:sp>
      <p:sp>
        <p:nvSpPr>
          <p:cNvPr id="19" name="Text 15"/>
          <p:cNvSpPr/>
          <p:nvPr/>
        </p:nvSpPr>
        <p:spPr>
          <a:xfrm>
            <a:off x="11640312" y="6473952"/>
            <a:ext cx="365760" cy="274320"/>
          </a:xfrm>
          <a:prstGeom prst="rect">
            <a:avLst/>
          </a:prstGeom>
          <a:noFill/>
          <a:ln/>
        </p:spPr>
        <p:txBody>
          <a:bodyPr wrap="square" rtlCol="0" anchor="ctr"/>
          <a:lstStyle/>
          <a:p>
            <a:pPr marL="0" indent="0" algn="r">
              <a:buNone/>
            </a:pPr>
            <a:r>
              <a:rPr lang="en-US" sz="1000" dirty="0">
                <a:solidFill>
                  <a:srgbClr val="9AA7B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E7C7B"/>
          </a:solidFill>
          <a:ln/>
        </p:spPr>
      </p:sp>
      <p:sp>
        <p:nvSpPr>
          <p:cNvPr id="3" name="Text 1"/>
          <p:cNvSpPr/>
          <p:nvPr/>
        </p:nvSpPr>
        <p:spPr>
          <a:xfrm>
            <a:off x="457200" y="0"/>
            <a:ext cx="11274552" cy="896112"/>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User Experience — Handset Diagnostics</a:t>
            </a:r>
            <a:endParaRPr lang="en-US" sz="2600" dirty="0"/>
          </a:p>
        </p:txBody>
      </p:sp>
      <p:sp>
        <p:nvSpPr>
          <p:cNvPr id="4" name="Text 2"/>
          <p:cNvSpPr/>
          <p:nvPr/>
        </p:nvSpPr>
        <p:spPr>
          <a:xfrm>
            <a:off x="457200" y="18288"/>
            <a:ext cx="11274552" cy="274320"/>
          </a:xfrm>
          <a:prstGeom prst="rect">
            <a:avLst/>
          </a:prstGeom>
          <a:noFill/>
          <a:ln/>
        </p:spPr>
        <p:txBody>
          <a:bodyPr wrap="square" rtlCol="0" anchor="t"/>
          <a:lstStyle/>
          <a:p>
            <a:pPr marL="0" indent="0" algn="l">
              <a:buNone/>
            </a:pPr>
            <a:r>
              <a:rPr lang="en-US" sz="1100" i="1" dirty="0">
                <a:solidFill>
                  <a:srgbClr val="BFEAE8"/>
                </a:solidFill>
                <a:latin typeface="Calibri" pitchFamily="34" charset="0"/>
                <a:ea typeface="Calibri" pitchFamily="34" charset="-122"/>
                <a:cs typeface="Calibri" pitchFamily="34" charset="-120"/>
              </a:rPr>
              <a:t>PILLAR 3 OF 4</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5486400" cy="2926080"/>
        </p:xfrm>
        <a:graphic>
          <a:graphicData uri="http://schemas.openxmlformats.org/drawingml/2006/table">
            <a:tbl>
              <a:tblPr/>
              <a:tblGrid>
                <a:gridCol w="8229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384048">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Rank</a:t>
                      </a:r>
                      <a:endParaRPr lang="en-US" sz="1200" dirty="0">
                        <a:latin typeface="Calibri" charset="0"/>
                        <a:ea typeface="Calibri" charset="0"/>
                        <a:cs typeface="Calibri" charset="0"/>
                      </a:endParaRPr>
                    </a:p>
                  </a:txBody>
                  <a:tcPr>
                    <a:lnL w="6350" cap="flat" cmpd="sng" algn="ctr">
                      <a:solidFill>
                        <a:srgbClr val="E1E6EA"/>
                      </a:solidFill>
                      <a:prstDash val="solid"/>
                      <a:round/>
                      <a:headEnd type="none" w="med" len="med"/>
                      <a:tailEnd type="none" w="med" len="med"/>
                    </a:lnL>
                    <a:lnR w="6350" cap="flat" cmpd="sng" algn="ctr">
                      <a:solidFill>
                        <a:srgbClr val="E1E6EA"/>
                      </a:solidFill>
                      <a:prstDash val="solid"/>
                      <a:round/>
                      <a:headEnd type="none" w="med" len="med"/>
                      <a:tailEnd type="none" w="med" len="med"/>
                    </a:lnR>
                    <a:lnT w="6350" cap="flat" cmpd="sng" algn="ctr">
                      <a:solidFill>
                        <a:srgbClr val="E1E6EA"/>
                      </a:solidFill>
                      <a:prstDash val="solid"/>
                      <a:round/>
                      <a:headEnd type="none" w="med" len="med"/>
                      <a:tailEnd type="none" w="med" len="med"/>
                    </a:lnT>
                    <a:lnB w="6350" cap="flat" cmpd="sng" algn="ctr">
                      <a:solidFill>
                        <a:srgbClr val="E1E6EA"/>
                      </a:solidFill>
                      <a:prstDash val="solid"/>
                      <a:round/>
                      <a:headEnd type="none" w="med" len="med"/>
                      <a:tailEnd type="none" w="med" len="med"/>
                    </a:lnB>
                    <a:solidFill>
                      <a:srgbClr val="005B96"/>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Handset Type</a:t>
                      </a:r>
                      <a:endParaRPr lang="en-US" sz="1200" dirty="0">
                        <a:latin typeface="Calibri" charset="0"/>
                        <a:ea typeface="Calibri" charset="0"/>
                        <a:cs typeface="Calibri" charset="0"/>
                      </a:endParaRPr>
                    </a:p>
                  </a:txBody>
                  <a:tcPr>
                    <a:lnL w="6350" cap="flat" cmpd="sng" algn="ctr">
                      <a:solidFill>
                        <a:srgbClr val="E1E6EA"/>
                      </a:solidFill>
                      <a:prstDash val="solid"/>
                      <a:round/>
                      <a:headEnd type="none" w="med" len="med"/>
                      <a:tailEnd type="none" w="med" len="med"/>
                    </a:lnL>
                    <a:lnR w="6350" cap="flat" cmpd="sng" algn="ctr">
                      <a:solidFill>
                        <a:srgbClr val="E1E6EA"/>
                      </a:solidFill>
                      <a:prstDash val="solid"/>
                      <a:round/>
                      <a:headEnd type="none" w="med" len="med"/>
                      <a:tailEnd type="none" w="med" len="med"/>
                    </a:lnR>
                    <a:lnT w="6350" cap="flat" cmpd="sng" algn="ctr">
                      <a:solidFill>
                        <a:srgbClr val="E1E6EA"/>
                      </a:solidFill>
                      <a:prstDash val="solid"/>
                      <a:round/>
                      <a:headEnd type="none" w="med" len="med"/>
                      <a:tailEnd type="none" w="med" len="med"/>
                    </a:lnT>
                    <a:lnB w="6350" cap="flat" cmpd="sng" algn="ctr">
                      <a:solidFill>
                        <a:srgbClr val="E1E6EA"/>
                      </a:solidFill>
                      <a:prstDash val="solid"/>
                      <a:round/>
                      <a:headEnd type="none" w="med" len="med"/>
                      <a:tailEnd type="none" w="med" len="med"/>
                    </a:lnB>
                    <a:solidFill>
                      <a:srgbClr val="005B96"/>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Avg TCP Retrans. (Bytes)</a:t>
                      </a:r>
                      <a:endParaRPr lang="en-US" sz="1200" dirty="0">
                        <a:latin typeface="Calibri" charset="0"/>
                        <a:ea typeface="Calibri" charset="0"/>
                        <a:cs typeface="Calibri" charset="0"/>
                      </a:endParaRPr>
                    </a:p>
                  </a:txBody>
                  <a:tcPr>
                    <a:lnL w="6350" cap="flat" cmpd="sng" algn="ctr">
                      <a:solidFill>
                        <a:srgbClr val="E1E6EA"/>
                      </a:solidFill>
                      <a:prstDash val="solid"/>
                      <a:round/>
                      <a:headEnd type="none" w="med" len="med"/>
                      <a:tailEnd type="none" w="med" len="med"/>
                    </a:lnL>
                    <a:lnR w="6350" cap="flat" cmpd="sng" algn="ctr">
                      <a:solidFill>
                        <a:srgbClr val="E1E6EA"/>
                      </a:solidFill>
                      <a:prstDash val="solid"/>
                      <a:round/>
                      <a:headEnd type="none" w="med" len="med"/>
                      <a:tailEnd type="none" w="med" len="med"/>
                    </a:lnR>
                    <a:lnT w="6350" cap="flat" cmpd="sng" algn="ctr">
                      <a:solidFill>
                        <a:srgbClr val="E1E6EA"/>
                      </a:solidFill>
                      <a:prstDash val="solid"/>
                      <a:round/>
                      <a:headEnd type="none" w="med" len="med"/>
                      <a:tailEnd type="none" w="med" len="med"/>
                    </a:lnT>
                    <a:lnB w="6350" cap="flat" cmpd="sng" algn="ctr">
                      <a:solidFill>
                        <a:srgbClr val="E1E6EA"/>
                      </a:solidFill>
                      <a:prstDash val="solid"/>
                      <a:round/>
                      <a:headEnd type="none" w="med" len="med"/>
                      <a:tailEnd type="none" w="med" len="med"/>
                    </a:lnB>
                    <a:solidFill>
                      <a:srgbClr val="005B96"/>
                    </a:solidFill>
                  </a:tcPr>
                </a:tc>
                <a:extLst>
                  <a:ext uri="{0D108BD9-81ED-4DB2-BD59-A6C34878D82A}">
                    <a16:rowId xmlns:a16="http://schemas.microsoft.com/office/drawing/2014/main" val="10000"/>
                  </a:ext>
                </a:extLst>
              </a:tr>
              <a:tr h="384048">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lnL w="6350" cap="flat" cmpd="sng" algn="ctr">
                      <a:solidFill>
                        <a:srgbClr val="E1E6EA"/>
                      </a:solidFill>
                      <a:prstDash val="solid"/>
                      <a:round/>
                      <a:headEnd type="none" w="med" len="med"/>
                      <a:tailEnd type="none" w="med" len="med"/>
                    </a:lnL>
                    <a:lnR w="6350" cap="flat" cmpd="sng" algn="ctr">
                      <a:solidFill>
                        <a:srgbClr val="E1E6EA"/>
                      </a:solidFill>
                      <a:prstDash val="solid"/>
                      <a:round/>
                      <a:headEnd type="none" w="med" len="med"/>
                      <a:tailEnd type="none" w="med" len="med"/>
                    </a:lnR>
                    <a:lnT w="6350" cap="flat" cmpd="sng" algn="ctr">
                      <a:solidFill>
                        <a:srgbClr val="E1E6EA"/>
                      </a:solidFill>
                      <a:prstDash val="solid"/>
                      <a:round/>
                      <a:headEnd type="none" w="med" len="med"/>
                      <a:tailEnd type="none" w="med" len="med"/>
                    </a:lnT>
                    <a:lnB w="6350" cap="flat" cmpd="sng" algn="ctr">
                      <a:solidFill>
                        <a:srgbClr val="E1E6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6232E"/>
                          </a:solidFill>
                          <a:latin typeface="Calibri" pitchFamily="34" charset="0"/>
                          <a:ea typeface="Calibri" pitchFamily="34" charset="-122"/>
                          <a:cs typeface="Calibri" pitchFamily="34" charset="-120"/>
                        </a:rPr>
                        <a:t>Huawei B528S-23A</a:t>
                      </a:r>
                      <a:endParaRPr lang="en-US" sz="1000" dirty="0">
                        <a:latin typeface="Calibri" charset="0"/>
                        <a:ea typeface="Calibri" charset="0"/>
                        <a:cs typeface="Calibri" charset="0"/>
                      </a:endParaRPr>
                    </a:p>
                  </a:txBody>
                  <a:tcPr>
                    <a:lnL w="6350" cap="flat" cmpd="sng" algn="ctr">
                      <a:solidFill>
                        <a:srgbClr val="E1E6EA"/>
                      </a:solidFill>
                      <a:prstDash val="solid"/>
                      <a:round/>
                      <a:headEnd type="none" w="med" len="med"/>
                      <a:tailEnd type="none" w="med" len="med"/>
                    </a:lnL>
                    <a:lnR w="6350" cap="flat" cmpd="sng" algn="ctr">
                      <a:solidFill>
                        <a:srgbClr val="E1E6EA"/>
                      </a:solidFill>
                      <a:prstDash val="solid"/>
                      <a:round/>
                      <a:headEnd type="none" w="med" len="med"/>
                      <a:tailEnd type="none" w="med" len="med"/>
                    </a:lnR>
                    <a:lnT w="6350" cap="flat" cmpd="sng" algn="ctr">
                      <a:solidFill>
                        <a:srgbClr val="E1E6EA"/>
                      </a:solidFill>
                      <a:prstDash val="solid"/>
                      <a:round/>
                      <a:headEnd type="none" w="med" len="med"/>
                      <a:tailEnd type="none" w="med" len="med"/>
                    </a:lnT>
                    <a:lnB w="6350" cap="flat" cmpd="sng" algn="ctr">
                      <a:solidFill>
                        <a:srgbClr val="E1E6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34,188.81</a:t>
                      </a:r>
                      <a:endParaRPr lang="en-US" sz="1000" dirty="0">
                        <a:latin typeface="Calibri" charset="0"/>
                        <a:ea typeface="Calibri" charset="0"/>
                        <a:cs typeface="Calibri" charset="0"/>
                      </a:endParaRPr>
                    </a:p>
                  </a:txBody>
                  <a:tcPr>
                    <a:lnL w="6350" cap="flat" cmpd="sng" algn="ctr">
                      <a:solidFill>
                        <a:srgbClr val="E1E6EA"/>
                      </a:solidFill>
                      <a:prstDash val="solid"/>
                      <a:round/>
                      <a:headEnd type="none" w="med" len="med"/>
                      <a:tailEnd type="none" w="med" len="med"/>
                    </a:lnL>
                    <a:lnR w="6350" cap="flat" cmpd="sng" algn="ctr">
                      <a:solidFill>
                        <a:srgbClr val="E1E6EA"/>
                      </a:solidFill>
                      <a:prstDash val="solid"/>
                      <a:round/>
                      <a:headEnd type="none" w="med" len="med"/>
                      <a:tailEnd type="none" w="med" len="med"/>
                    </a:lnR>
                    <a:lnT w="6350" cap="flat" cmpd="sng" algn="ctr">
                      <a:solidFill>
                        <a:srgbClr val="E1E6EA"/>
                      </a:solidFill>
                      <a:prstDash val="solid"/>
                      <a:round/>
                      <a:headEnd type="none" w="med" len="med"/>
                      <a:tailEnd type="none" w="med" len="med"/>
                    </a:lnT>
                    <a:lnB w="6350" cap="flat" cmpd="sng" algn="ctr">
                      <a:solidFill>
                        <a:srgbClr val="E1E6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lnL w="6350" cap="flat" cmpd="sng" algn="ctr">
                      <a:solidFill>
                        <a:srgbClr val="E1E6EA"/>
                      </a:solidFill>
                      <a:prstDash val="solid"/>
                      <a:round/>
                      <a:headEnd type="none" w="med" len="med"/>
                      <a:tailEnd type="none" w="med" len="med"/>
                    </a:lnL>
                    <a:lnR w="6350" cap="flat" cmpd="sng" algn="ctr">
                      <a:solidFill>
                        <a:srgbClr val="E1E6EA"/>
                      </a:solidFill>
                      <a:prstDash val="solid"/>
                      <a:round/>
                      <a:headEnd type="none" w="med" len="med"/>
                      <a:tailEnd type="none" w="med" len="med"/>
                    </a:lnR>
                    <a:lnT w="6350" cap="flat" cmpd="sng" algn="ctr">
                      <a:solidFill>
                        <a:srgbClr val="E1E6EA"/>
                      </a:solidFill>
                      <a:prstDash val="solid"/>
                      <a:round/>
                      <a:headEnd type="none" w="med" len="med"/>
                      <a:tailEnd type="none" w="med" len="med"/>
                    </a:lnT>
                    <a:lnB w="6350" cap="flat" cmpd="sng" algn="ctr">
                      <a:solidFill>
                        <a:srgbClr val="E1E6EA"/>
                      </a:solidFill>
                      <a:prstDash val="solid"/>
                      <a:round/>
                      <a:headEnd type="none" w="med" len="med"/>
                      <a:tailEnd type="none" w="med" len="med"/>
                    </a:lnB>
                    <a:solidFill>
                      <a:srgbClr val="F7FAFC"/>
                    </a:solidFill>
                  </a:tcPr>
                </a:tc>
                <a:tc>
                  <a:txBody>
                    <a:bodyPr/>
                    <a:lstStyle/>
                    <a:p>
                      <a:pPr marL="0" indent="0" algn="l">
                        <a:buNone/>
                      </a:pPr>
                      <a:r>
                        <a:rPr lang="en-US" sz="1000" dirty="0">
                          <a:solidFill>
                            <a:srgbClr val="16232E"/>
                          </a:solidFill>
                          <a:latin typeface="Calibri" pitchFamily="34" charset="0"/>
                          <a:ea typeface="Calibri" pitchFamily="34" charset="-122"/>
                          <a:cs typeface="Calibri" pitchFamily="34" charset="-120"/>
                        </a:rPr>
                        <a:t>Samsung Galaxy S8</a:t>
                      </a:r>
                      <a:endParaRPr lang="en-US" sz="1000" dirty="0">
                        <a:latin typeface="Calibri" charset="0"/>
                        <a:ea typeface="Calibri" charset="0"/>
                        <a:cs typeface="Calibri" charset="0"/>
                      </a:endParaRPr>
                    </a:p>
                  </a:txBody>
                  <a:tcPr>
                    <a:lnL w="6350" cap="flat" cmpd="sng" algn="ctr">
                      <a:solidFill>
                        <a:srgbClr val="E1E6EA"/>
                      </a:solidFill>
                      <a:prstDash val="solid"/>
                      <a:round/>
                      <a:headEnd type="none" w="med" len="med"/>
                      <a:tailEnd type="none" w="med" len="med"/>
                    </a:lnL>
                    <a:lnR w="6350" cap="flat" cmpd="sng" algn="ctr">
                      <a:solidFill>
                        <a:srgbClr val="E1E6EA"/>
                      </a:solidFill>
                      <a:prstDash val="solid"/>
                      <a:round/>
                      <a:headEnd type="none" w="med" len="med"/>
                      <a:tailEnd type="none" w="med" len="med"/>
                    </a:lnR>
                    <a:lnT w="6350" cap="flat" cmpd="sng" algn="ctr">
                      <a:solidFill>
                        <a:srgbClr val="E1E6EA"/>
                      </a:solidFill>
                      <a:prstDash val="solid"/>
                      <a:round/>
                      <a:headEnd type="none" w="med" len="med"/>
                      <a:tailEnd type="none" w="med" len="med"/>
                    </a:lnT>
                    <a:lnB w="6350" cap="flat" cmpd="sng" algn="ctr">
                      <a:solidFill>
                        <a:srgbClr val="E1E6EA"/>
                      </a:solidFill>
                      <a:prstDash val="solid"/>
                      <a:round/>
                      <a:headEnd type="none" w="med" len="med"/>
                      <a:tailEnd type="none" w="med" len="med"/>
                    </a:lnB>
                    <a:solidFill>
                      <a:srgbClr val="F7FAFC"/>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32,684.97</a:t>
                      </a:r>
                      <a:endParaRPr lang="en-US" sz="1000" dirty="0">
                        <a:latin typeface="Calibri" charset="0"/>
                        <a:ea typeface="Calibri" charset="0"/>
                        <a:cs typeface="Calibri" charset="0"/>
                      </a:endParaRPr>
                    </a:p>
                  </a:txBody>
                  <a:tcPr>
                    <a:lnL w="6350" cap="flat" cmpd="sng" algn="ctr">
                      <a:solidFill>
                        <a:srgbClr val="E1E6EA"/>
                      </a:solidFill>
                      <a:prstDash val="solid"/>
                      <a:round/>
                      <a:headEnd type="none" w="med" len="med"/>
                      <a:tailEnd type="none" w="med" len="med"/>
                    </a:lnL>
                    <a:lnR w="6350" cap="flat" cmpd="sng" algn="ctr">
                      <a:solidFill>
                        <a:srgbClr val="E1E6EA"/>
                      </a:solidFill>
                      <a:prstDash val="solid"/>
                      <a:round/>
                      <a:headEnd type="none" w="med" len="med"/>
                      <a:tailEnd type="none" w="med" len="med"/>
                    </a:lnR>
                    <a:lnT w="6350" cap="flat" cmpd="sng" algn="ctr">
                      <a:solidFill>
                        <a:srgbClr val="E1E6EA"/>
                      </a:solidFill>
                      <a:prstDash val="solid"/>
                      <a:round/>
                      <a:headEnd type="none" w="med" len="med"/>
                      <a:tailEnd type="none" w="med" len="med"/>
                    </a:lnT>
                    <a:lnB w="6350" cap="flat" cmpd="sng" algn="ctr">
                      <a:solidFill>
                        <a:srgbClr val="E1E6EA"/>
                      </a:solidFill>
                      <a:prstDash val="solid"/>
                      <a:round/>
                      <a:headEnd type="none" w="med" len="med"/>
                      <a:tailEnd type="none" w="med" len="med"/>
                    </a:lnB>
                    <a:solidFill>
                      <a:srgbClr val="F7FAFC"/>
                    </a:solidFill>
                  </a:tcPr>
                </a:tc>
                <a:extLst>
                  <a:ext uri="{0D108BD9-81ED-4DB2-BD59-A6C34878D82A}">
                    <a16:rowId xmlns:a16="http://schemas.microsoft.com/office/drawing/2014/main" val="10002"/>
                  </a:ext>
                </a:extLst>
              </a:tr>
              <a:tr h="384048">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lnL w="6350" cap="flat" cmpd="sng" algn="ctr">
                      <a:solidFill>
                        <a:srgbClr val="E1E6EA"/>
                      </a:solidFill>
                      <a:prstDash val="solid"/>
                      <a:round/>
                      <a:headEnd type="none" w="med" len="med"/>
                      <a:tailEnd type="none" w="med" len="med"/>
                    </a:lnL>
                    <a:lnR w="6350" cap="flat" cmpd="sng" algn="ctr">
                      <a:solidFill>
                        <a:srgbClr val="E1E6EA"/>
                      </a:solidFill>
                      <a:prstDash val="solid"/>
                      <a:round/>
                      <a:headEnd type="none" w="med" len="med"/>
                      <a:tailEnd type="none" w="med" len="med"/>
                    </a:lnR>
                    <a:lnT w="6350" cap="flat" cmpd="sng" algn="ctr">
                      <a:solidFill>
                        <a:srgbClr val="E1E6EA"/>
                      </a:solidFill>
                      <a:prstDash val="solid"/>
                      <a:round/>
                      <a:headEnd type="none" w="med" len="med"/>
                      <a:tailEnd type="none" w="med" len="med"/>
                    </a:lnT>
                    <a:lnB w="6350" cap="flat" cmpd="sng" algn="ctr">
                      <a:solidFill>
                        <a:srgbClr val="E1E6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6232E"/>
                          </a:solidFill>
                          <a:latin typeface="Calibri" pitchFamily="34" charset="0"/>
                          <a:ea typeface="Calibri" pitchFamily="34" charset="-122"/>
                          <a:cs typeface="Calibri" pitchFamily="34" charset="-120"/>
                        </a:rPr>
                        <a:t>Apple iPhone 6</a:t>
                      </a:r>
                      <a:endParaRPr lang="en-US" sz="1000" dirty="0">
                        <a:latin typeface="Calibri" charset="0"/>
                        <a:ea typeface="Calibri" charset="0"/>
                        <a:cs typeface="Calibri" charset="0"/>
                      </a:endParaRPr>
                    </a:p>
                  </a:txBody>
                  <a:tcPr>
                    <a:lnL w="6350" cap="flat" cmpd="sng" algn="ctr">
                      <a:solidFill>
                        <a:srgbClr val="E1E6EA"/>
                      </a:solidFill>
                      <a:prstDash val="solid"/>
                      <a:round/>
                      <a:headEnd type="none" w="med" len="med"/>
                      <a:tailEnd type="none" w="med" len="med"/>
                    </a:lnL>
                    <a:lnR w="6350" cap="flat" cmpd="sng" algn="ctr">
                      <a:solidFill>
                        <a:srgbClr val="E1E6EA"/>
                      </a:solidFill>
                      <a:prstDash val="solid"/>
                      <a:round/>
                      <a:headEnd type="none" w="med" len="med"/>
                      <a:tailEnd type="none" w="med" len="med"/>
                    </a:lnR>
                    <a:lnT w="6350" cap="flat" cmpd="sng" algn="ctr">
                      <a:solidFill>
                        <a:srgbClr val="E1E6EA"/>
                      </a:solidFill>
                      <a:prstDash val="solid"/>
                      <a:round/>
                      <a:headEnd type="none" w="med" len="med"/>
                      <a:tailEnd type="none" w="med" len="med"/>
                    </a:lnT>
                    <a:lnB w="6350" cap="flat" cmpd="sng" algn="ctr">
                      <a:solidFill>
                        <a:srgbClr val="E1E6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25,192.85</a:t>
                      </a:r>
                      <a:endParaRPr lang="en-US" sz="1000" dirty="0">
                        <a:latin typeface="Calibri" charset="0"/>
                        <a:ea typeface="Calibri" charset="0"/>
                        <a:cs typeface="Calibri" charset="0"/>
                      </a:endParaRPr>
                    </a:p>
                  </a:txBody>
                  <a:tcPr>
                    <a:lnL w="6350" cap="flat" cmpd="sng" algn="ctr">
                      <a:solidFill>
                        <a:srgbClr val="E1E6EA"/>
                      </a:solidFill>
                      <a:prstDash val="solid"/>
                      <a:round/>
                      <a:headEnd type="none" w="med" len="med"/>
                      <a:tailEnd type="none" w="med" len="med"/>
                    </a:lnL>
                    <a:lnR w="6350" cap="flat" cmpd="sng" algn="ctr">
                      <a:solidFill>
                        <a:srgbClr val="E1E6EA"/>
                      </a:solidFill>
                      <a:prstDash val="solid"/>
                      <a:round/>
                      <a:headEnd type="none" w="med" len="med"/>
                      <a:tailEnd type="none" w="med" len="med"/>
                    </a:lnR>
                    <a:lnT w="6350" cap="flat" cmpd="sng" algn="ctr">
                      <a:solidFill>
                        <a:srgbClr val="E1E6EA"/>
                      </a:solidFill>
                      <a:prstDash val="solid"/>
                      <a:round/>
                      <a:headEnd type="none" w="med" len="med"/>
                      <a:tailEnd type="none" w="med" len="med"/>
                    </a:lnT>
                    <a:lnB w="6350" cap="flat" cmpd="sng" algn="ctr">
                      <a:solidFill>
                        <a:srgbClr val="E1E6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lnL w="6350" cap="flat" cmpd="sng" algn="ctr">
                      <a:solidFill>
                        <a:srgbClr val="E1E6EA"/>
                      </a:solidFill>
                      <a:prstDash val="solid"/>
                      <a:round/>
                      <a:headEnd type="none" w="med" len="med"/>
                      <a:tailEnd type="none" w="med" len="med"/>
                    </a:lnL>
                    <a:lnR w="6350" cap="flat" cmpd="sng" algn="ctr">
                      <a:solidFill>
                        <a:srgbClr val="E1E6EA"/>
                      </a:solidFill>
                      <a:prstDash val="solid"/>
                      <a:round/>
                      <a:headEnd type="none" w="med" len="med"/>
                      <a:tailEnd type="none" w="med" len="med"/>
                    </a:lnR>
                    <a:lnT w="6350" cap="flat" cmpd="sng" algn="ctr">
                      <a:solidFill>
                        <a:srgbClr val="E1E6EA"/>
                      </a:solidFill>
                      <a:prstDash val="solid"/>
                      <a:round/>
                      <a:headEnd type="none" w="med" len="med"/>
                      <a:tailEnd type="none" w="med" len="med"/>
                    </a:lnT>
                    <a:lnB w="6350" cap="flat" cmpd="sng" algn="ctr">
                      <a:solidFill>
                        <a:srgbClr val="E1E6EA"/>
                      </a:solidFill>
                      <a:prstDash val="solid"/>
                      <a:round/>
                      <a:headEnd type="none" w="med" len="med"/>
                      <a:tailEnd type="none" w="med" len="med"/>
                    </a:lnB>
                    <a:solidFill>
                      <a:srgbClr val="F7FAFC"/>
                    </a:solidFill>
                  </a:tcPr>
                </a:tc>
                <a:tc>
                  <a:txBody>
                    <a:bodyPr/>
                    <a:lstStyle/>
                    <a:p>
                      <a:pPr marL="0" indent="0" algn="l">
                        <a:buNone/>
                      </a:pPr>
                      <a:r>
                        <a:rPr lang="en-US" sz="1000" dirty="0">
                          <a:solidFill>
                            <a:srgbClr val="16232E"/>
                          </a:solidFill>
                          <a:latin typeface="Calibri" pitchFamily="34" charset="0"/>
                          <a:ea typeface="Calibri" pitchFamily="34" charset="-122"/>
                          <a:cs typeface="Calibri" pitchFamily="34" charset="-120"/>
                        </a:rPr>
                        <a:t>Apple iPhone 7</a:t>
                      </a:r>
                      <a:endParaRPr lang="en-US" sz="1000" dirty="0">
                        <a:latin typeface="Calibri" charset="0"/>
                        <a:ea typeface="Calibri" charset="0"/>
                        <a:cs typeface="Calibri" charset="0"/>
                      </a:endParaRPr>
                    </a:p>
                  </a:txBody>
                  <a:tcPr>
                    <a:lnL w="6350" cap="flat" cmpd="sng" algn="ctr">
                      <a:solidFill>
                        <a:srgbClr val="E1E6EA"/>
                      </a:solidFill>
                      <a:prstDash val="solid"/>
                      <a:round/>
                      <a:headEnd type="none" w="med" len="med"/>
                      <a:tailEnd type="none" w="med" len="med"/>
                    </a:lnL>
                    <a:lnR w="6350" cap="flat" cmpd="sng" algn="ctr">
                      <a:solidFill>
                        <a:srgbClr val="E1E6EA"/>
                      </a:solidFill>
                      <a:prstDash val="solid"/>
                      <a:round/>
                      <a:headEnd type="none" w="med" len="med"/>
                      <a:tailEnd type="none" w="med" len="med"/>
                    </a:lnR>
                    <a:lnT w="6350" cap="flat" cmpd="sng" algn="ctr">
                      <a:solidFill>
                        <a:srgbClr val="E1E6EA"/>
                      </a:solidFill>
                      <a:prstDash val="solid"/>
                      <a:round/>
                      <a:headEnd type="none" w="med" len="med"/>
                      <a:tailEnd type="none" w="med" len="med"/>
                    </a:lnT>
                    <a:lnB w="6350" cap="flat" cmpd="sng" algn="ctr">
                      <a:solidFill>
                        <a:srgbClr val="E1E6EA"/>
                      </a:solidFill>
                      <a:prstDash val="solid"/>
                      <a:round/>
                      <a:headEnd type="none" w="med" len="med"/>
                      <a:tailEnd type="none" w="med" len="med"/>
                    </a:lnB>
                    <a:solidFill>
                      <a:srgbClr val="F7FAFC"/>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24,087.74</a:t>
                      </a:r>
                      <a:endParaRPr lang="en-US" sz="1000" dirty="0">
                        <a:latin typeface="Calibri" charset="0"/>
                        <a:ea typeface="Calibri" charset="0"/>
                        <a:cs typeface="Calibri" charset="0"/>
                      </a:endParaRPr>
                    </a:p>
                  </a:txBody>
                  <a:tcPr>
                    <a:lnL w="6350" cap="flat" cmpd="sng" algn="ctr">
                      <a:solidFill>
                        <a:srgbClr val="E1E6EA"/>
                      </a:solidFill>
                      <a:prstDash val="solid"/>
                      <a:round/>
                      <a:headEnd type="none" w="med" len="med"/>
                      <a:tailEnd type="none" w="med" len="med"/>
                    </a:lnL>
                    <a:lnR w="6350" cap="flat" cmpd="sng" algn="ctr">
                      <a:solidFill>
                        <a:srgbClr val="E1E6EA"/>
                      </a:solidFill>
                      <a:prstDash val="solid"/>
                      <a:round/>
                      <a:headEnd type="none" w="med" len="med"/>
                      <a:tailEnd type="none" w="med" len="med"/>
                    </a:lnR>
                    <a:lnT w="6350" cap="flat" cmpd="sng" algn="ctr">
                      <a:solidFill>
                        <a:srgbClr val="E1E6EA"/>
                      </a:solidFill>
                      <a:prstDash val="solid"/>
                      <a:round/>
                      <a:headEnd type="none" w="med" len="med"/>
                      <a:tailEnd type="none" w="med" len="med"/>
                    </a:lnT>
                    <a:lnB w="6350" cap="flat" cmpd="sng" algn="ctr">
                      <a:solidFill>
                        <a:srgbClr val="E1E6EA"/>
                      </a:solidFill>
                      <a:prstDash val="solid"/>
                      <a:round/>
                      <a:headEnd type="none" w="med" len="med"/>
                      <a:tailEnd type="none" w="med" len="med"/>
                    </a:lnB>
                    <a:solidFill>
                      <a:srgbClr val="F7FAFC"/>
                    </a:solidFill>
                  </a:tcPr>
                </a:tc>
                <a:extLst>
                  <a:ext uri="{0D108BD9-81ED-4DB2-BD59-A6C34878D82A}">
                    <a16:rowId xmlns:a16="http://schemas.microsoft.com/office/drawing/2014/main" val="10004"/>
                  </a:ext>
                </a:extLst>
              </a:tr>
              <a:tr h="384048">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lnL w="6350" cap="flat" cmpd="sng" algn="ctr">
                      <a:solidFill>
                        <a:srgbClr val="E1E6EA"/>
                      </a:solidFill>
                      <a:prstDash val="solid"/>
                      <a:round/>
                      <a:headEnd type="none" w="med" len="med"/>
                      <a:tailEnd type="none" w="med" len="med"/>
                    </a:lnL>
                    <a:lnR w="6350" cap="flat" cmpd="sng" algn="ctr">
                      <a:solidFill>
                        <a:srgbClr val="E1E6EA"/>
                      </a:solidFill>
                      <a:prstDash val="solid"/>
                      <a:round/>
                      <a:headEnd type="none" w="med" len="med"/>
                      <a:tailEnd type="none" w="med" len="med"/>
                    </a:lnR>
                    <a:lnT w="6350" cap="flat" cmpd="sng" algn="ctr">
                      <a:solidFill>
                        <a:srgbClr val="E1E6EA"/>
                      </a:solidFill>
                      <a:prstDash val="solid"/>
                      <a:round/>
                      <a:headEnd type="none" w="med" len="med"/>
                      <a:tailEnd type="none" w="med" len="med"/>
                    </a:lnT>
                    <a:lnB w="6350" cap="flat" cmpd="sng" algn="ctr">
                      <a:solidFill>
                        <a:srgbClr val="E1E6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6232E"/>
                          </a:solidFill>
                          <a:latin typeface="Calibri" pitchFamily="34" charset="0"/>
                          <a:ea typeface="Calibri" pitchFamily="34" charset="-122"/>
                          <a:cs typeface="Calibri" pitchFamily="34" charset="-120"/>
                        </a:rPr>
                        <a:t>Apple iPhone XR</a:t>
                      </a:r>
                      <a:endParaRPr lang="en-US" sz="1000" dirty="0">
                        <a:latin typeface="Calibri" charset="0"/>
                        <a:ea typeface="Calibri" charset="0"/>
                        <a:cs typeface="Calibri" charset="0"/>
                      </a:endParaRPr>
                    </a:p>
                  </a:txBody>
                  <a:tcPr>
                    <a:lnL w="6350" cap="flat" cmpd="sng" algn="ctr">
                      <a:solidFill>
                        <a:srgbClr val="E1E6EA"/>
                      </a:solidFill>
                      <a:prstDash val="solid"/>
                      <a:round/>
                      <a:headEnd type="none" w="med" len="med"/>
                      <a:tailEnd type="none" w="med" len="med"/>
                    </a:lnL>
                    <a:lnR w="6350" cap="flat" cmpd="sng" algn="ctr">
                      <a:solidFill>
                        <a:srgbClr val="E1E6EA"/>
                      </a:solidFill>
                      <a:prstDash val="solid"/>
                      <a:round/>
                      <a:headEnd type="none" w="med" len="med"/>
                      <a:tailEnd type="none" w="med" len="med"/>
                    </a:lnR>
                    <a:lnT w="6350" cap="flat" cmpd="sng" algn="ctr">
                      <a:solidFill>
                        <a:srgbClr val="E1E6EA"/>
                      </a:solidFill>
                      <a:prstDash val="solid"/>
                      <a:round/>
                      <a:headEnd type="none" w="med" len="med"/>
                      <a:tailEnd type="none" w="med" len="med"/>
                    </a:lnT>
                    <a:lnB w="6350" cap="flat" cmpd="sng" algn="ctr">
                      <a:solidFill>
                        <a:srgbClr val="E1E6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23,387.12</a:t>
                      </a:r>
                      <a:endParaRPr lang="en-US" sz="1000" dirty="0">
                        <a:latin typeface="Calibri" charset="0"/>
                        <a:ea typeface="Calibri" charset="0"/>
                        <a:cs typeface="Calibri" charset="0"/>
                      </a:endParaRPr>
                    </a:p>
                  </a:txBody>
                  <a:tcPr>
                    <a:lnL w="6350" cap="flat" cmpd="sng" algn="ctr">
                      <a:solidFill>
                        <a:srgbClr val="E1E6EA"/>
                      </a:solidFill>
                      <a:prstDash val="solid"/>
                      <a:round/>
                      <a:headEnd type="none" w="med" len="med"/>
                      <a:tailEnd type="none" w="med" len="med"/>
                    </a:lnL>
                    <a:lnR w="6350" cap="flat" cmpd="sng" algn="ctr">
                      <a:solidFill>
                        <a:srgbClr val="E1E6EA"/>
                      </a:solidFill>
                      <a:prstDash val="solid"/>
                      <a:round/>
                      <a:headEnd type="none" w="med" len="med"/>
                      <a:tailEnd type="none" w="med" len="med"/>
                    </a:lnR>
                    <a:lnT w="6350" cap="flat" cmpd="sng" algn="ctr">
                      <a:solidFill>
                        <a:srgbClr val="E1E6EA"/>
                      </a:solidFill>
                      <a:prstDash val="solid"/>
                      <a:round/>
                      <a:headEnd type="none" w="med" len="med"/>
                      <a:tailEnd type="none" w="med" len="med"/>
                    </a:lnT>
                    <a:lnB w="6350" cap="flat" cmpd="sng" algn="ctr">
                      <a:solidFill>
                        <a:srgbClr val="E1E6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a:lnL w="6350" cap="flat" cmpd="sng" algn="ctr">
                      <a:solidFill>
                        <a:srgbClr val="E1E6EA"/>
                      </a:solidFill>
                      <a:prstDash val="solid"/>
                      <a:round/>
                      <a:headEnd type="none" w="med" len="med"/>
                      <a:tailEnd type="none" w="med" len="med"/>
                    </a:lnL>
                    <a:lnR w="6350" cap="flat" cmpd="sng" algn="ctr">
                      <a:solidFill>
                        <a:srgbClr val="E1E6EA"/>
                      </a:solidFill>
                      <a:prstDash val="solid"/>
                      <a:round/>
                      <a:headEnd type="none" w="med" len="med"/>
                      <a:tailEnd type="none" w="med" len="med"/>
                    </a:lnR>
                    <a:lnT w="6350" cap="flat" cmpd="sng" algn="ctr">
                      <a:solidFill>
                        <a:srgbClr val="E1E6EA"/>
                      </a:solidFill>
                      <a:prstDash val="solid"/>
                      <a:round/>
                      <a:headEnd type="none" w="med" len="med"/>
                      <a:tailEnd type="none" w="med" len="med"/>
                    </a:lnT>
                    <a:lnB w="6350" cap="flat" cmpd="sng" algn="ctr">
                      <a:solidFill>
                        <a:srgbClr val="E1E6EA"/>
                      </a:solidFill>
                      <a:prstDash val="solid"/>
                      <a:round/>
                      <a:headEnd type="none" w="med" len="med"/>
                      <a:tailEnd type="none" w="med" len="med"/>
                    </a:lnB>
                    <a:solidFill>
                      <a:srgbClr val="F7FAFC"/>
                    </a:solidFill>
                  </a:tcPr>
                </a:tc>
                <a:tc>
                  <a:txBody>
                    <a:bodyPr/>
                    <a:lstStyle/>
                    <a:p>
                      <a:pPr marL="0" indent="0" algn="l">
                        <a:buNone/>
                      </a:pPr>
                      <a:r>
                        <a:rPr lang="en-US" sz="1000" dirty="0">
                          <a:solidFill>
                            <a:srgbClr val="16232E"/>
                          </a:solidFill>
                          <a:latin typeface="Calibri" pitchFamily="34" charset="0"/>
                          <a:ea typeface="Calibri" pitchFamily="34" charset="-122"/>
                          <a:cs typeface="Calibri" pitchFamily="34" charset="-120"/>
                        </a:rPr>
                        <a:t>Unknown</a:t>
                      </a:r>
                      <a:endParaRPr lang="en-US" sz="1000" dirty="0">
                        <a:latin typeface="Calibri" charset="0"/>
                        <a:ea typeface="Calibri" charset="0"/>
                        <a:cs typeface="Calibri" charset="0"/>
                      </a:endParaRPr>
                    </a:p>
                  </a:txBody>
                  <a:tcPr>
                    <a:lnL w="6350" cap="flat" cmpd="sng" algn="ctr">
                      <a:solidFill>
                        <a:srgbClr val="E1E6EA"/>
                      </a:solidFill>
                      <a:prstDash val="solid"/>
                      <a:round/>
                      <a:headEnd type="none" w="med" len="med"/>
                      <a:tailEnd type="none" w="med" len="med"/>
                    </a:lnL>
                    <a:lnR w="6350" cap="flat" cmpd="sng" algn="ctr">
                      <a:solidFill>
                        <a:srgbClr val="E1E6EA"/>
                      </a:solidFill>
                      <a:prstDash val="solid"/>
                      <a:round/>
                      <a:headEnd type="none" w="med" len="med"/>
                      <a:tailEnd type="none" w="med" len="med"/>
                    </a:lnR>
                    <a:lnT w="6350" cap="flat" cmpd="sng" algn="ctr">
                      <a:solidFill>
                        <a:srgbClr val="E1E6EA"/>
                      </a:solidFill>
                      <a:prstDash val="solid"/>
                      <a:round/>
                      <a:headEnd type="none" w="med" len="med"/>
                      <a:tailEnd type="none" w="med" len="med"/>
                    </a:lnT>
                    <a:lnB w="6350" cap="flat" cmpd="sng" algn="ctr">
                      <a:solidFill>
                        <a:srgbClr val="E1E6EA"/>
                      </a:solidFill>
                      <a:prstDash val="solid"/>
                      <a:round/>
                      <a:headEnd type="none" w="med" len="med"/>
                      <a:tailEnd type="none" w="med" len="med"/>
                    </a:lnB>
                    <a:solidFill>
                      <a:srgbClr val="F7FAFC"/>
                    </a:solidFill>
                  </a:tcPr>
                </a:tc>
                <a:tc>
                  <a:txBody>
                    <a:bodyPr/>
                    <a:lstStyle/>
                    <a:p>
                      <a:pPr marL="0" indent="0" algn="ctr">
                        <a:buNone/>
                      </a:pPr>
                      <a:r>
                        <a:rPr lang="en-US" sz="1000" dirty="0">
                          <a:solidFill>
                            <a:srgbClr val="16232E"/>
                          </a:solidFill>
                          <a:latin typeface="Calibri" pitchFamily="34" charset="0"/>
                          <a:ea typeface="Calibri" pitchFamily="34" charset="-122"/>
                          <a:cs typeface="Calibri" pitchFamily="34" charset="-120"/>
                        </a:rPr>
                        <a:t>22,124.82</a:t>
                      </a:r>
                      <a:endParaRPr lang="en-US" sz="1000" dirty="0">
                        <a:latin typeface="Calibri" charset="0"/>
                        <a:ea typeface="Calibri" charset="0"/>
                        <a:cs typeface="Calibri" charset="0"/>
                      </a:endParaRPr>
                    </a:p>
                  </a:txBody>
                  <a:tcPr>
                    <a:lnL w="6350" cap="flat" cmpd="sng" algn="ctr">
                      <a:solidFill>
                        <a:srgbClr val="E1E6EA"/>
                      </a:solidFill>
                      <a:prstDash val="solid"/>
                      <a:round/>
                      <a:headEnd type="none" w="med" len="med"/>
                      <a:tailEnd type="none" w="med" len="med"/>
                    </a:lnL>
                    <a:lnR w="6350" cap="flat" cmpd="sng" algn="ctr">
                      <a:solidFill>
                        <a:srgbClr val="E1E6EA"/>
                      </a:solidFill>
                      <a:prstDash val="solid"/>
                      <a:round/>
                      <a:headEnd type="none" w="med" len="med"/>
                      <a:tailEnd type="none" w="med" len="med"/>
                    </a:lnR>
                    <a:lnT w="6350" cap="flat" cmpd="sng" algn="ctr">
                      <a:solidFill>
                        <a:srgbClr val="E1E6EA"/>
                      </a:solidFill>
                      <a:prstDash val="solid"/>
                      <a:round/>
                      <a:headEnd type="none" w="med" len="med"/>
                      <a:tailEnd type="none" w="med" len="med"/>
                    </a:lnT>
                    <a:lnB w="6350" cap="flat" cmpd="sng" algn="ctr">
                      <a:solidFill>
                        <a:srgbClr val="E1E6EA"/>
                      </a:solidFill>
                      <a:prstDash val="solid"/>
                      <a:round/>
                      <a:headEnd type="none" w="med" len="med"/>
                      <a:tailEnd type="none" w="med" len="med"/>
                    </a:lnB>
                    <a:solidFill>
                      <a:srgbClr val="F7FAFC"/>
                    </a:solidFill>
                  </a:tcPr>
                </a:tc>
                <a:extLst>
                  <a:ext uri="{0D108BD9-81ED-4DB2-BD59-A6C34878D82A}">
                    <a16:rowId xmlns:a16="http://schemas.microsoft.com/office/drawing/2014/main" val="10006"/>
                  </a:ext>
                </a:extLst>
              </a:tr>
            </a:tbl>
          </a:graphicData>
        </a:graphic>
      </p:graphicFrame>
      <p:sp>
        <p:nvSpPr>
          <p:cNvPr id="6" name="Text 3"/>
          <p:cNvSpPr/>
          <p:nvPr/>
        </p:nvSpPr>
        <p:spPr>
          <a:xfrm>
            <a:off x="457200" y="914400"/>
            <a:ext cx="5486400" cy="274320"/>
          </a:xfrm>
          <a:prstGeom prst="rect">
            <a:avLst/>
          </a:prstGeom>
          <a:noFill/>
          <a:ln/>
        </p:spPr>
        <p:txBody>
          <a:bodyPr wrap="square" rtlCol="0" anchor="ctr"/>
          <a:lstStyle/>
          <a:p>
            <a:pPr marL="0" indent="0">
              <a:buNone/>
            </a:pPr>
            <a:r>
              <a:rPr lang="en-US" sz="1150" b="1" dirty="0">
                <a:solidFill>
                  <a:srgbClr val="16232E"/>
                </a:solidFill>
                <a:latin typeface="Calibri" pitchFamily="34" charset="0"/>
                <a:ea typeface="Calibri" pitchFamily="34" charset="-122"/>
                <a:cs typeface="Calibri" pitchFamily="34" charset="-120"/>
              </a:rPr>
              <a:t>Avg TCP Retransmission by Top-10 Handset Type</a:t>
            </a:r>
            <a:endParaRPr lang="en-US" sz="1150" dirty="0"/>
          </a:p>
        </p:txBody>
      </p:sp>
      <p:sp>
        <p:nvSpPr>
          <p:cNvPr id="7" name="Shape 4"/>
          <p:cNvSpPr/>
          <p:nvPr/>
        </p:nvSpPr>
        <p:spPr>
          <a:xfrm>
            <a:off x="6217920" y="1234440"/>
            <a:ext cx="5532120" cy="1965960"/>
          </a:xfrm>
          <a:prstGeom prst="roundRect">
            <a:avLst>
              <a:gd name="adj" fmla="val 3721"/>
            </a:avLst>
          </a:prstGeom>
          <a:solidFill>
            <a:srgbClr val="EAF4FC"/>
          </a:solidFill>
          <a:ln w="9525">
            <a:solidFill>
              <a:srgbClr val="D7E6F2"/>
            </a:solidFill>
            <a:prstDash val="solid"/>
          </a:ln>
        </p:spPr>
      </p:sp>
      <p:sp>
        <p:nvSpPr>
          <p:cNvPr id="8" name="Text 5"/>
          <p:cNvSpPr/>
          <p:nvPr/>
        </p:nvSpPr>
        <p:spPr>
          <a:xfrm>
            <a:off x="6355080" y="1307592"/>
            <a:ext cx="5212080" cy="320040"/>
          </a:xfrm>
          <a:prstGeom prst="rect">
            <a:avLst/>
          </a:prstGeom>
          <a:noFill/>
          <a:ln/>
        </p:spPr>
        <p:txBody>
          <a:bodyPr wrap="square" rtlCol="0" anchor="ctr"/>
          <a:lstStyle/>
          <a:p>
            <a:pPr marL="0" indent="0">
              <a:buNone/>
            </a:pPr>
            <a:r>
              <a:rPr lang="en-US" sz="1200" b="1" dirty="0">
                <a:solidFill>
                  <a:srgbClr val="005B96"/>
                </a:solidFill>
                <a:latin typeface="Calibri" pitchFamily="34" charset="0"/>
                <a:ea typeface="Calibri" pitchFamily="34" charset="-122"/>
                <a:cs typeface="Calibri" pitchFamily="34" charset="-120"/>
              </a:rPr>
              <a:t>Throughput Sample-Size Discipline</a:t>
            </a:r>
            <a:endParaRPr lang="en-US" sz="1200" dirty="0"/>
          </a:p>
        </p:txBody>
      </p:sp>
      <p:sp>
        <p:nvSpPr>
          <p:cNvPr id="9" name="Text 6"/>
          <p:cNvSpPr/>
          <p:nvPr/>
        </p:nvSpPr>
        <p:spPr>
          <a:xfrm>
            <a:off x="6355080" y="1627632"/>
            <a:ext cx="5212080" cy="1508760"/>
          </a:xfrm>
          <a:prstGeom prst="rect">
            <a:avLst/>
          </a:prstGeom>
          <a:noFill/>
          <a:ln/>
        </p:spPr>
        <p:txBody>
          <a:bodyPr wrap="square" rtlCol="0" anchor="t"/>
          <a:lstStyle/>
          <a:p>
            <a:pPr marL="0" indent="0">
              <a:lnSpc>
                <a:spcPct val="112000"/>
              </a:lnSpc>
              <a:buNone/>
            </a:pPr>
            <a:r>
              <a:rPr lang="en-US" sz="1030" dirty="0">
                <a:solidFill>
                  <a:srgbClr val="16232E"/>
                </a:solidFill>
                <a:latin typeface="Calibri" pitchFamily="34" charset="0"/>
                <a:ea typeface="Calibri" pitchFamily="34" charset="-122"/>
                <a:cs typeface="Calibri" pitchFamily="34" charset="-120"/>
              </a:rPr>
              <a:t>Of 1,391 distinct handset types, 591 have exactly one customer. Restricting to the 165 types with ≥30 customers still retains 95.55% of the customer base — a genuine population-level view, not noise.</a:t>
            </a:r>
            <a:endParaRPr lang="en-US" sz="1030" dirty="0"/>
          </a:p>
        </p:txBody>
      </p:sp>
      <p:sp>
        <p:nvSpPr>
          <p:cNvPr id="10" name="Shape 7"/>
          <p:cNvSpPr/>
          <p:nvPr/>
        </p:nvSpPr>
        <p:spPr>
          <a:xfrm>
            <a:off x="6217920" y="3383280"/>
            <a:ext cx="5532120" cy="1828800"/>
          </a:xfrm>
          <a:prstGeom prst="roundRect">
            <a:avLst>
              <a:gd name="adj" fmla="val 4000"/>
            </a:avLst>
          </a:prstGeom>
          <a:solidFill>
            <a:srgbClr val="FDEDEC"/>
          </a:solidFill>
          <a:ln w="9525">
            <a:solidFill>
              <a:srgbClr val="F5C6C0"/>
            </a:solidFill>
            <a:prstDash val="solid"/>
          </a:ln>
        </p:spPr>
      </p:sp>
      <p:sp>
        <p:nvSpPr>
          <p:cNvPr id="5" name="Text 8"/>
          <p:cNvSpPr/>
          <p:nvPr/>
        </p:nvSpPr>
        <p:spPr>
          <a:xfrm>
            <a:off x="6355080" y="3456432"/>
            <a:ext cx="5212080" cy="320040"/>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Huawei B528S-23A Flag</a:t>
            </a:r>
            <a:endParaRPr lang="en-US" sz="1200" dirty="0"/>
          </a:p>
        </p:txBody>
      </p:sp>
      <p:sp>
        <p:nvSpPr>
          <p:cNvPr id="12" name="Text 9"/>
          <p:cNvSpPr/>
          <p:nvPr/>
        </p:nvSpPr>
        <p:spPr>
          <a:xfrm>
            <a:off x="6355080" y="3749040"/>
            <a:ext cx="5212080" cy="1417320"/>
          </a:xfrm>
          <a:prstGeom prst="rect">
            <a:avLst/>
          </a:prstGeom>
          <a:noFill/>
          <a:ln/>
        </p:spPr>
        <p:txBody>
          <a:bodyPr wrap="square" rtlCol="0" anchor="t"/>
          <a:lstStyle/>
          <a:p>
            <a:pPr marL="0" indent="0">
              <a:lnSpc>
                <a:spcPct val="110000"/>
              </a:lnSpc>
              <a:buNone/>
            </a:pPr>
            <a:r>
              <a:rPr lang="en-US" sz="980" dirty="0">
                <a:solidFill>
                  <a:srgbClr val="16232E"/>
                </a:solidFill>
                <a:latin typeface="Calibri" pitchFamily="34" charset="0"/>
                <a:ea typeface="Calibri" pitchFamily="34" charset="-122"/>
                <a:cs typeface="Calibri" pitchFamily="34" charset="-120"/>
              </a:rPr>
              <a:t>Ranks #1 on TCP retransmission — consistent with a shared 4G-router device rather than a personal handset. A direct traffic-per-session check found no meaningful difference from other devices (1.00x), so this neither confirms nor rules out shared infrastructure. Flagged as an open item, not a factor driving the recommendation.</a:t>
            </a:r>
            <a:endParaRPr lang="en-US" sz="980" dirty="0"/>
          </a:p>
        </p:txBody>
      </p:sp>
      <p:sp>
        <p:nvSpPr>
          <p:cNvPr id="13" name="Text 10"/>
          <p:cNvSpPr/>
          <p:nvPr/>
        </p:nvSpPr>
        <p:spPr>
          <a:xfrm>
            <a:off x="457200" y="4343400"/>
            <a:ext cx="5486400" cy="1005840"/>
          </a:xfrm>
          <a:prstGeom prst="rect">
            <a:avLst/>
          </a:prstGeom>
          <a:noFill/>
          <a:ln/>
        </p:spPr>
        <p:txBody>
          <a:bodyPr wrap="square" rtlCol="0" anchor="t"/>
          <a:lstStyle/>
          <a:p>
            <a:pPr marL="0" indent="0">
              <a:lnSpc>
                <a:spcPct val="110000"/>
              </a:lnSpc>
              <a:buNone/>
            </a:pPr>
            <a:r>
              <a:rPr lang="en-US" sz="1000" i="1" dirty="0">
                <a:solidFill>
                  <a:srgbClr val="56687A"/>
                </a:solidFill>
                <a:latin typeface="Calibri" pitchFamily="34" charset="0"/>
                <a:ea typeface="Calibri" pitchFamily="34" charset="-122"/>
                <a:cs typeface="Calibri" pitchFamily="34" charset="-120"/>
              </a:rPr>
              <a:t>Handset popularity shows no meaningful relationship with TCP retransmission (r ≈ 0), and only weak positive links to throughput (DL ≈ 0.19, UL lower) — popularity is not a proxy for experience quality.</a:t>
            </a:r>
            <a:endParaRPr lang="en-US" sz="1000" dirty="0"/>
          </a:p>
        </p:txBody>
      </p:sp>
      <p:sp>
        <p:nvSpPr>
          <p:cNvPr id="15" name="Text 11"/>
          <p:cNvSpPr/>
          <p:nvPr/>
        </p:nvSpPr>
        <p:spPr>
          <a:xfrm>
            <a:off x="11640312" y="6473952"/>
            <a:ext cx="365760" cy="274320"/>
          </a:xfrm>
          <a:prstGeom prst="rect">
            <a:avLst/>
          </a:prstGeom>
          <a:noFill/>
          <a:ln/>
        </p:spPr>
        <p:txBody>
          <a:bodyPr wrap="square" rtlCol="0" anchor="ctr"/>
          <a:lstStyle/>
          <a:p>
            <a:pPr marL="0" indent="0" algn="r">
              <a:buNone/>
            </a:pPr>
            <a:r>
              <a:rPr lang="en-US" sz="1000" dirty="0">
                <a:solidFill>
                  <a:srgbClr val="9AA7B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E7C7B"/>
          </a:solidFill>
          <a:ln/>
        </p:spPr>
      </p:sp>
      <p:sp>
        <p:nvSpPr>
          <p:cNvPr id="3" name="Text 1"/>
          <p:cNvSpPr/>
          <p:nvPr/>
        </p:nvSpPr>
        <p:spPr>
          <a:xfrm>
            <a:off x="457200" y="0"/>
            <a:ext cx="11274552" cy="896112"/>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User Satisfaction — Scoring &amp; the Headline Finding</a:t>
            </a:r>
            <a:endParaRPr lang="en-US" sz="2600" dirty="0"/>
          </a:p>
        </p:txBody>
      </p:sp>
      <p:sp>
        <p:nvSpPr>
          <p:cNvPr id="4" name="Text 2"/>
          <p:cNvSpPr/>
          <p:nvPr/>
        </p:nvSpPr>
        <p:spPr>
          <a:xfrm>
            <a:off x="457200" y="18288"/>
            <a:ext cx="11274552" cy="274320"/>
          </a:xfrm>
          <a:prstGeom prst="rect">
            <a:avLst/>
          </a:prstGeom>
          <a:noFill/>
          <a:ln/>
        </p:spPr>
        <p:txBody>
          <a:bodyPr wrap="square" rtlCol="0" anchor="t"/>
          <a:lstStyle/>
          <a:p>
            <a:pPr marL="0" indent="0" algn="l">
              <a:buNone/>
            </a:pPr>
            <a:r>
              <a:rPr lang="en-US" sz="1100" i="1" dirty="0">
                <a:solidFill>
                  <a:srgbClr val="BFEAE8"/>
                </a:solidFill>
                <a:latin typeface="Calibri" pitchFamily="34" charset="0"/>
                <a:ea typeface="Calibri" pitchFamily="34" charset="-122"/>
                <a:cs typeface="Calibri" pitchFamily="34" charset="-120"/>
              </a:rPr>
              <a:t>PILLAR 4 OF 4</a:t>
            </a:r>
            <a:endParaRPr lang="en-US" sz="1100" dirty="0"/>
          </a:p>
        </p:txBody>
      </p:sp>
      <p:graphicFrame>
        <p:nvGraphicFramePr>
          <p:cNvPr id="5" name="Chart 0"/>
          <p:cNvGraphicFramePr/>
          <p:nvPr/>
        </p:nvGraphicFramePr>
        <p:xfrm>
          <a:off x="411480" y="1188720"/>
          <a:ext cx="66751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360920" y="1188720"/>
            <a:ext cx="4389120" cy="4206240"/>
          </a:xfrm>
          <a:prstGeom prst="roundRect">
            <a:avLst>
              <a:gd name="adj" fmla="val 1739"/>
            </a:avLst>
          </a:prstGeom>
          <a:solidFill>
            <a:srgbClr val="E3F5F4"/>
          </a:solidFill>
          <a:ln w="9525">
            <a:solidFill>
              <a:srgbClr val="CDEAE8"/>
            </a:solidFill>
            <a:prstDash val="solid"/>
          </a:ln>
        </p:spPr>
      </p:sp>
      <p:sp>
        <p:nvSpPr>
          <p:cNvPr id="7" name="Text 4"/>
          <p:cNvSpPr/>
          <p:nvPr/>
        </p:nvSpPr>
        <p:spPr>
          <a:xfrm>
            <a:off x="7498080" y="1325880"/>
            <a:ext cx="4114800" cy="777240"/>
          </a:xfrm>
          <a:prstGeom prst="rect">
            <a:avLst/>
          </a:prstGeom>
          <a:noFill/>
          <a:ln/>
        </p:spPr>
        <p:txBody>
          <a:bodyPr wrap="square" rtlCol="0" anchor="t"/>
          <a:lstStyle/>
          <a:p>
            <a:pPr marL="0" indent="0">
              <a:lnSpc>
                <a:spcPct val="105000"/>
              </a:lnSpc>
              <a:buNone/>
            </a:pPr>
            <a:r>
              <a:rPr lang="en-US" sz="1500" b="1" dirty="0">
                <a:solidFill>
                  <a:srgbClr val="0E7C7B"/>
                </a:solidFill>
                <a:latin typeface="Calibri" pitchFamily="34" charset="0"/>
                <a:ea typeface="Calibri" pitchFamily="34" charset="-122"/>
                <a:cs typeface="Calibri" pitchFamily="34" charset="-120"/>
              </a:rPr>
              <a:t>Nearly Identical Engagement.</a:t>
            </a:r>
            <a:endParaRPr lang="en-US" sz="1500" dirty="0"/>
          </a:p>
          <a:p>
            <a:pPr marL="0" indent="0">
              <a:lnSpc>
                <a:spcPct val="105000"/>
              </a:lnSpc>
              <a:buNone/>
            </a:pPr>
            <a:r>
              <a:rPr lang="en-US" sz="1500" b="1" dirty="0">
                <a:solidFill>
                  <a:srgbClr val="0E7C7B"/>
                </a:solidFill>
                <a:latin typeface="Calibri" pitchFamily="34" charset="0"/>
                <a:ea typeface="Calibri" pitchFamily="34" charset="-122"/>
                <a:cs typeface="Calibri" pitchFamily="34" charset="-120"/>
              </a:rPr>
              <a:t>Sharply Divided Experience.</a:t>
            </a:r>
            <a:endParaRPr lang="en-US" sz="1500" dirty="0"/>
          </a:p>
        </p:txBody>
      </p:sp>
      <p:sp>
        <p:nvSpPr>
          <p:cNvPr id="8" name="Text 5"/>
          <p:cNvSpPr/>
          <p:nvPr/>
        </p:nvSpPr>
        <p:spPr>
          <a:xfrm>
            <a:off x="7498080" y="2148840"/>
            <a:ext cx="4114800" cy="1371600"/>
          </a:xfrm>
          <a:prstGeom prst="rect">
            <a:avLst/>
          </a:prstGeom>
          <a:noFill/>
          <a:ln/>
        </p:spPr>
        <p:txBody>
          <a:bodyPr wrap="square" rtlCol="0" anchor="t"/>
          <a:lstStyle/>
          <a:p>
            <a:pPr marL="0" indent="0">
              <a:lnSpc>
                <a:spcPct val="112000"/>
              </a:lnSpc>
              <a:buNone/>
            </a:pPr>
            <a:r>
              <a:rPr lang="en-US" sz="1030" dirty="0">
                <a:solidFill>
                  <a:srgbClr val="16232E"/>
                </a:solidFill>
                <a:latin typeface="Calibri" pitchFamily="34" charset="0"/>
                <a:ea typeface="Calibri" pitchFamily="34" charset="-122"/>
                <a:cs typeface="Calibri" pitchFamily="34" charset="-120"/>
              </a:rPr>
              <a:t>Cluster 0 (27.3%) and Cluster 1 (72.7%, the majority) engage at a comparable rate — Cluster 1's Engagement Score (0.430) is even slightly higher. The two clusters are separated almost entirely by Experience Score (0.771 vs. 0.183).</a:t>
            </a:r>
            <a:endParaRPr lang="en-US" sz="1030" dirty="0"/>
          </a:p>
        </p:txBody>
      </p:sp>
      <p:sp>
        <p:nvSpPr>
          <p:cNvPr id="9" name="Shape 6"/>
          <p:cNvSpPr/>
          <p:nvPr/>
        </p:nvSpPr>
        <p:spPr>
          <a:xfrm>
            <a:off x="7498080" y="3657600"/>
            <a:ext cx="4114800" cy="0"/>
          </a:xfrm>
          <a:prstGeom prst="line">
            <a:avLst/>
          </a:prstGeom>
          <a:noFill/>
          <a:ln w="12700">
            <a:solidFill>
              <a:srgbClr val="CDEAE8"/>
            </a:solidFill>
            <a:prstDash val="solid"/>
          </a:ln>
        </p:spPr>
      </p:sp>
      <p:sp>
        <p:nvSpPr>
          <p:cNvPr id="10" name="Text 7"/>
          <p:cNvSpPr/>
          <p:nvPr/>
        </p:nvSpPr>
        <p:spPr>
          <a:xfrm>
            <a:off x="7498080" y="3794760"/>
            <a:ext cx="4114800" cy="1234440"/>
          </a:xfrm>
          <a:prstGeom prst="rect">
            <a:avLst/>
          </a:prstGeom>
          <a:noFill/>
          <a:ln/>
        </p:spPr>
        <p:txBody>
          <a:bodyPr wrap="square" rtlCol="0" anchor="t"/>
          <a:lstStyle/>
          <a:p>
            <a:pPr marL="0" indent="0">
              <a:lnSpc>
                <a:spcPct val="112000"/>
              </a:lnSpc>
              <a:buNone/>
            </a:pPr>
            <a:r>
              <a:rPr lang="en-US" sz="1030" i="1" dirty="0">
                <a:solidFill>
                  <a:srgbClr val="16232E"/>
                </a:solidFill>
                <a:latin typeface="Calibri" pitchFamily="34" charset="0"/>
                <a:ea typeface="Calibri" pitchFamily="34" charset="-122"/>
                <a:cs typeface="Calibri" pitchFamily="34" charset="-120"/>
              </a:rPr>
              <a:t>Satisfaction here is overwhelmingly an experience story, not an engagement one — directly reinforcing the Experience Analysis finding that a real minority faces genuine network strain, broad enough to define the majority cluster's outcome.</a:t>
            </a:r>
            <a:endParaRPr lang="en-US" sz="1030" dirty="0"/>
          </a:p>
        </p:txBody>
      </p:sp>
      <p:sp>
        <p:nvSpPr>
          <p:cNvPr id="11" name="Text 8"/>
          <p:cNvSpPr/>
          <p:nvPr/>
        </p:nvSpPr>
        <p:spPr>
          <a:xfrm>
            <a:off x="7498080" y="5029200"/>
            <a:ext cx="4114800" cy="365760"/>
          </a:xfrm>
          <a:prstGeom prst="rect">
            <a:avLst/>
          </a:prstGeom>
          <a:noFill/>
          <a:ln/>
        </p:spPr>
        <p:txBody>
          <a:bodyPr wrap="square" rtlCol="0" anchor="t"/>
          <a:lstStyle/>
          <a:p>
            <a:pPr marL="0" indent="0">
              <a:lnSpc>
                <a:spcPct val="105000"/>
              </a:lnSpc>
              <a:buNone/>
            </a:pPr>
            <a:r>
              <a:rPr lang="en-US" sz="880" i="1" dirty="0">
                <a:solidFill>
                  <a:srgbClr val="56687A"/>
                </a:solidFill>
                <a:latin typeface="Calibri" pitchFamily="34" charset="0"/>
                <a:ea typeface="Calibri" pitchFamily="34" charset="-122"/>
                <a:cs typeface="Calibri" pitchFamily="34" charset="-120"/>
              </a:rPr>
              <a:t>An independent elbow check suggests k=3 as the data's natural optimum for this clustering — reported transparently as a finding, without overriding the brief's specified k=2.</a:t>
            </a:r>
            <a:endParaRPr lang="en-US" sz="880" dirty="0"/>
          </a:p>
        </p:txBody>
      </p:sp>
      <p:sp>
        <p:nvSpPr>
          <p:cNvPr id="13" name="Text 9"/>
          <p:cNvSpPr/>
          <p:nvPr/>
        </p:nvSpPr>
        <p:spPr>
          <a:xfrm>
            <a:off x="11640312" y="6473952"/>
            <a:ext cx="365760" cy="274320"/>
          </a:xfrm>
          <a:prstGeom prst="rect">
            <a:avLst/>
          </a:prstGeom>
          <a:noFill/>
          <a:ln/>
        </p:spPr>
        <p:txBody>
          <a:bodyPr wrap="square" rtlCol="0" anchor="ctr"/>
          <a:lstStyle/>
          <a:p>
            <a:pPr marL="0" indent="0" algn="r">
              <a:buNone/>
            </a:pPr>
            <a:r>
              <a:rPr lang="en-US" sz="1000" dirty="0">
                <a:solidFill>
                  <a:srgbClr val="9AA7B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E7C7B"/>
          </a:solidFill>
          <a:ln/>
        </p:spPr>
      </p:sp>
      <p:sp>
        <p:nvSpPr>
          <p:cNvPr id="3" name="Text 1"/>
          <p:cNvSpPr/>
          <p:nvPr/>
        </p:nvSpPr>
        <p:spPr>
          <a:xfrm>
            <a:off x="457200" y="0"/>
            <a:ext cx="11274552" cy="896112"/>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User Satisfaction — Predictive Model Validation</a:t>
            </a:r>
            <a:endParaRPr lang="en-US" sz="2600" dirty="0"/>
          </a:p>
        </p:txBody>
      </p:sp>
      <p:sp>
        <p:nvSpPr>
          <p:cNvPr id="4" name="Text 2"/>
          <p:cNvSpPr/>
          <p:nvPr/>
        </p:nvSpPr>
        <p:spPr>
          <a:xfrm>
            <a:off x="457200" y="18288"/>
            <a:ext cx="11274552" cy="274320"/>
          </a:xfrm>
          <a:prstGeom prst="rect">
            <a:avLst/>
          </a:prstGeom>
          <a:noFill/>
          <a:ln/>
        </p:spPr>
        <p:txBody>
          <a:bodyPr wrap="square" rtlCol="0" anchor="t"/>
          <a:lstStyle/>
          <a:p>
            <a:pPr marL="0" indent="0" algn="l">
              <a:buNone/>
            </a:pPr>
            <a:r>
              <a:rPr lang="en-US" sz="1100" i="1" dirty="0">
                <a:solidFill>
                  <a:srgbClr val="BFEAE8"/>
                </a:solidFill>
                <a:latin typeface="Calibri" pitchFamily="34" charset="0"/>
                <a:ea typeface="Calibri" pitchFamily="34" charset="-122"/>
                <a:cs typeface="Calibri" pitchFamily="34" charset="-120"/>
              </a:rPr>
              <a:t>PILLAR 4 OF 4</a:t>
            </a:r>
            <a:endParaRPr lang="en-US" sz="1100" dirty="0"/>
          </a:p>
        </p:txBody>
      </p:sp>
      <p:graphicFrame>
        <p:nvGraphicFramePr>
          <p:cNvPr id="5" name="Chart 0"/>
          <p:cNvGraphicFramePr/>
          <p:nvPr/>
        </p:nvGraphicFramePr>
        <p:xfrm>
          <a:off x="548640" y="1234440"/>
          <a:ext cx="64922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269480" y="1234440"/>
            <a:ext cx="4480560" cy="2103120"/>
          </a:xfrm>
          <a:prstGeom prst="roundRect">
            <a:avLst>
              <a:gd name="adj" fmla="val 3478"/>
            </a:avLst>
          </a:prstGeom>
          <a:solidFill>
            <a:srgbClr val="EAF7EA"/>
          </a:solidFill>
          <a:ln w="9525">
            <a:solidFill>
              <a:srgbClr val="BEE3C5"/>
            </a:solidFill>
            <a:prstDash val="solid"/>
          </a:ln>
        </p:spPr>
      </p:sp>
      <p:sp>
        <p:nvSpPr>
          <p:cNvPr id="7" name="Text 4"/>
          <p:cNvSpPr/>
          <p:nvPr/>
        </p:nvSpPr>
        <p:spPr>
          <a:xfrm>
            <a:off x="7406640" y="1325880"/>
            <a:ext cx="4206240" cy="365760"/>
          </a:xfrm>
          <a:prstGeom prst="rect">
            <a:avLst/>
          </a:prstGeom>
          <a:noFill/>
          <a:ln/>
        </p:spPr>
        <p:txBody>
          <a:bodyPr wrap="square" rtlCol="0" anchor="ctr"/>
          <a:lstStyle/>
          <a:p>
            <a:pPr marL="0" indent="0">
              <a:buNone/>
            </a:pPr>
            <a:r>
              <a:rPr lang="en-US" sz="1400" b="1" dirty="0">
                <a:solidFill>
                  <a:srgbClr val="2E8B57"/>
                </a:solidFill>
                <a:latin typeface="Calibri" pitchFamily="34" charset="0"/>
                <a:ea typeface="Calibri" pitchFamily="34" charset="-122"/>
                <a:cs typeface="Calibri" pitchFamily="34" charset="-120"/>
              </a:rPr>
              <a:t>XGBoost: R² = 0.9934</a:t>
            </a:r>
            <a:endParaRPr lang="en-US" sz="1400" dirty="0"/>
          </a:p>
        </p:txBody>
      </p:sp>
      <p:sp>
        <p:nvSpPr>
          <p:cNvPr id="8" name="Text 5"/>
          <p:cNvSpPr/>
          <p:nvPr/>
        </p:nvSpPr>
        <p:spPr>
          <a:xfrm>
            <a:off x="7406640" y="1691640"/>
            <a:ext cx="4206240" cy="1554480"/>
          </a:xfrm>
          <a:prstGeom prst="rect">
            <a:avLst/>
          </a:prstGeom>
          <a:noFill/>
          <a:ln/>
        </p:spPr>
        <p:txBody>
          <a:bodyPr wrap="square" rtlCol="0" anchor="t"/>
          <a:lstStyle/>
          <a:p>
            <a:pPr marL="0" indent="0">
              <a:lnSpc>
                <a:spcPct val="112000"/>
              </a:lnSpc>
              <a:buNone/>
            </a:pPr>
            <a:r>
              <a:rPr lang="en-US" sz="1030" dirty="0">
                <a:solidFill>
                  <a:srgbClr val="16232E"/>
                </a:solidFill>
                <a:latin typeface="Calibri" pitchFamily="34" charset="0"/>
                <a:ea typeface="Calibri" pitchFamily="34" charset="-122"/>
                <a:cs typeface="Calibri" pitchFamily="34" charset="-120"/>
              </a:rPr>
              <a:t>Closes nearly all the remaining gap left by Linear Regression's genuine straight-line baseline (R² = 0.79). Predictors used: the underlying normalized engagement &amp; experience metrics — not the scores themselves.</a:t>
            </a:r>
            <a:endParaRPr lang="en-US" sz="1030" dirty="0"/>
          </a:p>
        </p:txBody>
      </p:sp>
      <p:sp>
        <p:nvSpPr>
          <p:cNvPr id="9" name="Shape 6"/>
          <p:cNvSpPr/>
          <p:nvPr/>
        </p:nvSpPr>
        <p:spPr>
          <a:xfrm>
            <a:off x="7269480" y="3520440"/>
            <a:ext cx="4480560" cy="1737360"/>
          </a:xfrm>
          <a:prstGeom prst="roundRect">
            <a:avLst>
              <a:gd name="adj" fmla="val 4211"/>
            </a:avLst>
          </a:prstGeom>
          <a:solidFill>
            <a:srgbClr val="FDEDEC"/>
          </a:solidFill>
          <a:ln w="9525">
            <a:solidFill>
              <a:srgbClr val="F5C6C0"/>
            </a:solidFill>
            <a:prstDash val="solid"/>
          </a:ln>
        </p:spPr>
      </p:sp>
      <p:sp>
        <p:nvSpPr>
          <p:cNvPr id="10" name="Text 7"/>
          <p:cNvSpPr/>
          <p:nvPr/>
        </p:nvSpPr>
        <p:spPr>
          <a:xfrm>
            <a:off x="7406640" y="3593592"/>
            <a:ext cx="4206240" cy="320040"/>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Honest Caveat</a:t>
            </a:r>
            <a:endParaRPr lang="en-US" sz="1200" dirty="0"/>
          </a:p>
        </p:txBody>
      </p:sp>
      <p:sp>
        <p:nvSpPr>
          <p:cNvPr id="11" name="Text 8"/>
          <p:cNvSpPr/>
          <p:nvPr/>
        </p:nvSpPr>
        <p:spPr>
          <a:xfrm>
            <a:off x="7406640" y="3886200"/>
            <a:ext cx="4206240" cy="1325880"/>
          </a:xfrm>
          <a:prstGeom prst="rect">
            <a:avLst/>
          </a:prstGeom>
          <a:noFill/>
          <a:ln/>
        </p:spPr>
        <p:txBody>
          <a:bodyPr wrap="square" rtlCol="0" anchor="t"/>
          <a:lstStyle/>
          <a:p>
            <a:pPr marL="0" indent="0">
              <a:lnSpc>
                <a:spcPct val="110000"/>
              </a:lnSpc>
              <a:buNone/>
            </a:pPr>
            <a:r>
              <a:rPr lang="en-US" sz="1000" dirty="0">
                <a:solidFill>
                  <a:srgbClr val="16232E"/>
                </a:solidFill>
                <a:latin typeface="Calibri" pitchFamily="34" charset="0"/>
                <a:ea typeface="Calibri" pitchFamily="34" charset="-122"/>
                <a:cs typeface="Calibri" pitchFamily="34" charset="-120"/>
              </a:rPr>
              <a:t>Satisfaction Score is a deterministic formula (avg of the two component scores). This high accuracy reflects how well a flexible model reconstructs a known formula, not a fully independent behavioral prediction.</a:t>
            </a:r>
            <a:endParaRPr lang="en-US" sz="1000" dirty="0"/>
          </a:p>
        </p:txBody>
      </p:sp>
      <p:sp>
        <p:nvSpPr>
          <p:cNvPr id="13" name="Text 9"/>
          <p:cNvSpPr/>
          <p:nvPr/>
        </p:nvSpPr>
        <p:spPr>
          <a:xfrm>
            <a:off x="11640312" y="6473952"/>
            <a:ext cx="365760" cy="274320"/>
          </a:xfrm>
          <a:prstGeom prst="rect">
            <a:avLst/>
          </a:prstGeom>
          <a:noFill/>
          <a:ln/>
        </p:spPr>
        <p:txBody>
          <a:bodyPr wrap="square" rtlCol="0" anchor="ctr"/>
          <a:lstStyle/>
          <a:p>
            <a:pPr marL="0" indent="0" algn="r">
              <a:buNone/>
            </a:pPr>
            <a:r>
              <a:rPr lang="en-US" sz="1000" dirty="0">
                <a:solidFill>
                  <a:srgbClr val="9AA7B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05B96"/>
          </a:solidFill>
          <a:ln/>
        </p:spPr>
      </p:sp>
      <p:sp>
        <p:nvSpPr>
          <p:cNvPr id="3" name="Text 1"/>
          <p:cNvSpPr/>
          <p:nvPr/>
        </p:nvSpPr>
        <p:spPr>
          <a:xfrm>
            <a:off x="457200" y="0"/>
            <a:ext cx="11274552" cy="896112"/>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SQL Export — Data Delivery</a:t>
            </a:r>
            <a:endParaRPr lang="en-US" sz="2600" dirty="0"/>
          </a:p>
        </p:txBody>
      </p:sp>
      <p:sp>
        <p:nvSpPr>
          <p:cNvPr id="4" name="Text 2"/>
          <p:cNvSpPr/>
          <p:nvPr/>
        </p:nvSpPr>
        <p:spPr>
          <a:xfrm>
            <a:off x="457200" y="1005840"/>
            <a:ext cx="11274552" cy="365760"/>
          </a:xfrm>
          <a:prstGeom prst="rect">
            <a:avLst/>
          </a:prstGeom>
          <a:noFill/>
          <a:ln/>
        </p:spPr>
        <p:txBody>
          <a:bodyPr wrap="square" rtlCol="0" anchor="ctr"/>
          <a:lstStyle/>
          <a:p>
            <a:pPr marL="0" indent="0" algn="ctr">
              <a:buNone/>
            </a:pPr>
            <a:r>
              <a:rPr lang="en-US" sz="1400" b="1" dirty="0">
                <a:solidFill>
                  <a:srgbClr val="16232E"/>
                </a:solidFill>
                <a:latin typeface="Calibri" pitchFamily="34" charset="0"/>
                <a:ea typeface="Calibri" pitchFamily="34" charset="-122"/>
                <a:cs typeface="Calibri" pitchFamily="34" charset="-120"/>
              </a:rPr>
              <a:t>Same Export, Two Views: Notebook (3-decimal display) vs. SSMS (full precision)</a:t>
            </a:r>
            <a:endParaRPr lang="en-US" sz="1400" dirty="0"/>
          </a:p>
        </p:txBody>
      </p:sp>
      <p:pic>
        <p:nvPicPr>
          <p:cNvPr id="5" name="Image 0" descr="/home/claude/tellco_deck/Assets/notebook_verify.png"/>
          <p:cNvPicPr>
            <a:picLocks noChangeAspect="1"/>
          </p:cNvPicPr>
          <p:nvPr/>
        </p:nvPicPr>
        <p:blipFill>
          <a:blip r:embed="rId3"/>
          <a:stretch>
            <a:fillRect/>
          </a:stretch>
        </p:blipFill>
        <p:spPr>
          <a:xfrm>
            <a:off x="457200" y="1508760"/>
            <a:ext cx="5532120" cy="2606040"/>
          </a:xfrm>
          <a:prstGeom prst="rect">
            <a:avLst/>
          </a:prstGeom>
        </p:spPr>
      </p:pic>
      <p:pic>
        <p:nvPicPr>
          <p:cNvPr id="6" name="Image 1" descr="/home/claude/tellco_deck/Assets/ssms_screenshot.png"/>
          <p:cNvPicPr>
            <a:picLocks noChangeAspect="1"/>
          </p:cNvPicPr>
          <p:nvPr/>
        </p:nvPicPr>
        <p:blipFill>
          <a:blip r:embed="rId4"/>
          <a:stretch>
            <a:fillRect/>
          </a:stretch>
        </p:blipFill>
        <p:spPr>
          <a:xfrm>
            <a:off x="6172200" y="1508760"/>
            <a:ext cx="5577840" cy="2606040"/>
          </a:xfrm>
          <a:prstGeom prst="rect">
            <a:avLst/>
          </a:prstGeom>
        </p:spPr>
      </p:pic>
      <p:sp>
        <p:nvSpPr>
          <p:cNvPr id="7" name="Text 3"/>
          <p:cNvSpPr/>
          <p:nvPr/>
        </p:nvSpPr>
        <p:spPr>
          <a:xfrm>
            <a:off x="457200" y="4160520"/>
            <a:ext cx="5532120" cy="274320"/>
          </a:xfrm>
          <a:prstGeom prst="rect">
            <a:avLst/>
          </a:prstGeom>
          <a:noFill/>
          <a:ln/>
        </p:spPr>
        <p:txBody>
          <a:bodyPr wrap="square" rtlCol="0" anchor="ctr"/>
          <a:lstStyle/>
          <a:p>
            <a:pPr marL="0" indent="0" algn="ctr">
              <a:buNone/>
            </a:pPr>
            <a:r>
              <a:rPr lang="en-US" sz="1050" i="1" dirty="0">
                <a:solidFill>
                  <a:srgbClr val="56687A"/>
                </a:solidFill>
                <a:latin typeface="Calibri" pitchFamily="34" charset="0"/>
                <a:ea typeface="Calibri" pitchFamily="34" charset="-122"/>
                <a:cs typeface="Calibri" pitchFamily="34" charset="-120"/>
              </a:rPr>
              <a:t>Notebook — centered_table() (3 decimals)</a:t>
            </a:r>
            <a:endParaRPr lang="en-US" sz="1050" dirty="0"/>
          </a:p>
        </p:txBody>
      </p:sp>
      <p:sp>
        <p:nvSpPr>
          <p:cNvPr id="8" name="Text 4"/>
          <p:cNvSpPr/>
          <p:nvPr/>
        </p:nvSpPr>
        <p:spPr>
          <a:xfrm>
            <a:off x="6172200" y="4160520"/>
            <a:ext cx="5577840" cy="274320"/>
          </a:xfrm>
          <a:prstGeom prst="rect">
            <a:avLst/>
          </a:prstGeom>
          <a:noFill/>
          <a:ln/>
        </p:spPr>
        <p:txBody>
          <a:bodyPr wrap="square" rtlCol="0" anchor="ctr"/>
          <a:lstStyle/>
          <a:p>
            <a:pPr marL="0" indent="0" algn="ctr">
              <a:buNone/>
            </a:pPr>
            <a:r>
              <a:rPr lang="en-US" sz="1050" i="1" dirty="0">
                <a:solidFill>
                  <a:srgbClr val="56687A"/>
                </a:solidFill>
                <a:latin typeface="Calibri" pitchFamily="34" charset="0"/>
                <a:ea typeface="Calibri" pitchFamily="34" charset="-122"/>
                <a:cs typeface="Calibri" pitchFamily="34" charset="-120"/>
              </a:rPr>
              <a:t>SSMS — SELECT TOP 10 * FROM dbo.user_satisfaction_scores</a:t>
            </a:r>
            <a:endParaRPr lang="en-US" sz="1050" dirty="0"/>
          </a:p>
        </p:txBody>
      </p:sp>
      <p:sp>
        <p:nvSpPr>
          <p:cNvPr id="9" name="Shape 5"/>
          <p:cNvSpPr/>
          <p:nvPr/>
        </p:nvSpPr>
        <p:spPr>
          <a:xfrm>
            <a:off x="457200" y="4572000"/>
            <a:ext cx="11292840" cy="1417320"/>
          </a:xfrm>
          <a:prstGeom prst="roundRect">
            <a:avLst>
              <a:gd name="adj" fmla="val 5161"/>
            </a:avLst>
          </a:prstGeom>
          <a:solidFill>
            <a:srgbClr val="F3F5F7"/>
          </a:solidFill>
          <a:ln w="9525">
            <a:solidFill>
              <a:srgbClr val="D7E6F2"/>
            </a:solidFill>
            <a:prstDash val="solid"/>
          </a:ln>
        </p:spPr>
      </p:sp>
      <p:sp>
        <p:nvSpPr>
          <p:cNvPr id="10" name="Text 6"/>
          <p:cNvSpPr/>
          <p:nvPr/>
        </p:nvSpPr>
        <p:spPr>
          <a:xfrm>
            <a:off x="594360" y="4663440"/>
            <a:ext cx="11018520" cy="411480"/>
          </a:xfrm>
          <a:prstGeom prst="rect">
            <a:avLst/>
          </a:prstGeom>
          <a:noFill/>
          <a:ln/>
        </p:spPr>
        <p:txBody>
          <a:bodyPr wrap="square" rtlCol="0" anchor="ctr"/>
          <a:lstStyle/>
          <a:p>
            <a:pPr marL="0" indent="0">
              <a:buNone/>
            </a:pPr>
            <a:r>
              <a:rPr lang="en-US" sz="1050" b="1" dirty="0">
                <a:solidFill>
                  <a:srgbClr val="16232E"/>
                </a:solidFill>
                <a:latin typeface="Calibri" pitchFamily="34" charset="0"/>
                <a:ea typeface="Calibri" pitchFamily="34" charset="-122"/>
                <a:cs typeface="Calibri" pitchFamily="34" charset="-120"/>
              </a:rPr>
              <a:t>Table: </a:t>
            </a:r>
            <a:r>
              <a:rPr lang="en-US" sz="1050" dirty="0">
                <a:solidFill>
                  <a:srgbClr val="16232E"/>
                </a:solidFill>
                <a:latin typeface="Calibri" pitchFamily="34" charset="0"/>
                <a:ea typeface="Calibri" pitchFamily="34" charset="-122"/>
                <a:cs typeface="Calibri" pitchFamily="34" charset="-120"/>
              </a:rPr>
              <a:t>user_satisfaction_scores  •  </a:t>
            </a:r>
            <a:r>
              <a:rPr lang="en-US" sz="1050" b="1" dirty="0">
                <a:solidFill>
                  <a:srgbClr val="16232E"/>
                </a:solidFill>
                <a:latin typeface="Calibri" pitchFamily="34" charset="0"/>
                <a:ea typeface="Calibri" pitchFamily="34" charset="-122"/>
                <a:cs typeface="Calibri" pitchFamily="34" charset="-120"/>
              </a:rPr>
              <a:t>Database: </a:t>
            </a:r>
            <a:r>
              <a:rPr lang="en-US" sz="1050" dirty="0">
                <a:solidFill>
                  <a:srgbClr val="16232E"/>
                </a:solidFill>
                <a:latin typeface="Calibri" pitchFamily="34" charset="0"/>
                <a:ea typeface="Calibri" pitchFamily="34" charset="-122"/>
                <a:cs typeface="Calibri" pitchFamily="34" charset="-120"/>
              </a:rPr>
              <a:t>TelecomDB (SQL Server Express, Windows Auth)  •  </a:t>
            </a:r>
            <a:r>
              <a:rPr lang="en-US" sz="1050" b="1" dirty="0">
                <a:solidFill>
                  <a:srgbClr val="16232E"/>
                </a:solidFill>
                <a:latin typeface="Calibri" pitchFamily="34" charset="0"/>
                <a:ea typeface="Calibri" pitchFamily="34" charset="-122"/>
                <a:cs typeface="Calibri" pitchFamily="34" charset="-120"/>
              </a:rPr>
              <a:t>Rows Exported: </a:t>
            </a:r>
            <a:r>
              <a:rPr lang="en-US" sz="1050" dirty="0">
                <a:solidFill>
                  <a:srgbClr val="16232E"/>
                </a:solidFill>
                <a:latin typeface="Calibri" pitchFamily="34" charset="0"/>
                <a:ea typeface="Calibri" pitchFamily="34" charset="-122"/>
                <a:cs typeface="Calibri" pitchFamily="34" charset="-120"/>
              </a:rPr>
              <a:t>106,471 (all customers)
</a:t>
            </a:r>
            <a:endParaRPr lang="en-US" sz="1050" dirty="0"/>
          </a:p>
        </p:txBody>
      </p:sp>
      <p:sp>
        <p:nvSpPr>
          <p:cNvPr id="11" name="Text 7"/>
          <p:cNvSpPr/>
          <p:nvPr/>
        </p:nvSpPr>
        <p:spPr>
          <a:xfrm>
            <a:off x="594360" y="5029200"/>
            <a:ext cx="11018520" cy="868680"/>
          </a:xfrm>
          <a:prstGeom prst="rect">
            <a:avLst/>
          </a:prstGeom>
          <a:noFill/>
          <a:ln/>
        </p:spPr>
        <p:txBody>
          <a:bodyPr wrap="square" rtlCol="0" anchor="t"/>
          <a:lstStyle/>
          <a:p>
            <a:pPr marL="0" indent="0">
              <a:lnSpc>
                <a:spcPct val="110000"/>
              </a:lnSpc>
              <a:buNone/>
            </a:pPr>
            <a:r>
              <a:rPr lang="en-US" sz="1030" dirty="0">
                <a:solidFill>
                  <a:srgbClr val="16232E"/>
                </a:solidFill>
                <a:latin typeface="Calibri" pitchFamily="34" charset="0"/>
                <a:ea typeface="Calibri" pitchFamily="34" charset="-122"/>
                <a:cs typeface="Calibri" pitchFamily="34" charset="-120"/>
              </a:rPr>
              <a:t>Values match exactly — the only difference is display precision (SSMS shows raw floats; the notebook's display helper rounds to 3 decimals for readability). This confirms the export completed without truncation or transformation.</a:t>
            </a:r>
            <a:endParaRPr lang="en-US" sz="1030" dirty="0"/>
          </a:p>
        </p:txBody>
      </p:sp>
      <p:sp>
        <p:nvSpPr>
          <p:cNvPr id="13" name="Text 8"/>
          <p:cNvSpPr/>
          <p:nvPr/>
        </p:nvSpPr>
        <p:spPr>
          <a:xfrm>
            <a:off x="11640312" y="6473952"/>
            <a:ext cx="365760" cy="274320"/>
          </a:xfrm>
          <a:prstGeom prst="rect">
            <a:avLst/>
          </a:prstGeom>
          <a:noFill/>
          <a:ln/>
        </p:spPr>
        <p:txBody>
          <a:bodyPr wrap="square" rtlCol="0" anchor="ctr"/>
          <a:lstStyle/>
          <a:p>
            <a:pPr marL="0" indent="0" algn="r">
              <a:buNone/>
            </a:pPr>
            <a:r>
              <a:rPr lang="en-US" sz="1000" dirty="0">
                <a:solidFill>
                  <a:srgbClr val="9AA7B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A2540"/>
          </a:solidFill>
          <a:ln/>
        </p:spPr>
      </p:sp>
      <p:sp>
        <p:nvSpPr>
          <p:cNvPr id="3" name="Text 1"/>
          <p:cNvSpPr/>
          <p:nvPr/>
        </p:nvSpPr>
        <p:spPr>
          <a:xfrm>
            <a:off x="457200" y="109728"/>
            <a:ext cx="11274552" cy="45720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TELLCO USER ANALYTICS</a:t>
            </a:r>
            <a:endParaRPr lang="en-US" sz="2400" dirty="0"/>
          </a:p>
        </p:txBody>
      </p:sp>
      <p:sp>
        <p:nvSpPr>
          <p:cNvPr id="4" name="Text 2"/>
          <p:cNvSpPr/>
          <p:nvPr/>
        </p:nvSpPr>
        <p:spPr>
          <a:xfrm>
            <a:off x="457200" y="548640"/>
            <a:ext cx="11274552" cy="320040"/>
          </a:xfrm>
          <a:prstGeom prst="rect">
            <a:avLst/>
          </a:prstGeom>
          <a:noFill/>
          <a:ln/>
        </p:spPr>
        <p:txBody>
          <a:bodyPr wrap="square" rtlCol="0" anchor="ctr"/>
          <a:lstStyle/>
          <a:p>
            <a:pPr marL="0" indent="0" algn="ctr">
              <a:buNone/>
            </a:pPr>
            <a:r>
              <a:rPr lang="en-US" sz="1250" i="1" dirty="0">
                <a:solidFill>
                  <a:srgbClr val="9FC6E6"/>
                </a:solidFill>
                <a:latin typeface="Calibri" pitchFamily="34" charset="0"/>
                <a:ea typeface="Calibri" pitchFamily="34" charset="-122"/>
                <a:cs typeface="Calibri" pitchFamily="34" charset="-120"/>
              </a:rPr>
              <a:t>The Case for Purchase, in Twelve Numbers (One Month of Data)</a:t>
            </a:r>
            <a:endParaRPr lang="en-US" sz="1250" dirty="0"/>
          </a:p>
        </p:txBody>
      </p:sp>
      <p:sp>
        <p:nvSpPr>
          <p:cNvPr id="5" name="Shape 3"/>
          <p:cNvSpPr/>
          <p:nvPr/>
        </p:nvSpPr>
        <p:spPr>
          <a:xfrm>
            <a:off x="384048" y="1234440"/>
            <a:ext cx="2697480" cy="1572768"/>
          </a:xfrm>
          <a:prstGeom prst="roundRect">
            <a:avLst>
              <a:gd name="adj" fmla="val 4070"/>
            </a:avLst>
          </a:prstGeom>
          <a:solidFill>
            <a:srgbClr val="10233A"/>
          </a:solidFill>
          <a:ln w="9525">
            <a:solidFill>
              <a:srgbClr val="1C3A56"/>
            </a:solidFill>
            <a:prstDash val="solid"/>
          </a:ln>
        </p:spPr>
      </p:sp>
      <p:sp>
        <p:nvSpPr>
          <p:cNvPr id="6" name="Text 4"/>
          <p:cNvSpPr/>
          <p:nvPr/>
        </p:nvSpPr>
        <p:spPr>
          <a:xfrm>
            <a:off x="457200" y="1380744"/>
            <a:ext cx="2551176" cy="692018"/>
          </a:xfrm>
          <a:prstGeom prst="rect">
            <a:avLst/>
          </a:prstGeom>
          <a:noFill/>
          <a:ln/>
        </p:spPr>
        <p:txBody>
          <a:bodyPr wrap="square" rtlCol="0" anchor="b"/>
          <a:lstStyle/>
          <a:p>
            <a:pPr marL="0" indent="0" algn="ctr">
              <a:buNone/>
            </a:pPr>
            <a:r>
              <a:rPr lang="en-US" sz="1900" b="1" dirty="0">
                <a:solidFill>
                  <a:srgbClr val="005B96"/>
                </a:solidFill>
                <a:latin typeface="Calibri" pitchFamily="34" charset="0"/>
                <a:ea typeface="Calibri" pitchFamily="34" charset="-122"/>
                <a:cs typeface="Calibri" pitchFamily="34" charset="-120"/>
              </a:rPr>
              <a:t>106,471</a:t>
            </a:r>
            <a:endParaRPr lang="en-US" sz="1900" dirty="0"/>
          </a:p>
        </p:txBody>
      </p:sp>
      <p:sp>
        <p:nvSpPr>
          <p:cNvPr id="7" name="Text 5"/>
          <p:cNvSpPr/>
          <p:nvPr/>
        </p:nvSpPr>
        <p:spPr>
          <a:xfrm>
            <a:off x="512064" y="2052279"/>
            <a:ext cx="2441448" cy="692018"/>
          </a:xfrm>
          <a:prstGeom prst="rect">
            <a:avLst/>
          </a:prstGeom>
          <a:noFill/>
          <a:ln/>
        </p:spPr>
        <p:txBody>
          <a:bodyPr wrap="square" rtlCol="0" anchor="t"/>
          <a:lstStyle/>
          <a:p>
            <a:pPr marL="0" indent="0" algn="ctr">
              <a:lnSpc>
                <a:spcPct val="105000"/>
              </a:lnSpc>
              <a:buNone/>
            </a:pPr>
            <a:r>
              <a:rPr lang="en-US" sz="930" dirty="0">
                <a:solidFill>
                  <a:srgbClr val="C9D8E4"/>
                </a:solidFill>
                <a:latin typeface="Calibri" pitchFamily="34" charset="0"/>
                <a:ea typeface="Calibri" pitchFamily="34" charset="-122"/>
                <a:cs typeface="Calibri" pitchFamily="34" charset="-120"/>
              </a:rPr>
              <a:t>Customers Analyzed</a:t>
            </a:r>
            <a:endParaRPr lang="en-US" sz="930" dirty="0"/>
          </a:p>
        </p:txBody>
      </p:sp>
      <p:sp>
        <p:nvSpPr>
          <p:cNvPr id="8" name="Shape 6"/>
          <p:cNvSpPr/>
          <p:nvPr/>
        </p:nvSpPr>
        <p:spPr>
          <a:xfrm>
            <a:off x="3209544" y="1234440"/>
            <a:ext cx="2697480" cy="1572768"/>
          </a:xfrm>
          <a:prstGeom prst="roundRect">
            <a:avLst>
              <a:gd name="adj" fmla="val 4070"/>
            </a:avLst>
          </a:prstGeom>
          <a:solidFill>
            <a:srgbClr val="10233A"/>
          </a:solidFill>
          <a:ln w="9525">
            <a:solidFill>
              <a:srgbClr val="1C3A56"/>
            </a:solidFill>
            <a:prstDash val="solid"/>
          </a:ln>
        </p:spPr>
      </p:sp>
      <p:sp>
        <p:nvSpPr>
          <p:cNvPr id="9" name="Text 7"/>
          <p:cNvSpPr/>
          <p:nvPr/>
        </p:nvSpPr>
        <p:spPr>
          <a:xfrm>
            <a:off x="3282696" y="1380744"/>
            <a:ext cx="2551176" cy="692018"/>
          </a:xfrm>
          <a:prstGeom prst="rect">
            <a:avLst/>
          </a:prstGeom>
          <a:noFill/>
          <a:ln/>
        </p:spPr>
        <p:txBody>
          <a:bodyPr wrap="square" rtlCol="0" anchor="b"/>
          <a:lstStyle/>
          <a:p>
            <a:pPr marL="0" indent="0" algn="ctr">
              <a:buNone/>
            </a:pPr>
            <a:r>
              <a:rPr lang="en-US" sz="1900" b="1" dirty="0">
                <a:solidFill>
                  <a:srgbClr val="005B96"/>
                </a:solidFill>
                <a:latin typeface="Calibri" pitchFamily="34" charset="0"/>
                <a:ea typeface="Calibri" pitchFamily="34" charset="-122"/>
                <a:cs typeface="Calibri" pitchFamily="34" charset="-120"/>
              </a:rPr>
              <a:t>150,001</a:t>
            </a:r>
            <a:endParaRPr lang="en-US" sz="1900" dirty="0"/>
          </a:p>
        </p:txBody>
      </p:sp>
      <p:sp>
        <p:nvSpPr>
          <p:cNvPr id="10" name="Text 8"/>
          <p:cNvSpPr/>
          <p:nvPr/>
        </p:nvSpPr>
        <p:spPr>
          <a:xfrm>
            <a:off x="3337560" y="2052279"/>
            <a:ext cx="2441448" cy="692018"/>
          </a:xfrm>
          <a:prstGeom prst="rect">
            <a:avLst/>
          </a:prstGeom>
          <a:noFill/>
          <a:ln/>
        </p:spPr>
        <p:txBody>
          <a:bodyPr wrap="square" rtlCol="0" anchor="t"/>
          <a:lstStyle/>
          <a:p>
            <a:pPr marL="0" indent="0" algn="ctr">
              <a:lnSpc>
                <a:spcPct val="105000"/>
              </a:lnSpc>
              <a:buNone/>
            </a:pPr>
            <a:r>
              <a:rPr lang="en-US" sz="930" dirty="0">
                <a:solidFill>
                  <a:srgbClr val="C9D8E4"/>
                </a:solidFill>
                <a:latin typeface="Calibri" pitchFamily="34" charset="0"/>
                <a:ea typeface="Calibri" pitchFamily="34" charset="-122"/>
                <a:cs typeface="Calibri" pitchFamily="34" charset="-120"/>
              </a:rPr>
              <a:t>Network Session Records Analyzed</a:t>
            </a:r>
            <a:endParaRPr lang="en-US" sz="930" dirty="0"/>
          </a:p>
        </p:txBody>
      </p:sp>
      <p:sp>
        <p:nvSpPr>
          <p:cNvPr id="11" name="Shape 9"/>
          <p:cNvSpPr/>
          <p:nvPr/>
        </p:nvSpPr>
        <p:spPr>
          <a:xfrm>
            <a:off x="6035040" y="1234440"/>
            <a:ext cx="2697480" cy="1572768"/>
          </a:xfrm>
          <a:prstGeom prst="roundRect">
            <a:avLst>
              <a:gd name="adj" fmla="val 4070"/>
            </a:avLst>
          </a:prstGeom>
          <a:solidFill>
            <a:srgbClr val="10233A"/>
          </a:solidFill>
          <a:ln w="9525">
            <a:solidFill>
              <a:srgbClr val="1C3A56"/>
            </a:solidFill>
            <a:prstDash val="solid"/>
          </a:ln>
        </p:spPr>
      </p:sp>
      <p:sp>
        <p:nvSpPr>
          <p:cNvPr id="12" name="Text 10"/>
          <p:cNvSpPr/>
          <p:nvPr/>
        </p:nvSpPr>
        <p:spPr>
          <a:xfrm>
            <a:off x="6108192" y="1380744"/>
            <a:ext cx="2551176" cy="692018"/>
          </a:xfrm>
          <a:prstGeom prst="rect">
            <a:avLst/>
          </a:prstGeom>
          <a:noFill/>
          <a:ln/>
        </p:spPr>
        <p:txBody>
          <a:bodyPr wrap="square" rtlCol="0" anchor="b"/>
          <a:lstStyle/>
          <a:p>
            <a:pPr marL="0" indent="0" algn="ctr">
              <a:buNone/>
            </a:pPr>
            <a:r>
              <a:rPr lang="en-US" sz="2400" b="1" dirty="0">
                <a:solidFill>
                  <a:srgbClr val="005B96"/>
                </a:solidFill>
                <a:latin typeface="Calibri" pitchFamily="34" charset="0"/>
                <a:ea typeface="Calibri" pitchFamily="34" charset="-122"/>
                <a:cs typeface="Calibri" pitchFamily="34" charset="-120"/>
              </a:rPr>
              <a:t>44.3%</a:t>
            </a:r>
            <a:endParaRPr lang="en-US" sz="2400" dirty="0"/>
          </a:p>
        </p:txBody>
      </p:sp>
      <p:sp>
        <p:nvSpPr>
          <p:cNvPr id="13" name="Text 11"/>
          <p:cNvSpPr/>
          <p:nvPr/>
        </p:nvSpPr>
        <p:spPr>
          <a:xfrm>
            <a:off x="6163056" y="2052279"/>
            <a:ext cx="2441448" cy="692018"/>
          </a:xfrm>
          <a:prstGeom prst="rect">
            <a:avLst/>
          </a:prstGeom>
          <a:noFill/>
          <a:ln/>
        </p:spPr>
        <p:txBody>
          <a:bodyPr wrap="square" rtlCol="0" anchor="t"/>
          <a:lstStyle/>
          <a:p>
            <a:pPr marL="0" indent="0" algn="ctr">
              <a:lnSpc>
                <a:spcPct val="105000"/>
              </a:lnSpc>
              <a:buNone/>
            </a:pPr>
            <a:r>
              <a:rPr lang="en-US" sz="930" dirty="0">
                <a:solidFill>
                  <a:srgbClr val="C9D8E4"/>
                </a:solidFill>
                <a:latin typeface="Calibri" pitchFamily="34" charset="0"/>
                <a:ea typeface="Calibri" pitchFamily="34" charset="-122"/>
                <a:cs typeface="Calibri" pitchFamily="34" charset="-120"/>
              </a:rPr>
              <a:t>Customers Use Apple Devices</a:t>
            </a:r>
            <a:endParaRPr lang="en-US" sz="930" dirty="0"/>
          </a:p>
        </p:txBody>
      </p:sp>
      <p:sp>
        <p:nvSpPr>
          <p:cNvPr id="14" name="Shape 12"/>
          <p:cNvSpPr/>
          <p:nvPr/>
        </p:nvSpPr>
        <p:spPr>
          <a:xfrm>
            <a:off x="8860536" y="1234440"/>
            <a:ext cx="2697480" cy="1572768"/>
          </a:xfrm>
          <a:prstGeom prst="roundRect">
            <a:avLst>
              <a:gd name="adj" fmla="val 4070"/>
            </a:avLst>
          </a:prstGeom>
          <a:solidFill>
            <a:srgbClr val="10233A"/>
          </a:solidFill>
          <a:ln w="9525">
            <a:solidFill>
              <a:srgbClr val="1C3A56"/>
            </a:solidFill>
            <a:prstDash val="solid"/>
          </a:ln>
        </p:spPr>
      </p:sp>
      <p:sp>
        <p:nvSpPr>
          <p:cNvPr id="15" name="Text 13"/>
          <p:cNvSpPr/>
          <p:nvPr/>
        </p:nvSpPr>
        <p:spPr>
          <a:xfrm>
            <a:off x="8933688" y="1380744"/>
            <a:ext cx="2551176" cy="692018"/>
          </a:xfrm>
          <a:prstGeom prst="rect">
            <a:avLst/>
          </a:prstGeom>
          <a:noFill/>
          <a:ln/>
        </p:spPr>
        <p:txBody>
          <a:bodyPr wrap="square" rtlCol="0" anchor="b"/>
          <a:lstStyle/>
          <a:p>
            <a:pPr marL="0" indent="0" algn="ctr">
              <a:buNone/>
            </a:pPr>
            <a:r>
              <a:rPr lang="en-US" sz="1900" b="1" dirty="0">
                <a:solidFill>
                  <a:srgbClr val="005B96"/>
                </a:solidFill>
                <a:latin typeface="Calibri" pitchFamily="34" charset="0"/>
                <a:ea typeface="Calibri" pitchFamily="34" charset="-122"/>
                <a:cs typeface="Calibri" pitchFamily="34" charset="-120"/>
              </a:rPr>
              <a:t>57,491 GB</a:t>
            </a:r>
            <a:endParaRPr lang="en-US" sz="1900" dirty="0"/>
          </a:p>
        </p:txBody>
      </p:sp>
      <p:sp>
        <p:nvSpPr>
          <p:cNvPr id="16" name="Text 14"/>
          <p:cNvSpPr/>
          <p:nvPr/>
        </p:nvSpPr>
        <p:spPr>
          <a:xfrm>
            <a:off x="8988552" y="2052279"/>
            <a:ext cx="2441448" cy="692018"/>
          </a:xfrm>
          <a:prstGeom prst="rect">
            <a:avLst/>
          </a:prstGeom>
          <a:noFill/>
          <a:ln/>
        </p:spPr>
        <p:txBody>
          <a:bodyPr wrap="square" rtlCol="0" anchor="t"/>
          <a:lstStyle/>
          <a:p>
            <a:pPr marL="0" indent="0" algn="ctr">
              <a:lnSpc>
                <a:spcPct val="105000"/>
              </a:lnSpc>
              <a:buNone/>
            </a:pPr>
            <a:r>
              <a:rPr lang="en-US" sz="930" dirty="0">
                <a:solidFill>
                  <a:srgbClr val="C9D8E4"/>
                </a:solidFill>
                <a:latin typeface="Calibri" pitchFamily="34" charset="0"/>
                <a:ea typeface="Calibri" pitchFamily="34" charset="-122"/>
                <a:cs typeface="Calibri" pitchFamily="34" charset="-120"/>
              </a:rPr>
              <a:t>Gaming Dominates App Traffic (~20x Netflix/YouTube)</a:t>
            </a:r>
            <a:endParaRPr lang="en-US" sz="930" dirty="0"/>
          </a:p>
        </p:txBody>
      </p:sp>
      <p:sp>
        <p:nvSpPr>
          <p:cNvPr id="17" name="Shape 15"/>
          <p:cNvSpPr/>
          <p:nvPr/>
        </p:nvSpPr>
        <p:spPr>
          <a:xfrm>
            <a:off x="384048" y="2935224"/>
            <a:ext cx="2697480" cy="1572768"/>
          </a:xfrm>
          <a:prstGeom prst="roundRect">
            <a:avLst>
              <a:gd name="adj" fmla="val 4070"/>
            </a:avLst>
          </a:prstGeom>
          <a:solidFill>
            <a:srgbClr val="10233A"/>
          </a:solidFill>
          <a:ln w="9525">
            <a:solidFill>
              <a:srgbClr val="1C3A56"/>
            </a:solidFill>
            <a:prstDash val="solid"/>
          </a:ln>
        </p:spPr>
      </p:sp>
      <p:sp>
        <p:nvSpPr>
          <p:cNvPr id="18" name="Text 16"/>
          <p:cNvSpPr/>
          <p:nvPr/>
        </p:nvSpPr>
        <p:spPr>
          <a:xfrm>
            <a:off x="457200" y="3081528"/>
            <a:ext cx="2551176" cy="692018"/>
          </a:xfrm>
          <a:prstGeom prst="rect">
            <a:avLst/>
          </a:prstGeom>
          <a:noFill/>
          <a:ln/>
        </p:spPr>
        <p:txBody>
          <a:bodyPr wrap="square" rtlCol="0" anchor="b"/>
          <a:lstStyle/>
          <a:p>
            <a:pPr marL="0" indent="0" algn="ctr">
              <a:buNone/>
            </a:pPr>
            <a:r>
              <a:rPr lang="en-US" sz="2400" b="1" dirty="0">
                <a:solidFill>
                  <a:srgbClr val="0E7C7B"/>
                </a:solidFill>
                <a:latin typeface="Calibri" pitchFamily="34" charset="0"/>
                <a:ea typeface="Calibri" pitchFamily="34" charset="-122"/>
                <a:cs typeface="Calibri" pitchFamily="34" charset="-120"/>
              </a:rPr>
              <a:t>4</a:t>
            </a:r>
            <a:endParaRPr lang="en-US" sz="2400" dirty="0"/>
          </a:p>
        </p:txBody>
      </p:sp>
      <p:sp>
        <p:nvSpPr>
          <p:cNvPr id="19" name="Text 17"/>
          <p:cNvSpPr/>
          <p:nvPr/>
        </p:nvSpPr>
        <p:spPr>
          <a:xfrm>
            <a:off x="512064" y="3753063"/>
            <a:ext cx="2441448" cy="692018"/>
          </a:xfrm>
          <a:prstGeom prst="rect">
            <a:avLst/>
          </a:prstGeom>
          <a:noFill/>
          <a:ln/>
        </p:spPr>
        <p:txBody>
          <a:bodyPr wrap="square" rtlCol="0" anchor="t"/>
          <a:lstStyle/>
          <a:p>
            <a:pPr marL="0" indent="0" algn="ctr">
              <a:lnSpc>
                <a:spcPct val="105000"/>
              </a:lnSpc>
              <a:buNone/>
            </a:pPr>
            <a:r>
              <a:rPr lang="en-US" sz="930" dirty="0">
                <a:solidFill>
                  <a:srgbClr val="C9D8E4"/>
                </a:solidFill>
                <a:latin typeface="Calibri" pitchFamily="34" charset="0"/>
                <a:ea typeface="Calibri" pitchFamily="34" charset="-122"/>
                <a:cs typeface="Calibri" pitchFamily="34" charset="-120"/>
              </a:rPr>
              <a:t>Data Suggests 4 Engagement Tiers (Task-Specified: 3)</a:t>
            </a:r>
            <a:endParaRPr lang="en-US" sz="930" dirty="0"/>
          </a:p>
        </p:txBody>
      </p:sp>
      <p:sp>
        <p:nvSpPr>
          <p:cNvPr id="20" name="Shape 18"/>
          <p:cNvSpPr/>
          <p:nvPr/>
        </p:nvSpPr>
        <p:spPr>
          <a:xfrm>
            <a:off x="3209544" y="2935224"/>
            <a:ext cx="2697480" cy="1572768"/>
          </a:xfrm>
          <a:prstGeom prst="roundRect">
            <a:avLst>
              <a:gd name="adj" fmla="val 4070"/>
            </a:avLst>
          </a:prstGeom>
          <a:solidFill>
            <a:srgbClr val="10233A"/>
          </a:solidFill>
          <a:ln w="9525">
            <a:solidFill>
              <a:srgbClr val="1C3A56"/>
            </a:solidFill>
            <a:prstDash val="solid"/>
          </a:ln>
        </p:spPr>
      </p:sp>
      <p:sp>
        <p:nvSpPr>
          <p:cNvPr id="21" name="Text 19"/>
          <p:cNvSpPr/>
          <p:nvPr/>
        </p:nvSpPr>
        <p:spPr>
          <a:xfrm>
            <a:off x="3282696" y="3081528"/>
            <a:ext cx="2551176" cy="692018"/>
          </a:xfrm>
          <a:prstGeom prst="rect">
            <a:avLst/>
          </a:prstGeom>
          <a:noFill/>
          <a:ln/>
        </p:spPr>
        <p:txBody>
          <a:bodyPr wrap="square" rtlCol="0" anchor="b"/>
          <a:lstStyle/>
          <a:p>
            <a:pPr marL="0" indent="0" algn="ctr">
              <a:buNone/>
            </a:pPr>
            <a:r>
              <a:rPr lang="en-US" sz="2400" b="1" dirty="0">
                <a:solidFill>
                  <a:srgbClr val="2E8B57"/>
                </a:solidFill>
                <a:latin typeface="Calibri" pitchFamily="34" charset="0"/>
                <a:ea typeface="Calibri" pitchFamily="34" charset="-122"/>
                <a:cs typeface="Calibri" pitchFamily="34" charset="-120"/>
              </a:rPr>
              <a:t>73.6%</a:t>
            </a:r>
            <a:endParaRPr lang="en-US" sz="2400" dirty="0"/>
          </a:p>
        </p:txBody>
      </p:sp>
      <p:sp>
        <p:nvSpPr>
          <p:cNvPr id="22" name="Text 20"/>
          <p:cNvSpPr/>
          <p:nvPr/>
        </p:nvSpPr>
        <p:spPr>
          <a:xfrm>
            <a:off x="3337560" y="3753063"/>
            <a:ext cx="2441448" cy="692018"/>
          </a:xfrm>
          <a:prstGeom prst="rect">
            <a:avLst/>
          </a:prstGeom>
          <a:noFill/>
          <a:ln/>
        </p:spPr>
        <p:txBody>
          <a:bodyPr wrap="square" rtlCol="0" anchor="t"/>
          <a:lstStyle/>
          <a:p>
            <a:pPr marL="0" indent="0" algn="ctr">
              <a:lnSpc>
                <a:spcPct val="105000"/>
              </a:lnSpc>
              <a:buNone/>
            </a:pPr>
            <a:r>
              <a:rPr lang="en-US" sz="930" dirty="0">
                <a:solidFill>
                  <a:srgbClr val="C9D8E4"/>
                </a:solidFill>
                <a:latin typeface="Calibri" pitchFamily="34" charset="0"/>
                <a:ea typeface="Calibri" pitchFamily="34" charset="-122"/>
                <a:cs typeface="Calibri" pitchFamily="34" charset="-120"/>
              </a:rPr>
              <a:t>Customers With a Smooth Network Connection</a:t>
            </a:r>
            <a:endParaRPr lang="en-US" sz="930" dirty="0"/>
          </a:p>
        </p:txBody>
      </p:sp>
      <p:sp>
        <p:nvSpPr>
          <p:cNvPr id="23" name="Shape 21"/>
          <p:cNvSpPr/>
          <p:nvPr/>
        </p:nvSpPr>
        <p:spPr>
          <a:xfrm>
            <a:off x="6035040" y="2935224"/>
            <a:ext cx="2697480" cy="1572768"/>
          </a:xfrm>
          <a:prstGeom prst="roundRect">
            <a:avLst>
              <a:gd name="adj" fmla="val 4070"/>
            </a:avLst>
          </a:prstGeom>
          <a:solidFill>
            <a:srgbClr val="10233A"/>
          </a:solidFill>
          <a:ln w="9525">
            <a:solidFill>
              <a:srgbClr val="1C3A56"/>
            </a:solidFill>
            <a:prstDash val="solid"/>
          </a:ln>
        </p:spPr>
      </p:sp>
      <p:sp>
        <p:nvSpPr>
          <p:cNvPr id="24" name="Text 22"/>
          <p:cNvSpPr/>
          <p:nvPr/>
        </p:nvSpPr>
        <p:spPr>
          <a:xfrm>
            <a:off x="6108192" y="3081528"/>
            <a:ext cx="2551176" cy="692018"/>
          </a:xfrm>
          <a:prstGeom prst="rect">
            <a:avLst/>
          </a:prstGeom>
          <a:noFill/>
          <a:ln/>
        </p:spPr>
        <p:txBody>
          <a:bodyPr wrap="square" rtlCol="0" anchor="b"/>
          <a:lstStyle/>
          <a:p>
            <a:pPr marL="0" indent="0" algn="ctr">
              <a:buNone/>
            </a:pPr>
            <a:r>
              <a:rPr lang="en-US" sz="2400" b="1" dirty="0">
                <a:solidFill>
                  <a:srgbClr val="C0392B"/>
                </a:solidFill>
                <a:latin typeface="Calibri" pitchFamily="34" charset="0"/>
                <a:ea typeface="Calibri" pitchFamily="34" charset="-122"/>
                <a:cs typeface="Calibri" pitchFamily="34" charset="-120"/>
              </a:rPr>
              <a:t>10.8%</a:t>
            </a:r>
            <a:endParaRPr lang="en-US" sz="2400" dirty="0"/>
          </a:p>
        </p:txBody>
      </p:sp>
      <p:sp>
        <p:nvSpPr>
          <p:cNvPr id="25" name="Text 23"/>
          <p:cNvSpPr/>
          <p:nvPr/>
        </p:nvSpPr>
        <p:spPr>
          <a:xfrm>
            <a:off x="6163056" y="3753063"/>
            <a:ext cx="2441448" cy="692018"/>
          </a:xfrm>
          <a:prstGeom prst="rect">
            <a:avLst/>
          </a:prstGeom>
          <a:noFill/>
          <a:ln/>
        </p:spPr>
        <p:txBody>
          <a:bodyPr wrap="square" rtlCol="0" anchor="t"/>
          <a:lstStyle/>
          <a:p>
            <a:pPr marL="0" indent="0" algn="ctr">
              <a:lnSpc>
                <a:spcPct val="105000"/>
              </a:lnSpc>
              <a:buNone/>
            </a:pPr>
            <a:r>
              <a:rPr lang="en-US" sz="930" dirty="0">
                <a:solidFill>
                  <a:srgbClr val="C9D8E4"/>
                </a:solidFill>
                <a:latin typeface="Calibri" pitchFamily="34" charset="0"/>
                <a:ea typeface="Calibri" pitchFamily="34" charset="-122"/>
                <a:cs typeface="Calibri" pitchFamily="34" charset="-120"/>
              </a:rPr>
              <a:t>Customers With Real Network Problems</a:t>
            </a:r>
            <a:endParaRPr lang="en-US" sz="930" dirty="0"/>
          </a:p>
        </p:txBody>
      </p:sp>
      <p:sp>
        <p:nvSpPr>
          <p:cNvPr id="26" name="Shape 24"/>
          <p:cNvSpPr/>
          <p:nvPr/>
        </p:nvSpPr>
        <p:spPr>
          <a:xfrm>
            <a:off x="8860536" y="2935224"/>
            <a:ext cx="2697480" cy="1572768"/>
          </a:xfrm>
          <a:prstGeom prst="roundRect">
            <a:avLst>
              <a:gd name="adj" fmla="val 4070"/>
            </a:avLst>
          </a:prstGeom>
          <a:solidFill>
            <a:srgbClr val="10233A"/>
          </a:solidFill>
          <a:ln w="9525">
            <a:solidFill>
              <a:srgbClr val="1C3A56"/>
            </a:solidFill>
            <a:prstDash val="solid"/>
          </a:ln>
        </p:spPr>
      </p:sp>
      <p:sp>
        <p:nvSpPr>
          <p:cNvPr id="27" name="Text 25"/>
          <p:cNvSpPr/>
          <p:nvPr/>
        </p:nvSpPr>
        <p:spPr>
          <a:xfrm>
            <a:off x="8933688" y="3081528"/>
            <a:ext cx="2551176" cy="692018"/>
          </a:xfrm>
          <a:prstGeom prst="rect">
            <a:avLst/>
          </a:prstGeom>
          <a:noFill/>
          <a:ln/>
        </p:spPr>
        <p:txBody>
          <a:bodyPr wrap="square" rtlCol="0" anchor="b"/>
          <a:lstStyle/>
          <a:p>
            <a:pPr marL="0" indent="0" algn="ctr">
              <a:buNone/>
            </a:pPr>
            <a:r>
              <a:rPr lang="en-US" sz="2400" b="1" dirty="0">
                <a:solidFill>
                  <a:srgbClr val="0E7C7B"/>
                </a:solidFill>
                <a:latin typeface="Calibri" pitchFamily="34" charset="0"/>
                <a:ea typeface="Calibri" pitchFamily="34" charset="-122"/>
                <a:cs typeface="Calibri" pitchFamily="34" charset="-120"/>
              </a:rPr>
              <a:t>2</a:t>
            </a:r>
            <a:endParaRPr lang="en-US" sz="2400" dirty="0"/>
          </a:p>
        </p:txBody>
      </p:sp>
      <p:sp>
        <p:nvSpPr>
          <p:cNvPr id="28" name="Text 26"/>
          <p:cNvSpPr/>
          <p:nvPr/>
        </p:nvSpPr>
        <p:spPr>
          <a:xfrm>
            <a:off x="8988552" y="3753063"/>
            <a:ext cx="2441448" cy="692018"/>
          </a:xfrm>
          <a:prstGeom prst="rect">
            <a:avLst/>
          </a:prstGeom>
          <a:noFill/>
          <a:ln/>
        </p:spPr>
        <p:txBody>
          <a:bodyPr wrap="square" rtlCol="0" anchor="t"/>
          <a:lstStyle/>
          <a:p>
            <a:pPr marL="0" indent="0" algn="ctr">
              <a:lnSpc>
                <a:spcPct val="105000"/>
              </a:lnSpc>
              <a:buNone/>
            </a:pPr>
            <a:r>
              <a:rPr lang="en-US" sz="930" dirty="0">
                <a:solidFill>
                  <a:srgbClr val="C9D8E4"/>
                </a:solidFill>
                <a:latin typeface="Calibri" pitchFamily="34" charset="0"/>
                <a:ea typeface="Calibri" pitchFamily="34" charset="-122"/>
                <a:cs typeface="Calibri" pitchFamily="34" charset="-120"/>
              </a:rPr>
              <a:t>Data Suggests 2 Experience Tiers (Task-Specified: 3)</a:t>
            </a:r>
            <a:endParaRPr lang="en-US" sz="930" dirty="0"/>
          </a:p>
        </p:txBody>
      </p:sp>
      <p:sp>
        <p:nvSpPr>
          <p:cNvPr id="29" name="Shape 27"/>
          <p:cNvSpPr/>
          <p:nvPr/>
        </p:nvSpPr>
        <p:spPr>
          <a:xfrm>
            <a:off x="384048" y="4636008"/>
            <a:ext cx="2697480" cy="1572768"/>
          </a:xfrm>
          <a:prstGeom prst="roundRect">
            <a:avLst>
              <a:gd name="adj" fmla="val 4070"/>
            </a:avLst>
          </a:prstGeom>
          <a:solidFill>
            <a:srgbClr val="10233A"/>
          </a:solidFill>
          <a:ln w="9525">
            <a:solidFill>
              <a:srgbClr val="1C3A56"/>
            </a:solidFill>
            <a:prstDash val="solid"/>
          </a:ln>
        </p:spPr>
      </p:sp>
      <p:sp>
        <p:nvSpPr>
          <p:cNvPr id="30" name="Text 28"/>
          <p:cNvSpPr/>
          <p:nvPr/>
        </p:nvSpPr>
        <p:spPr>
          <a:xfrm>
            <a:off x="457200" y="4782312"/>
            <a:ext cx="2551176" cy="692018"/>
          </a:xfrm>
          <a:prstGeom prst="rect">
            <a:avLst/>
          </a:prstGeom>
          <a:noFill/>
          <a:ln/>
        </p:spPr>
        <p:txBody>
          <a:bodyPr wrap="square" rtlCol="0" anchor="b"/>
          <a:lstStyle/>
          <a:p>
            <a:pPr marL="0" indent="0" algn="ctr">
              <a:buNone/>
            </a:pPr>
            <a:r>
              <a:rPr lang="en-US" sz="2400" b="1" dirty="0">
                <a:solidFill>
                  <a:srgbClr val="2E8B57"/>
                </a:solidFill>
                <a:latin typeface="Calibri" pitchFamily="34" charset="0"/>
                <a:ea typeface="Calibri" pitchFamily="34" charset="-122"/>
                <a:cs typeface="Calibri" pitchFamily="34" charset="-120"/>
              </a:rPr>
              <a:t>72.7%</a:t>
            </a:r>
            <a:endParaRPr lang="en-US" sz="2400" dirty="0"/>
          </a:p>
        </p:txBody>
      </p:sp>
      <p:sp>
        <p:nvSpPr>
          <p:cNvPr id="31" name="Text 29"/>
          <p:cNvSpPr/>
          <p:nvPr/>
        </p:nvSpPr>
        <p:spPr>
          <a:xfrm>
            <a:off x="512064" y="5453847"/>
            <a:ext cx="2441448" cy="692018"/>
          </a:xfrm>
          <a:prstGeom prst="rect">
            <a:avLst/>
          </a:prstGeom>
          <a:noFill/>
          <a:ln/>
        </p:spPr>
        <p:txBody>
          <a:bodyPr wrap="square" rtlCol="0" anchor="t"/>
          <a:lstStyle/>
          <a:p>
            <a:pPr marL="0" indent="0" algn="ctr">
              <a:lnSpc>
                <a:spcPct val="105000"/>
              </a:lnSpc>
              <a:buNone/>
            </a:pPr>
            <a:r>
              <a:rPr lang="en-US" sz="930" dirty="0">
                <a:solidFill>
                  <a:srgbClr val="C9D8E4"/>
                </a:solidFill>
                <a:latin typeface="Calibri" pitchFamily="34" charset="0"/>
                <a:ea typeface="Calibri" pitchFamily="34" charset="-122"/>
                <a:cs typeface="Calibri" pitchFamily="34" charset="-120"/>
              </a:rPr>
              <a:t>Held Back Only by Poor Network Quality, Not Lower Usage</a:t>
            </a:r>
            <a:endParaRPr lang="en-US" sz="930" dirty="0"/>
          </a:p>
        </p:txBody>
      </p:sp>
      <p:sp>
        <p:nvSpPr>
          <p:cNvPr id="32" name="Shape 30"/>
          <p:cNvSpPr/>
          <p:nvPr/>
        </p:nvSpPr>
        <p:spPr>
          <a:xfrm>
            <a:off x="3209544" y="4636008"/>
            <a:ext cx="2697480" cy="1572768"/>
          </a:xfrm>
          <a:prstGeom prst="roundRect">
            <a:avLst>
              <a:gd name="adj" fmla="val 4070"/>
            </a:avLst>
          </a:prstGeom>
          <a:solidFill>
            <a:srgbClr val="10233A"/>
          </a:solidFill>
          <a:ln w="9525">
            <a:solidFill>
              <a:srgbClr val="1C3A56"/>
            </a:solidFill>
            <a:prstDash val="solid"/>
          </a:ln>
        </p:spPr>
      </p:sp>
      <p:sp>
        <p:nvSpPr>
          <p:cNvPr id="33" name="Text 31"/>
          <p:cNvSpPr/>
          <p:nvPr/>
        </p:nvSpPr>
        <p:spPr>
          <a:xfrm>
            <a:off x="3282696" y="4782312"/>
            <a:ext cx="2551176" cy="692018"/>
          </a:xfrm>
          <a:prstGeom prst="rect">
            <a:avLst/>
          </a:prstGeom>
          <a:noFill/>
          <a:ln/>
        </p:spPr>
        <p:txBody>
          <a:bodyPr wrap="square" rtlCol="0" anchor="b"/>
          <a:lstStyle/>
          <a:p>
            <a:pPr marL="0" indent="0" algn="ctr">
              <a:buNone/>
            </a:pPr>
            <a:r>
              <a:rPr lang="en-US" sz="2400" b="1" dirty="0">
                <a:solidFill>
                  <a:srgbClr val="0E7C7B"/>
                </a:solidFill>
                <a:latin typeface="Calibri" pitchFamily="34" charset="0"/>
                <a:ea typeface="Calibri" pitchFamily="34" charset="-122"/>
                <a:cs typeface="Calibri" pitchFamily="34" charset="-120"/>
              </a:rPr>
              <a:t>3</a:t>
            </a:r>
            <a:endParaRPr lang="en-US" sz="2400" dirty="0"/>
          </a:p>
        </p:txBody>
      </p:sp>
      <p:sp>
        <p:nvSpPr>
          <p:cNvPr id="34" name="Text 32"/>
          <p:cNvSpPr/>
          <p:nvPr/>
        </p:nvSpPr>
        <p:spPr>
          <a:xfrm>
            <a:off x="3337560" y="5453847"/>
            <a:ext cx="2441448" cy="692018"/>
          </a:xfrm>
          <a:prstGeom prst="rect">
            <a:avLst/>
          </a:prstGeom>
          <a:noFill/>
          <a:ln/>
        </p:spPr>
        <p:txBody>
          <a:bodyPr wrap="square" rtlCol="0" anchor="t"/>
          <a:lstStyle/>
          <a:p>
            <a:pPr marL="0" indent="0" algn="ctr">
              <a:lnSpc>
                <a:spcPct val="105000"/>
              </a:lnSpc>
              <a:buNone/>
            </a:pPr>
            <a:r>
              <a:rPr lang="en-US" sz="930" dirty="0">
                <a:solidFill>
                  <a:srgbClr val="C9D8E4"/>
                </a:solidFill>
                <a:latin typeface="Calibri" pitchFamily="34" charset="0"/>
                <a:ea typeface="Calibri" pitchFamily="34" charset="-122"/>
                <a:cs typeface="Calibri" pitchFamily="34" charset="-120"/>
              </a:rPr>
              <a:t>Data Suggests 3 Satisfaction Tiers (Task-Specified: 2)</a:t>
            </a:r>
            <a:endParaRPr lang="en-US" sz="930" dirty="0"/>
          </a:p>
        </p:txBody>
      </p:sp>
      <p:sp>
        <p:nvSpPr>
          <p:cNvPr id="35" name="Shape 33"/>
          <p:cNvSpPr/>
          <p:nvPr/>
        </p:nvSpPr>
        <p:spPr>
          <a:xfrm>
            <a:off x="6035040" y="4636008"/>
            <a:ext cx="2697480" cy="1572768"/>
          </a:xfrm>
          <a:prstGeom prst="roundRect">
            <a:avLst>
              <a:gd name="adj" fmla="val 4070"/>
            </a:avLst>
          </a:prstGeom>
          <a:solidFill>
            <a:srgbClr val="10233A"/>
          </a:solidFill>
          <a:ln w="9525">
            <a:solidFill>
              <a:srgbClr val="1C3A56"/>
            </a:solidFill>
            <a:prstDash val="solid"/>
          </a:ln>
        </p:spPr>
      </p:sp>
      <p:sp>
        <p:nvSpPr>
          <p:cNvPr id="36" name="Text 34"/>
          <p:cNvSpPr/>
          <p:nvPr/>
        </p:nvSpPr>
        <p:spPr>
          <a:xfrm>
            <a:off x="6108192" y="4782312"/>
            <a:ext cx="2551176" cy="692018"/>
          </a:xfrm>
          <a:prstGeom prst="rect">
            <a:avLst/>
          </a:prstGeom>
          <a:noFill/>
          <a:ln/>
        </p:spPr>
        <p:txBody>
          <a:bodyPr wrap="square" rtlCol="0" anchor="b"/>
          <a:lstStyle/>
          <a:p>
            <a:pPr marL="0" indent="0" algn="ctr">
              <a:buNone/>
            </a:pPr>
            <a:r>
              <a:rPr lang="en-US" sz="2400" b="1" dirty="0">
                <a:solidFill>
                  <a:srgbClr val="2E8B57"/>
                </a:solidFill>
                <a:latin typeface="Calibri" pitchFamily="34" charset="0"/>
                <a:ea typeface="Calibri" pitchFamily="34" charset="-122"/>
                <a:cs typeface="Calibri" pitchFamily="34" charset="-120"/>
              </a:rPr>
              <a:t>0.9935</a:t>
            </a:r>
            <a:endParaRPr lang="en-US" sz="2400" dirty="0"/>
          </a:p>
        </p:txBody>
      </p:sp>
      <p:sp>
        <p:nvSpPr>
          <p:cNvPr id="37" name="Text 35"/>
          <p:cNvSpPr/>
          <p:nvPr/>
        </p:nvSpPr>
        <p:spPr>
          <a:xfrm>
            <a:off x="6163056" y="5453847"/>
            <a:ext cx="2441448" cy="692018"/>
          </a:xfrm>
          <a:prstGeom prst="rect">
            <a:avLst/>
          </a:prstGeom>
          <a:noFill/>
          <a:ln/>
        </p:spPr>
        <p:txBody>
          <a:bodyPr wrap="square" rtlCol="0" anchor="t"/>
          <a:lstStyle/>
          <a:p>
            <a:pPr marL="0" indent="0" algn="ctr">
              <a:lnSpc>
                <a:spcPct val="105000"/>
              </a:lnSpc>
              <a:buNone/>
            </a:pPr>
            <a:r>
              <a:rPr lang="en-US" sz="930" dirty="0">
                <a:solidFill>
                  <a:srgbClr val="C9D8E4"/>
                </a:solidFill>
                <a:latin typeface="Calibri" pitchFamily="34" charset="0"/>
                <a:ea typeface="Calibri" pitchFamily="34" charset="-122"/>
                <a:cs typeface="Calibri" pitchFamily="34" charset="-120"/>
              </a:rPr>
              <a:t>Model Confirms the Satisfaction Score Is Reliable</a:t>
            </a:r>
            <a:endParaRPr lang="en-US" sz="930" dirty="0"/>
          </a:p>
        </p:txBody>
      </p:sp>
      <p:sp>
        <p:nvSpPr>
          <p:cNvPr id="38" name="Shape 36"/>
          <p:cNvSpPr/>
          <p:nvPr/>
        </p:nvSpPr>
        <p:spPr>
          <a:xfrm>
            <a:off x="8860536" y="4636008"/>
            <a:ext cx="2697480" cy="1572768"/>
          </a:xfrm>
          <a:prstGeom prst="roundRect">
            <a:avLst>
              <a:gd name="adj" fmla="val 4070"/>
            </a:avLst>
          </a:prstGeom>
          <a:solidFill>
            <a:srgbClr val="10233A"/>
          </a:solidFill>
          <a:ln w="22225">
            <a:solidFill>
              <a:srgbClr val="2E8B57"/>
            </a:solidFill>
            <a:prstDash val="solid"/>
          </a:ln>
        </p:spPr>
      </p:sp>
      <p:sp>
        <p:nvSpPr>
          <p:cNvPr id="39" name="Text 37"/>
          <p:cNvSpPr/>
          <p:nvPr/>
        </p:nvSpPr>
        <p:spPr>
          <a:xfrm>
            <a:off x="8933688" y="4782312"/>
            <a:ext cx="2551176" cy="692018"/>
          </a:xfrm>
          <a:prstGeom prst="rect">
            <a:avLst/>
          </a:prstGeom>
          <a:noFill/>
          <a:ln/>
        </p:spPr>
        <p:txBody>
          <a:bodyPr wrap="square" rtlCol="0" anchor="b"/>
          <a:lstStyle/>
          <a:p>
            <a:pPr marL="0" indent="0" algn="ctr">
              <a:buNone/>
            </a:pPr>
            <a:r>
              <a:rPr lang="en-US" sz="2000" b="1" dirty="0">
                <a:solidFill>
                  <a:srgbClr val="2E8B57"/>
                </a:solidFill>
                <a:latin typeface="Calibri" pitchFamily="34" charset="0"/>
                <a:ea typeface="Calibri" pitchFamily="34" charset="-122"/>
                <a:cs typeface="Calibri" pitchFamily="34" charset="-120"/>
              </a:rPr>
              <a:t>PURCHASE</a:t>
            </a:r>
            <a:endParaRPr lang="en-US" sz="2000" dirty="0"/>
          </a:p>
        </p:txBody>
      </p:sp>
      <p:sp>
        <p:nvSpPr>
          <p:cNvPr id="40" name="Text 38"/>
          <p:cNvSpPr/>
          <p:nvPr/>
        </p:nvSpPr>
        <p:spPr>
          <a:xfrm>
            <a:off x="8988552" y="5453847"/>
            <a:ext cx="2441448" cy="692018"/>
          </a:xfrm>
          <a:prstGeom prst="rect">
            <a:avLst/>
          </a:prstGeom>
          <a:noFill/>
          <a:ln/>
        </p:spPr>
        <p:txBody>
          <a:bodyPr wrap="square" rtlCol="0" anchor="t"/>
          <a:lstStyle/>
          <a:p>
            <a:pPr marL="0" indent="0" algn="ctr">
              <a:lnSpc>
                <a:spcPct val="105000"/>
              </a:lnSpc>
              <a:buNone/>
            </a:pPr>
            <a:r>
              <a:rPr lang="en-US" sz="930" dirty="0">
                <a:solidFill>
                  <a:srgbClr val="C9D8E4"/>
                </a:solidFill>
                <a:latin typeface="Calibri" pitchFamily="34" charset="0"/>
                <a:ea typeface="Calibri" pitchFamily="34" charset="-122"/>
                <a:cs typeface="Calibri" pitchFamily="34" charset="-120"/>
              </a:rPr>
              <a:t>Final Recommendation</a:t>
            </a:r>
            <a:endParaRPr lang="en-US" sz="930" dirty="0"/>
          </a:p>
        </p:txBody>
      </p:sp>
      <p:sp>
        <p:nvSpPr>
          <p:cNvPr id="41" name="Text 39"/>
          <p:cNvSpPr/>
          <p:nvPr/>
        </p:nvSpPr>
        <p:spPr>
          <a:xfrm>
            <a:off x="548640" y="6281928"/>
            <a:ext cx="11091672" cy="384048"/>
          </a:xfrm>
          <a:prstGeom prst="rect">
            <a:avLst/>
          </a:prstGeom>
          <a:noFill/>
          <a:ln/>
        </p:spPr>
        <p:txBody>
          <a:bodyPr wrap="square" rtlCol="0" anchor="ctr"/>
          <a:lstStyle/>
          <a:p>
            <a:pPr marL="0" indent="0" algn="ctr">
              <a:buNone/>
            </a:pPr>
            <a:r>
              <a:rPr lang="en-US" sz="1350" b="1" i="1" dirty="0">
                <a:solidFill>
                  <a:srgbClr val="FFFFFF"/>
                </a:solidFill>
                <a:latin typeface="Calibri" pitchFamily="34" charset="0"/>
                <a:ea typeface="Calibri" pitchFamily="34" charset="-122"/>
                <a:cs typeface="Calibri" pitchFamily="34" charset="-120"/>
              </a:rPr>
              <a:t>Same usage, different network quality — the uplink-reliability gap is the addressable investment lever.</a:t>
            </a:r>
            <a:endParaRPr lang="en-US" sz="1350" dirty="0"/>
          </a:p>
        </p:txBody>
      </p:sp>
      <p:sp>
        <p:nvSpPr>
          <p:cNvPr id="43" name="Text 40"/>
          <p:cNvSpPr/>
          <p:nvPr/>
        </p:nvSpPr>
        <p:spPr>
          <a:xfrm>
            <a:off x="11640312" y="6473952"/>
            <a:ext cx="365760" cy="274320"/>
          </a:xfrm>
          <a:prstGeom prst="rect">
            <a:avLst/>
          </a:prstGeom>
          <a:noFill/>
          <a:ln/>
        </p:spPr>
        <p:txBody>
          <a:bodyPr wrap="square" rtlCol="0" anchor="ctr"/>
          <a:lstStyle/>
          <a:p>
            <a:pPr marL="0" indent="0" algn="r">
              <a:buNone/>
            </a:pPr>
            <a:r>
              <a:rPr lang="en-US" sz="1000" dirty="0">
                <a:solidFill>
                  <a:srgbClr val="9AA7B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05B96"/>
          </a:solidFill>
          <a:ln/>
        </p:spPr>
      </p:sp>
      <p:sp>
        <p:nvSpPr>
          <p:cNvPr id="3" name="Text 1"/>
          <p:cNvSpPr/>
          <p:nvPr/>
        </p:nvSpPr>
        <p:spPr>
          <a:xfrm>
            <a:off x="457200" y="0"/>
            <a:ext cx="11274552" cy="896112"/>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Business Recommendation</a:t>
            </a:r>
            <a:endParaRPr lang="en-US" sz="2600" dirty="0"/>
          </a:p>
        </p:txBody>
      </p:sp>
      <p:sp>
        <p:nvSpPr>
          <p:cNvPr id="4" name="Shape 2"/>
          <p:cNvSpPr/>
          <p:nvPr/>
        </p:nvSpPr>
        <p:spPr>
          <a:xfrm>
            <a:off x="822960" y="1143000"/>
            <a:ext cx="10543032" cy="1051560"/>
          </a:xfrm>
          <a:prstGeom prst="roundRect">
            <a:avLst>
              <a:gd name="adj" fmla="val 8696"/>
            </a:avLst>
          </a:prstGeom>
          <a:solidFill>
            <a:srgbClr val="EAF7EA"/>
          </a:solidFill>
          <a:ln w="12700">
            <a:solidFill>
              <a:srgbClr val="BEE3C5"/>
            </a:solidFill>
            <a:prstDash val="solid"/>
          </a:ln>
        </p:spPr>
      </p:sp>
      <p:sp>
        <p:nvSpPr>
          <p:cNvPr id="5" name="Text 3"/>
          <p:cNvSpPr/>
          <p:nvPr/>
        </p:nvSpPr>
        <p:spPr>
          <a:xfrm>
            <a:off x="1005840" y="1234440"/>
            <a:ext cx="10177272" cy="868680"/>
          </a:xfrm>
          <a:prstGeom prst="rect">
            <a:avLst/>
          </a:prstGeom>
          <a:noFill/>
          <a:ln/>
        </p:spPr>
        <p:txBody>
          <a:bodyPr wrap="square" rtlCol="0" anchor="ctr"/>
          <a:lstStyle/>
          <a:p>
            <a:pPr marL="0" indent="0" algn="ctr">
              <a:buNone/>
            </a:pPr>
            <a:r>
              <a:rPr lang="en-US" sz="2000" b="1" dirty="0">
                <a:solidFill>
                  <a:srgbClr val="2E8B57"/>
                </a:solidFill>
                <a:latin typeface="Calibri" pitchFamily="34" charset="0"/>
                <a:ea typeface="Calibri" pitchFamily="34" charset="-122"/>
                <a:cs typeface="Calibri" pitchFamily="34" charset="-120"/>
              </a:rPr>
              <a:t>Growth Potential: POSITIVE — Contingent on Uplink Investment</a:t>
            </a:r>
            <a:endParaRPr lang="en-US" sz="2000" dirty="0"/>
          </a:p>
        </p:txBody>
      </p:sp>
      <p:sp>
        <p:nvSpPr>
          <p:cNvPr id="6" name="Shape 4"/>
          <p:cNvSpPr/>
          <p:nvPr/>
        </p:nvSpPr>
        <p:spPr>
          <a:xfrm>
            <a:off x="822960" y="2514600"/>
            <a:ext cx="2464308" cy="3200400"/>
          </a:xfrm>
          <a:prstGeom prst="roundRect">
            <a:avLst>
              <a:gd name="adj" fmla="val 2968"/>
            </a:avLst>
          </a:prstGeom>
          <a:solidFill>
            <a:srgbClr val="EAF4FC"/>
          </a:solidFill>
          <a:ln w="9525">
            <a:solidFill>
              <a:srgbClr val="D7E6F2"/>
            </a:solidFill>
            <a:prstDash val="solid"/>
          </a:ln>
        </p:spPr>
      </p:sp>
      <p:sp>
        <p:nvSpPr>
          <p:cNvPr id="7" name="Text 5"/>
          <p:cNvSpPr/>
          <p:nvPr/>
        </p:nvSpPr>
        <p:spPr>
          <a:xfrm>
            <a:off x="960120" y="2651760"/>
            <a:ext cx="2189988" cy="685800"/>
          </a:xfrm>
          <a:prstGeom prst="rect">
            <a:avLst/>
          </a:prstGeom>
          <a:noFill/>
          <a:ln/>
        </p:spPr>
        <p:txBody>
          <a:bodyPr wrap="square" rtlCol="0" anchor="t"/>
          <a:lstStyle/>
          <a:p>
            <a:pPr marL="0" indent="0">
              <a:buNone/>
            </a:pPr>
            <a:r>
              <a:rPr lang="en-US" sz="1250" b="1" dirty="0">
                <a:solidFill>
                  <a:srgbClr val="005B96"/>
                </a:solidFill>
                <a:latin typeface="Calibri" pitchFamily="34" charset="0"/>
                <a:ea typeface="Calibri" pitchFamily="34" charset="-122"/>
                <a:cs typeface="Calibri" pitchFamily="34" charset="-120"/>
              </a:rPr>
              <a:t>Broad, Well-Served Base</a:t>
            </a:r>
            <a:endParaRPr lang="en-US" sz="1250" dirty="0"/>
          </a:p>
        </p:txBody>
      </p:sp>
      <p:sp>
        <p:nvSpPr>
          <p:cNvPr id="8" name="Text 6"/>
          <p:cNvSpPr/>
          <p:nvPr/>
        </p:nvSpPr>
        <p:spPr>
          <a:xfrm>
            <a:off x="960120" y="3337560"/>
            <a:ext cx="2189988" cy="2423160"/>
          </a:xfrm>
          <a:prstGeom prst="rect">
            <a:avLst/>
          </a:prstGeom>
          <a:noFill/>
          <a:ln/>
        </p:spPr>
        <p:txBody>
          <a:bodyPr wrap="square" rtlCol="0" anchor="t"/>
          <a:lstStyle/>
          <a:p>
            <a:pPr marL="0" indent="0">
              <a:lnSpc>
                <a:spcPct val="112000"/>
              </a:lnSpc>
              <a:buNone/>
            </a:pPr>
            <a:r>
              <a:rPr lang="en-US" sz="970" dirty="0">
                <a:solidFill>
                  <a:srgbClr val="16232E"/>
                </a:solidFill>
                <a:latin typeface="Calibri" pitchFamily="34" charset="0"/>
                <a:ea typeface="Calibri" pitchFamily="34" charset="-122"/>
                <a:cs typeface="Calibri" pitchFamily="34" charset="-120"/>
              </a:rPr>
              <a:t>73.6% of customers show minimal network friction; engagement is comparable across both satisfaction segments — this is not a business in decline or facing diffuse churn.</a:t>
            </a:r>
            <a:endParaRPr lang="en-US" sz="970" dirty="0"/>
          </a:p>
        </p:txBody>
      </p:sp>
      <p:sp>
        <p:nvSpPr>
          <p:cNvPr id="9" name="Shape 7"/>
          <p:cNvSpPr/>
          <p:nvPr/>
        </p:nvSpPr>
        <p:spPr>
          <a:xfrm>
            <a:off x="3515868" y="2514600"/>
            <a:ext cx="2464308" cy="3200400"/>
          </a:xfrm>
          <a:prstGeom prst="roundRect">
            <a:avLst>
              <a:gd name="adj" fmla="val 2968"/>
            </a:avLst>
          </a:prstGeom>
          <a:solidFill>
            <a:srgbClr val="EAF4FC"/>
          </a:solidFill>
          <a:ln w="9525">
            <a:solidFill>
              <a:srgbClr val="D7E6F2"/>
            </a:solidFill>
            <a:prstDash val="solid"/>
          </a:ln>
        </p:spPr>
      </p:sp>
      <p:sp>
        <p:nvSpPr>
          <p:cNvPr id="10" name="Text 8"/>
          <p:cNvSpPr/>
          <p:nvPr/>
        </p:nvSpPr>
        <p:spPr>
          <a:xfrm>
            <a:off x="3653028" y="2651760"/>
            <a:ext cx="2189988" cy="685800"/>
          </a:xfrm>
          <a:prstGeom prst="rect">
            <a:avLst/>
          </a:prstGeom>
          <a:noFill/>
          <a:ln/>
        </p:spPr>
        <p:txBody>
          <a:bodyPr wrap="square" rtlCol="0" anchor="t"/>
          <a:lstStyle/>
          <a:p>
            <a:pPr marL="0" indent="0">
              <a:buNone/>
            </a:pPr>
            <a:r>
              <a:rPr lang="en-US" sz="1250" b="1" dirty="0">
                <a:solidFill>
                  <a:srgbClr val="005B96"/>
                </a:solidFill>
                <a:latin typeface="Calibri" pitchFamily="34" charset="0"/>
                <a:ea typeface="Calibri" pitchFamily="34" charset="-122"/>
                <a:cs typeface="Calibri" pitchFamily="34" charset="-120"/>
              </a:rPr>
              <a:t>One Identifiable Lever</a:t>
            </a:r>
            <a:endParaRPr lang="en-US" sz="1250" dirty="0"/>
          </a:p>
        </p:txBody>
      </p:sp>
      <p:sp>
        <p:nvSpPr>
          <p:cNvPr id="11" name="Text 9"/>
          <p:cNvSpPr/>
          <p:nvPr/>
        </p:nvSpPr>
        <p:spPr>
          <a:xfrm>
            <a:off x="3653028" y="3337560"/>
            <a:ext cx="2189988" cy="2423160"/>
          </a:xfrm>
          <a:prstGeom prst="rect">
            <a:avLst/>
          </a:prstGeom>
          <a:noFill/>
          <a:ln/>
        </p:spPr>
        <p:txBody>
          <a:bodyPr wrap="square" rtlCol="0" anchor="t"/>
          <a:lstStyle/>
          <a:p>
            <a:pPr marL="0" indent="0">
              <a:lnSpc>
                <a:spcPct val="112000"/>
              </a:lnSpc>
              <a:buNone/>
            </a:pPr>
            <a:r>
              <a:rPr lang="en-US" sz="970" dirty="0">
                <a:solidFill>
                  <a:srgbClr val="16232E"/>
                </a:solidFill>
                <a:latin typeface="Calibri" pitchFamily="34" charset="0"/>
                <a:ea typeface="Calibri" pitchFamily="34" charset="-122"/>
                <a:cs typeface="Calibri" pitchFamily="34" charset="-120"/>
              </a:rPr>
              <a:t>The 10.8% heaviest-uplink customers show the highest retransmission and worst uplink latency — and anchor the lower-satisfaction cluster despite engaging just as much as happier customers.</a:t>
            </a:r>
            <a:endParaRPr lang="en-US" sz="970" dirty="0"/>
          </a:p>
        </p:txBody>
      </p:sp>
      <p:sp>
        <p:nvSpPr>
          <p:cNvPr id="12" name="Shape 10"/>
          <p:cNvSpPr/>
          <p:nvPr/>
        </p:nvSpPr>
        <p:spPr>
          <a:xfrm>
            <a:off x="6208776" y="2514600"/>
            <a:ext cx="2464308" cy="3200400"/>
          </a:xfrm>
          <a:prstGeom prst="roundRect">
            <a:avLst>
              <a:gd name="adj" fmla="val 2968"/>
            </a:avLst>
          </a:prstGeom>
          <a:solidFill>
            <a:srgbClr val="EAF4FC"/>
          </a:solidFill>
          <a:ln w="9525">
            <a:solidFill>
              <a:srgbClr val="D7E6F2"/>
            </a:solidFill>
            <a:prstDash val="solid"/>
          </a:ln>
        </p:spPr>
      </p:sp>
      <p:sp>
        <p:nvSpPr>
          <p:cNvPr id="13" name="Text 11"/>
          <p:cNvSpPr/>
          <p:nvPr/>
        </p:nvSpPr>
        <p:spPr>
          <a:xfrm>
            <a:off x="6345936" y="2651760"/>
            <a:ext cx="2189988" cy="685800"/>
          </a:xfrm>
          <a:prstGeom prst="rect">
            <a:avLst/>
          </a:prstGeom>
          <a:noFill/>
          <a:ln/>
        </p:spPr>
        <p:txBody>
          <a:bodyPr wrap="square" rtlCol="0" anchor="t"/>
          <a:lstStyle/>
          <a:p>
            <a:pPr marL="0" indent="0">
              <a:buNone/>
            </a:pPr>
            <a:r>
              <a:rPr lang="en-US" sz="1250" b="1" dirty="0">
                <a:solidFill>
                  <a:srgbClr val="005B96"/>
                </a:solidFill>
                <a:latin typeface="Calibri" pitchFamily="34" charset="0"/>
                <a:ea typeface="Calibri" pitchFamily="34" charset="-122"/>
                <a:cs typeface="Calibri" pitchFamily="34" charset="-120"/>
              </a:rPr>
              <a:t>Targeted, Not Structural</a:t>
            </a:r>
            <a:endParaRPr lang="en-US" sz="1250" dirty="0"/>
          </a:p>
        </p:txBody>
      </p:sp>
      <p:sp>
        <p:nvSpPr>
          <p:cNvPr id="14" name="Text 12"/>
          <p:cNvSpPr/>
          <p:nvPr/>
        </p:nvSpPr>
        <p:spPr>
          <a:xfrm>
            <a:off x="6345936" y="3337560"/>
            <a:ext cx="2189988" cy="2423160"/>
          </a:xfrm>
          <a:prstGeom prst="rect">
            <a:avLst/>
          </a:prstGeom>
          <a:noFill/>
          <a:ln/>
        </p:spPr>
        <p:txBody>
          <a:bodyPr wrap="square" rtlCol="0" anchor="t"/>
          <a:lstStyle/>
          <a:p>
            <a:pPr marL="0" indent="0">
              <a:lnSpc>
                <a:spcPct val="112000"/>
              </a:lnSpc>
              <a:buNone/>
            </a:pPr>
            <a:r>
              <a:rPr lang="en-US" sz="970" dirty="0">
                <a:solidFill>
                  <a:srgbClr val="16232E"/>
                </a:solidFill>
                <a:latin typeface="Calibri" pitchFamily="34" charset="0"/>
                <a:ea typeface="Calibri" pitchFamily="34" charset="-122"/>
                <a:cs typeface="Calibri" pitchFamily="34" charset="-120"/>
              </a:rPr>
              <a:t>Improving uplink capacity/reliability specifically — not a costly network-wide overhaul — directly targets the segment most responsible for dissatisfaction.</a:t>
            </a:r>
            <a:endParaRPr lang="en-US" sz="970" dirty="0"/>
          </a:p>
        </p:txBody>
      </p:sp>
      <p:sp>
        <p:nvSpPr>
          <p:cNvPr id="15" name="Shape 13"/>
          <p:cNvSpPr/>
          <p:nvPr/>
        </p:nvSpPr>
        <p:spPr>
          <a:xfrm>
            <a:off x="8901684" y="2514600"/>
            <a:ext cx="2464308" cy="3200400"/>
          </a:xfrm>
          <a:prstGeom prst="roundRect">
            <a:avLst>
              <a:gd name="adj" fmla="val 2968"/>
            </a:avLst>
          </a:prstGeom>
          <a:solidFill>
            <a:srgbClr val="F3F5F7"/>
          </a:solidFill>
          <a:ln w="9525">
            <a:solidFill>
              <a:srgbClr val="D7E6F2"/>
            </a:solidFill>
            <a:prstDash val="solid"/>
          </a:ln>
        </p:spPr>
      </p:sp>
      <p:sp>
        <p:nvSpPr>
          <p:cNvPr id="16" name="Text 14"/>
          <p:cNvSpPr/>
          <p:nvPr/>
        </p:nvSpPr>
        <p:spPr>
          <a:xfrm>
            <a:off x="9038844" y="2651760"/>
            <a:ext cx="2189988" cy="685800"/>
          </a:xfrm>
          <a:prstGeom prst="rect">
            <a:avLst/>
          </a:prstGeom>
          <a:noFill/>
          <a:ln/>
        </p:spPr>
        <p:txBody>
          <a:bodyPr wrap="square" rtlCol="0" anchor="t"/>
          <a:lstStyle/>
          <a:p>
            <a:pPr marL="0" indent="0">
              <a:buNone/>
            </a:pPr>
            <a:r>
              <a:rPr lang="en-US" sz="1250" b="1" dirty="0">
                <a:solidFill>
                  <a:srgbClr val="56687A"/>
                </a:solidFill>
                <a:latin typeface="Calibri" pitchFamily="34" charset="0"/>
                <a:ea typeface="Calibri" pitchFamily="34" charset="-122"/>
                <a:cs typeface="Calibri" pitchFamily="34" charset="-120"/>
              </a:rPr>
              <a:t>One Open Question</a:t>
            </a:r>
            <a:endParaRPr lang="en-US" sz="1250" dirty="0"/>
          </a:p>
        </p:txBody>
      </p:sp>
      <p:sp>
        <p:nvSpPr>
          <p:cNvPr id="17" name="Text 15"/>
          <p:cNvSpPr/>
          <p:nvPr/>
        </p:nvSpPr>
        <p:spPr>
          <a:xfrm>
            <a:off x="9038844" y="3337560"/>
            <a:ext cx="2189988" cy="2423160"/>
          </a:xfrm>
          <a:prstGeom prst="rect">
            <a:avLst/>
          </a:prstGeom>
          <a:noFill/>
          <a:ln/>
        </p:spPr>
        <p:txBody>
          <a:bodyPr wrap="square" rtlCol="0" anchor="t"/>
          <a:lstStyle/>
          <a:p>
            <a:pPr marL="0" indent="0">
              <a:lnSpc>
                <a:spcPct val="112000"/>
              </a:lnSpc>
              <a:buNone/>
            </a:pPr>
            <a:r>
              <a:rPr lang="en-US" sz="970" dirty="0">
                <a:solidFill>
                  <a:srgbClr val="16232E"/>
                </a:solidFill>
                <a:latin typeface="Calibri" pitchFamily="34" charset="0"/>
                <a:ea typeface="Calibri" pitchFamily="34" charset="-122"/>
                <a:cs typeface="Calibri" pitchFamily="34" charset="-120"/>
              </a:rPr>
              <a:t>Huawei B528S-23A (most-used device) is consistent with router infrastructure, not a personal handset. Flagged for further investigation — not a factor driving this recommendation.</a:t>
            </a:r>
            <a:endParaRPr lang="en-US" sz="970" dirty="0"/>
          </a:p>
        </p:txBody>
      </p:sp>
      <p:sp>
        <p:nvSpPr>
          <p:cNvPr id="19" name="Text 16"/>
          <p:cNvSpPr/>
          <p:nvPr/>
        </p:nvSpPr>
        <p:spPr>
          <a:xfrm>
            <a:off x="11640312" y="6473952"/>
            <a:ext cx="365760" cy="274320"/>
          </a:xfrm>
          <a:prstGeom prst="rect">
            <a:avLst/>
          </a:prstGeom>
          <a:noFill/>
          <a:ln/>
        </p:spPr>
        <p:txBody>
          <a:bodyPr wrap="square" rtlCol="0" anchor="ctr"/>
          <a:lstStyle/>
          <a:p>
            <a:pPr marL="0" indent="0" algn="r">
              <a:buNone/>
            </a:pPr>
            <a:r>
              <a:rPr lang="en-US" sz="1000" dirty="0">
                <a:solidFill>
                  <a:srgbClr val="9AA7B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05B96"/>
          </a:solidFill>
          <a:ln/>
        </p:spPr>
      </p:sp>
      <p:sp>
        <p:nvSpPr>
          <p:cNvPr id="3" name="Text 1"/>
          <p:cNvSpPr/>
          <p:nvPr/>
        </p:nvSpPr>
        <p:spPr>
          <a:xfrm>
            <a:off x="457200" y="0"/>
            <a:ext cx="11274552" cy="896112"/>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Limitations — What This Analysis Cannot Tell You</a:t>
            </a:r>
            <a:endParaRPr lang="en-US" sz="2600" dirty="0"/>
          </a:p>
        </p:txBody>
      </p:sp>
      <p:sp>
        <p:nvSpPr>
          <p:cNvPr id="4" name="Shape 2"/>
          <p:cNvSpPr/>
          <p:nvPr/>
        </p:nvSpPr>
        <p:spPr>
          <a:xfrm>
            <a:off x="640080" y="1234440"/>
            <a:ext cx="3483864" cy="1965960"/>
          </a:xfrm>
          <a:prstGeom prst="roundRect">
            <a:avLst>
              <a:gd name="adj" fmla="val 3721"/>
            </a:avLst>
          </a:prstGeom>
          <a:solidFill>
            <a:srgbClr val="F3F5F7"/>
          </a:solidFill>
          <a:ln w="9525">
            <a:solidFill>
              <a:srgbClr val="E1E6EA"/>
            </a:solidFill>
            <a:prstDash val="solid"/>
          </a:ln>
        </p:spPr>
      </p:sp>
      <p:sp>
        <p:nvSpPr>
          <p:cNvPr id="5" name="Text 3"/>
          <p:cNvSpPr/>
          <p:nvPr/>
        </p:nvSpPr>
        <p:spPr>
          <a:xfrm>
            <a:off x="777240" y="1325880"/>
            <a:ext cx="3209544" cy="457200"/>
          </a:xfrm>
          <a:prstGeom prst="rect">
            <a:avLst/>
          </a:prstGeom>
          <a:noFill/>
          <a:ln/>
        </p:spPr>
        <p:txBody>
          <a:bodyPr wrap="square" rtlCol="0" anchor="t"/>
          <a:lstStyle/>
          <a:p>
            <a:pPr marL="0" indent="0">
              <a:buNone/>
            </a:pPr>
            <a:r>
              <a:rPr lang="en-US" sz="1150" b="1" dirty="0">
                <a:solidFill>
                  <a:srgbClr val="16232E"/>
                </a:solidFill>
                <a:latin typeface="Calibri" pitchFamily="34" charset="0"/>
                <a:ea typeface="Calibri" pitchFamily="34" charset="-122"/>
                <a:cs typeface="Calibri" pitchFamily="34" charset="-120"/>
              </a:rPr>
              <a:t>Single-Session Bias</a:t>
            </a:r>
            <a:endParaRPr lang="en-US" sz="1150" dirty="0"/>
          </a:p>
        </p:txBody>
      </p:sp>
      <p:sp>
        <p:nvSpPr>
          <p:cNvPr id="6" name="Text 4"/>
          <p:cNvSpPr/>
          <p:nvPr/>
        </p:nvSpPr>
        <p:spPr>
          <a:xfrm>
            <a:off x="777240" y="1764792"/>
            <a:ext cx="3209544" cy="1325880"/>
          </a:xfrm>
          <a:prstGeom prst="rect">
            <a:avLst/>
          </a:prstGeom>
          <a:noFill/>
          <a:ln/>
        </p:spPr>
        <p:txBody>
          <a:bodyPr wrap="square" rtlCol="0" anchor="t"/>
          <a:lstStyle/>
          <a:p>
            <a:pPr marL="0" indent="0">
              <a:lnSpc>
                <a:spcPct val="110000"/>
              </a:lnSpc>
              <a:buNone/>
            </a:pPr>
            <a:r>
              <a:rPr lang="en-US" sz="930" dirty="0">
                <a:solidFill>
                  <a:srgbClr val="56687A"/>
                </a:solidFill>
                <a:latin typeface="Calibri" pitchFamily="34" charset="0"/>
                <a:ea typeface="Calibri" pitchFamily="34" charset="-122"/>
                <a:cs typeface="Calibri" pitchFamily="34" charset="-120"/>
              </a:rPr>
              <a:t>72.74% of customers have exactly one recorded session — every “average” for them is really one raw reading, not genuine behavior over time.</a:t>
            </a:r>
            <a:endParaRPr lang="en-US" sz="930" dirty="0"/>
          </a:p>
        </p:txBody>
      </p:sp>
      <p:sp>
        <p:nvSpPr>
          <p:cNvPr id="7" name="Shape 5"/>
          <p:cNvSpPr/>
          <p:nvPr/>
        </p:nvSpPr>
        <p:spPr>
          <a:xfrm>
            <a:off x="4352544" y="1234440"/>
            <a:ext cx="3483864" cy="1965960"/>
          </a:xfrm>
          <a:prstGeom prst="roundRect">
            <a:avLst>
              <a:gd name="adj" fmla="val 3721"/>
            </a:avLst>
          </a:prstGeom>
          <a:solidFill>
            <a:srgbClr val="F3F5F7"/>
          </a:solidFill>
          <a:ln w="9525">
            <a:solidFill>
              <a:srgbClr val="E1E6EA"/>
            </a:solidFill>
            <a:prstDash val="solid"/>
          </a:ln>
        </p:spPr>
      </p:sp>
      <p:sp>
        <p:nvSpPr>
          <p:cNvPr id="8" name="Text 6"/>
          <p:cNvSpPr/>
          <p:nvPr/>
        </p:nvSpPr>
        <p:spPr>
          <a:xfrm>
            <a:off x="4489704" y="1325880"/>
            <a:ext cx="3209544" cy="457200"/>
          </a:xfrm>
          <a:prstGeom prst="rect">
            <a:avLst/>
          </a:prstGeom>
          <a:noFill/>
          <a:ln/>
        </p:spPr>
        <p:txBody>
          <a:bodyPr wrap="square" rtlCol="0" anchor="t"/>
          <a:lstStyle/>
          <a:p>
            <a:pPr marL="0" indent="0">
              <a:buNone/>
            </a:pPr>
            <a:r>
              <a:rPr lang="en-US" sz="1150" b="1" dirty="0">
                <a:solidFill>
                  <a:srgbClr val="16232E"/>
                </a:solidFill>
                <a:latin typeface="Calibri" pitchFamily="34" charset="0"/>
                <a:ea typeface="Calibri" pitchFamily="34" charset="-122"/>
                <a:cs typeface="Calibri" pitchFamily="34" charset="-120"/>
              </a:rPr>
              <a:t>Huawei B528S-23A — Unresolved</a:t>
            </a:r>
            <a:endParaRPr lang="en-US" sz="1150" dirty="0"/>
          </a:p>
        </p:txBody>
      </p:sp>
      <p:sp>
        <p:nvSpPr>
          <p:cNvPr id="9" name="Text 7"/>
          <p:cNvSpPr/>
          <p:nvPr/>
        </p:nvSpPr>
        <p:spPr>
          <a:xfrm>
            <a:off x="4489704" y="1764792"/>
            <a:ext cx="3209544" cy="1325880"/>
          </a:xfrm>
          <a:prstGeom prst="rect">
            <a:avLst/>
          </a:prstGeom>
          <a:noFill/>
          <a:ln/>
        </p:spPr>
        <p:txBody>
          <a:bodyPr wrap="square" rtlCol="0" anchor="t"/>
          <a:lstStyle/>
          <a:p>
            <a:pPr marL="0" indent="0">
              <a:lnSpc>
                <a:spcPct val="110000"/>
              </a:lnSpc>
              <a:buNone/>
            </a:pPr>
            <a:r>
              <a:rPr lang="en-US" sz="930" dirty="0">
                <a:solidFill>
                  <a:srgbClr val="56687A"/>
                </a:solidFill>
                <a:latin typeface="Calibri" pitchFamily="34" charset="0"/>
                <a:ea typeface="Calibri" pitchFamily="34" charset="-122"/>
                <a:cs typeface="Calibri" pitchFamily="34" charset="-120"/>
              </a:rPr>
              <a:t>Consistent with router infrastructure, not a personal handset. Traffic-per-session check found no difference (1.00x) — inconclusive, not resolved.</a:t>
            </a:r>
            <a:endParaRPr lang="en-US" sz="930" dirty="0"/>
          </a:p>
        </p:txBody>
      </p:sp>
      <p:sp>
        <p:nvSpPr>
          <p:cNvPr id="10" name="Shape 8"/>
          <p:cNvSpPr/>
          <p:nvPr/>
        </p:nvSpPr>
        <p:spPr>
          <a:xfrm>
            <a:off x="8065008" y="1234440"/>
            <a:ext cx="3483864" cy="1965960"/>
          </a:xfrm>
          <a:prstGeom prst="roundRect">
            <a:avLst>
              <a:gd name="adj" fmla="val 3721"/>
            </a:avLst>
          </a:prstGeom>
          <a:solidFill>
            <a:srgbClr val="F3F5F7"/>
          </a:solidFill>
          <a:ln w="9525">
            <a:solidFill>
              <a:srgbClr val="E1E6EA"/>
            </a:solidFill>
            <a:prstDash val="solid"/>
          </a:ln>
        </p:spPr>
      </p:sp>
      <p:sp>
        <p:nvSpPr>
          <p:cNvPr id="11" name="Text 9"/>
          <p:cNvSpPr/>
          <p:nvPr/>
        </p:nvSpPr>
        <p:spPr>
          <a:xfrm>
            <a:off x="8202168" y="1325880"/>
            <a:ext cx="3209544" cy="457200"/>
          </a:xfrm>
          <a:prstGeom prst="rect">
            <a:avLst/>
          </a:prstGeom>
          <a:noFill/>
          <a:ln/>
        </p:spPr>
        <p:txBody>
          <a:bodyPr wrap="square" rtlCol="0" anchor="t"/>
          <a:lstStyle/>
          <a:p>
            <a:pPr marL="0" indent="0">
              <a:buNone/>
            </a:pPr>
            <a:r>
              <a:rPr lang="en-US" sz="1150" b="1" dirty="0">
                <a:solidFill>
                  <a:srgbClr val="16232E"/>
                </a:solidFill>
                <a:latin typeface="Calibri" pitchFamily="34" charset="0"/>
                <a:ea typeface="Calibri" pitchFamily="34" charset="-122"/>
                <a:cs typeface="Calibri" pitchFamily="34" charset="-120"/>
              </a:rPr>
              <a:t>Satisfaction Model Circularity</a:t>
            </a:r>
            <a:endParaRPr lang="en-US" sz="1150" dirty="0"/>
          </a:p>
        </p:txBody>
      </p:sp>
      <p:sp>
        <p:nvSpPr>
          <p:cNvPr id="12" name="Text 10"/>
          <p:cNvSpPr/>
          <p:nvPr/>
        </p:nvSpPr>
        <p:spPr>
          <a:xfrm>
            <a:off x="8202168" y="1764792"/>
            <a:ext cx="3209544" cy="1325880"/>
          </a:xfrm>
          <a:prstGeom prst="rect">
            <a:avLst/>
          </a:prstGeom>
          <a:noFill/>
          <a:ln/>
        </p:spPr>
        <p:txBody>
          <a:bodyPr wrap="square" rtlCol="0" anchor="t"/>
          <a:lstStyle/>
          <a:p>
            <a:pPr marL="0" indent="0">
              <a:lnSpc>
                <a:spcPct val="110000"/>
              </a:lnSpc>
              <a:buNone/>
            </a:pPr>
            <a:r>
              <a:rPr lang="en-US" sz="930" dirty="0">
                <a:solidFill>
                  <a:srgbClr val="56687A"/>
                </a:solidFill>
                <a:latin typeface="Calibri" pitchFamily="34" charset="0"/>
                <a:ea typeface="Calibri" pitchFamily="34" charset="-122"/>
                <a:cs typeface="Calibri" pitchFamily="34" charset="-120"/>
              </a:rPr>
              <a:t>Satisfaction Score is a deterministic formula built from Engagement + Experience. High model R² reflects formula reconstruction, not independent prediction.</a:t>
            </a:r>
            <a:endParaRPr lang="en-US" sz="930" dirty="0"/>
          </a:p>
        </p:txBody>
      </p:sp>
      <p:sp>
        <p:nvSpPr>
          <p:cNvPr id="13" name="Shape 11"/>
          <p:cNvSpPr/>
          <p:nvPr/>
        </p:nvSpPr>
        <p:spPr>
          <a:xfrm>
            <a:off x="640080" y="3429000"/>
            <a:ext cx="3483864" cy="1965960"/>
          </a:xfrm>
          <a:prstGeom prst="roundRect">
            <a:avLst>
              <a:gd name="adj" fmla="val 3721"/>
            </a:avLst>
          </a:prstGeom>
          <a:solidFill>
            <a:srgbClr val="F3F5F7"/>
          </a:solidFill>
          <a:ln w="9525">
            <a:solidFill>
              <a:srgbClr val="E1E6EA"/>
            </a:solidFill>
            <a:prstDash val="solid"/>
          </a:ln>
        </p:spPr>
      </p:sp>
      <p:sp>
        <p:nvSpPr>
          <p:cNvPr id="14" name="Text 12"/>
          <p:cNvSpPr/>
          <p:nvPr/>
        </p:nvSpPr>
        <p:spPr>
          <a:xfrm>
            <a:off x="777240" y="3520440"/>
            <a:ext cx="3209544" cy="457200"/>
          </a:xfrm>
          <a:prstGeom prst="rect">
            <a:avLst/>
          </a:prstGeom>
          <a:noFill/>
          <a:ln/>
        </p:spPr>
        <p:txBody>
          <a:bodyPr wrap="square" rtlCol="0" anchor="t"/>
          <a:lstStyle/>
          <a:p>
            <a:pPr marL="0" indent="0">
              <a:buNone/>
            </a:pPr>
            <a:r>
              <a:rPr lang="en-US" sz="1150" b="1" dirty="0">
                <a:solidFill>
                  <a:srgbClr val="16232E"/>
                </a:solidFill>
                <a:latin typeface="Calibri" pitchFamily="34" charset="0"/>
                <a:ea typeface="Calibri" pitchFamily="34" charset="-122"/>
                <a:cs typeface="Calibri" pitchFamily="34" charset="-120"/>
              </a:rPr>
              <a:t>Fixed Cluster Counts</a:t>
            </a:r>
            <a:endParaRPr lang="en-US" sz="1150" dirty="0"/>
          </a:p>
        </p:txBody>
      </p:sp>
      <p:sp>
        <p:nvSpPr>
          <p:cNvPr id="15" name="Text 13"/>
          <p:cNvSpPr/>
          <p:nvPr/>
        </p:nvSpPr>
        <p:spPr>
          <a:xfrm>
            <a:off x="777240" y="3959352"/>
            <a:ext cx="3209544" cy="1325880"/>
          </a:xfrm>
          <a:prstGeom prst="rect">
            <a:avLst/>
          </a:prstGeom>
          <a:noFill/>
          <a:ln/>
        </p:spPr>
        <p:txBody>
          <a:bodyPr wrap="square" rtlCol="0" anchor="t"/>
          <a:lstStyle/>
          <a:p>
            <a:pPr marL="0" indent="0">
              <a:lnSpc>
                <a:spcPct val="110000"/>
              </a:lnSpc>
              <a:buNone/>
            </a:pPr>
            <a:r>
              <a:rPr lang="en-US" sz="930" dirty="0">
                <a:solidFill>
                  <a:srgbClr val="56687A"/>
                </a:solidFill>
                <a:latin typeface="Calibri" pitchFamily="34" charset="0"/>
                <a:ea typeface="Calibri" pitchFamily="34" charset="-122"/>
                <a:cs typeface="Calibri" pitchFamily="34" charset="-120"/>
              </a:rPr>
              <a:t>All three K-Means runs (k=3, k=3, k=2) used brief-specified values. Elbow checks pointed elsewhere in every case — reported transparently, not overridden.</a:t>
            </a:r>
            <a:endParaRPr lang="en-US" sz="930" dirty="0"/>
          </a:p>
        </p:txBody>
      </p:sp>
      <p:sp>
        <p:nvSpPr>
          <p:cNvPr id="16" name="Shape 14"/>
          <p:cNvSpPr/>
          <p:nvPr/>
        </p:nvSpPr>
        <p:spPr>
          <a:xfrm>
            <a:off x="4352544" y="3429000"/>
            <a:ext cx="3483864" cy="1965960"/>
          </a:xfrm>
          <a:prstGeom prst="roundRect">
            <a:avLst>
              <a:gd name="adj" fmla="val 3721"/>
            </a:avLst>
          </a:prstGeom>
          <a:solidFill>
            <a:srgbClr val="F3F5F7"/>
          </a:solidFill>
          <a:ln w="9525">
            <a:solidFill>
              <a:srgbClr val="E1E6EA"/>
            </a:solidFill>
            <a:prstDash val="solid"/>
          </a:ln>
        </p:spPr>
      </p:sp>
      <p:sp>
        <p:nvSpPr>
          <p:cNvPr id="17" name="Text 15"/>
          <p:cNvSpPr/>
          <p:nvPr/>
        </p:nvSpPr>
        <p:spPr>
          <a:xfrm>
            <a:off x="4489704" y="3520440"/>
            <a:ext cx="3209544" cy="457200"/>
          </a:xfrm>
          <a:prstGeom prst="rect">
            <a:avLst/>
          </a:prstGeom>
          <a:noFill/>
          <a:ln/>
        </p:spPr>
        <p:txBody>
          <a:bodyPr wrap="square" rtlCol="0" anchor="t"/>
          <a:lstStyle/>
          <a:p>
            <a:pPr marL="0" indent="0">
              <a:buNone/>
            </a:pPr>
            <a:r>
              <a:rPr lang="en-US" sz="1150" b="1" dirty="0">
                <a:solidFill>
                  <a:srgbClr val="16232E"/>
                </a:solidFill>
                <a:latin typeface="Calibri" pitchFamily="34" charset="0"/>
                <a:ea typeface="Calibri" pitchFamily="34" charset="-122"/>
                <a:cs typeface="Calibri" pitchFamily="34" charset="-120"/>
              </a:rPr>
              <a:t>Noisy Handset-Level Averages</a:t>
            </a:r>
            <a:endParaRPr lang="en-US" sz="1150" dirty="0"/>
          </a:p>
        </p:txBody>
      </p:sp>
      <p:sp>
        <p:nvSpPr>
          <p:cNvPr id="18" name="Text 16"/>
          <p:cNvSpPr/>
          <p:nvPr/>
        </p:nvSpPr>
        <p:spPr>
          <a:xfrm>
            <a:off x="4489704" y="3959352"/>
            <a:ext cx="3209544" cy="1325880"/>
          </a:xfrm>
          <a:prstGeom prst="rect">
            <a:avLst/>
          </a:prstGeom>
          <a:noFill/>
          <a:ln/>
        </p:spPr>
        <p:txBody>
          <a:bodyPr wrap="square" rtlCol="0" anchor="t"/>
          <a:lstStyle/>
          <a:p>
            <a:pPr marL="0" indent="0">
              <a:lnSpc>
                <a:spcPct val="110000"/>
              </a:lnSpc>
              <a:buNone/>
            </a:pPr>
            <a:r>
              <a:rPr lang="en-US" sz="930" dirty="0">
                <a:solidFill>
                  <a:srgbClr val="56687A"/>
                </a:solidFill>
                <a:latin typeface="Calibri" pitchFamily="34" charset="0"/>
                <a:ea typeface="Calibri" pitchFamily="34" charset="-122"/>
                <a:cs typeface="Calibri" pitchFamily="34" charset="-120"/>
              </a:rPr>
              <a:t>591 of 1,391 handset types have exactly one customer. Thresholds (≥30) manage this, but any handset-level view carries this constraint.</a:t>
            </a:r>
            <a:endParaRPr lang="en-US" sz="930" dirty="0"/>
          </a:p>
        </p:txBody>
      </p:sp>
      <p:sp>
        <p:nvSpPr>
          <p:cNvPr id="19" name="Shape 17"/>
          <p:cNvSpPr/>
          <p:nvPr/>
        </p:nvSpPr>
        <p:spPr>
          <a:xfrm>
            <a:off x="8065008" y="3429000"/>
            <a:ext cx="3483864" cy="1965960"/>
          </a:xfrm>
          <a:prstGeom prst="roundRect">
            <a:avLst>
              <a:gd name="adj" fmla="val 3721"/>
            </a:avLst>
          </a:prstGeom>
          <a:solidFill>
            <a:srgbClr val="F3F5F7"/>
          </a:solidFill>
          <a:ln w="9525">
            <a:solidFill>
              <a:srgbClr val="E1E6EA"/>
            </a:solidFill>
            <a:prstDash val="solid"/>
          </a:ln>
        </p:spPr>
      </p:sp>
      <p:sp>
        <p:nvSpPr>
          <p:cNvPr id="20" name="Text 18"/>
          <p:cNvSpPr/>
          <p:nvPr/>
        </p:nvSpPr>
        <p:spPr>
          <a:xfrm>
            <a:off x="8202168" y="3520440"/>
            <a:ext cx="3209544" cy="457200"/>
          </a:xfrm>
          <a:prstGeom prst="rect">
            <a:avLst/>
          </a:prstGeom>
          <a:noFill/>
          <a:ln/>
        </p:spPr>
        <p:txBody>
          <a:bodyPr wrap="square" rtlCol="0" anchor="t"/>
          <a:lstStyle/>
          <a:p>
            <a:pPr marL="0" indent="0">
              <a:buNone/>
            </a:pPr>
            <a:r>
              <a:rPr lang="en-US" sz="1150" b="1" dirty="0">
                <a:solidFill>
                  <a:srgbClr val="16232E"/>
                </a:solidFill>
                <a:latin typeface="Calibri" pitchFamily="34" charset="0"/>
                <a:ea typeface="Calibri" pitchFamily="34" charset="-122"/>
                <a:cs typeface="Calibri" pitchFamily="34" charset="-120"/>
              </a:rPr>
              <a:t>One Month, No Trend Visibility</a:t>
            </a:r>
            <a:endParaRPr lang="en-US" sz="1150" dirty="0"/>
          </a:p>
        </p:txBody>
      </p:sp>
      <p:sp>
        <p:nvSpPr>
          <p:cNvPr id="21" name="Text 19"/>
          <p:cNvSpPr/>
          <p:nvPr/>
        </p:nvSpPr>
        <p:spPr>
          <a:xfrm>
            <a:off x="8202168" y="3959352"/>
            <a:ext cx="3209544" cy="1325880"/>
          </a:xfrm>
          <a:prstGeom prst="rect">
            <a:avLst/>
          </a:prstGeom>
          <a:noFill/>
          <a:ln/>
        </p:spPr>
        <p:txBody>
          <a:bodyPr wrap="square" rtlCol="0" anchor="t"/>
          <a:lstStyle/>
          <a:p>
            <a:pPr marL="0" indent="0">
              <a:lnSpc>
                <a:spcPct val="110000"/>
              </a:lnSpc>
              <a:buNone/>
            </a:pPr>
            <a:r>
              <a:rPr lang="en-US" sz="930" dirty="0">
                <a:solidFill>
                  <a:srgbClr val="56687A"/>
                </a:solidFill>
                <a:latin typeface="Calibri" pitchFamily="34" charset="0"/>
                <a:ea typeface="Calibri" pitchFamily="34" charset="-122"/>
                <a:cs typeface="Calibri" pitchFamily="34" charset="-120"/>
              </a:rPr>
              <a:t>A single aggregated month cannot speak to seasonality, trend direction, or whether patterns are stable, improving, or worsening.</a:t>
            </a:r>
            <a:endParaRPr lang="en-US" sz="930" dirty="0"/>
          </a:p>
        </p:txBody>
      </p:sp>
      <p:sp>
        <p:nvSpPr>
          <p:cNvPr id="23" name="Text 20"/>
          <p:cNvSpPr/>
          <p:nvPr/>
        </p:nvSpPr>
        <p:spPr>
          <a:xfrm>
            <a:off x="11640312" y="6473952"/>
            <a:ext cx="365760" cy="274320"/>
          </a:xfrm>
          <a:prstGeom prst="rect">
            <a:avLst/>
          </a:prstGeom>
          <a:noFill/>
          <a:ln/>
        </p:spPr>
        <p:txBody>
          <a:bodyPr wrap="square" rtlCol="0" anchor="ctr"/>
          <a:lstStyle/>
          <a:p>
            <a:pPr marL="0" indent="0" algn="r">
              <a:buNone/>
            </a:pPr>
            <a:r>
              <a:rPr lang="en-US" sz="1000" dirty="0">
                <a:solidFill>
                  <a:srgbClr val="9AA7B4"/>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05B96"/>
          </a:solidFill>
          <a:ln/>
        </p:spPr>
      </p:sp>
      <p:sp>
        <p:nvSpPr>
          <p:cNvPr id="3" name="Text 1"/>
          <p:cNvSpPr/>
          <p:nvPr/>
        </p:nvSpPr>
        <p:spPr>
          <a:xfrm>
            <a:off x="457200" y="0"/>
            <a:ext cx="11274552" cy="896112"/>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Project Challenges &amp; Key Learnings</a:t>
            </a:r>
            <a:endParaRPr lang="en-US" sz="2600" dirty="0"/>
          </a:p>
        </p:txBody>
      </p:sp>
      <p:sp>
        <p:nvSpPr>
          <p:cNvPr id="4" name="Shape 2"/>
          <p:cNvSpPr/>
          <p:nvPr/>
        </p:nvSpPr>
        <p:spPr>
          <a:xfrm>
            <a:off x="640080" y="1234440"/>
            <a:ext cx="3483864" cy="2514600"/>
          </a:xfrm>
          <a:prstGeom prst="roundRect">
            <a:avLst>
              <a:gd name="adj" fmla="val 2909"/>
            </a:avLst>
          </a:prstGeom>
          <a:solidFill>
            <a:srgbClr val="F3F5F7"/>
          </a:solidFill>
          <a:ln w="9525">
            <a:solidFill>
              <a:srgbClr val="E1E6EA"/>
            </a:solidFill>
            <a:prstDash val="solid"/>
          </a:ln>
        </p:spPr>
      </p:sp>
      <p:sp>
        <p:nvSpPr>
          <p:cNvPr id="5" name="Text 3"/>
          <p:cNvSpPr/>
          <p:nvPr/>
        </p:nvSpPr>
        <p:spPr>
          <a:xfrm>
            <a:off x="786384" y="1325880"/>
            <a:ext cx="3191256" cy="292608"/>
          </a:xfrm>
          <a:prstGeom prst="rect">
            <a:avLst/>
          </a:prstGeom>
          <a:noFill/>
          <a:ln/>
        </p:spPr>
        <p:txBody>
          <a:bodyPr wrap="square"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Challenge 1 — Integer Overflow</a:t>
            </a:r>
            <a:endParaRPr lang="en-US" sz="1150" dirty="0"/>
          </a:p>
        </p:txBody>
      </p:sp>
      <p:sp>
        <p:nvSpPr>
          <p:cNvPr id="6" name="Text 4"/>
          <p:cNvSpPr/>
          <p:nvPr/>
        </p:nvSpPr>
        <p:spPr>
          <a:xfrm>
            <a:off x="786384" y="1618488"/>
            <a:ext cx="3191256" cy="1056132"/>
          </a:xfrm>
          <a:prstGeom prst="rect">
            <a:avLst/>
          </a:prstGeom>
          <a:noFill/>
          <a:ln/>
        </p:spPr>
        <p:txBody>
          <a:bodyPr wrap="square" rtlCol="0" anchor="t"/>
          <a:lstStyle/>
          <a:p>
            <a:pPr marL="0" indent="0">
              <a:lnSpc>
                <a:spcPct val="105000"/>
              </a:lnSpc>
              <a:buNone/>
            </a:pPr>
            <a:r>
              <a:rPr lang="en-US" sz="970" b="1" dirty="0">
                <a:solidFill>
                  <a:srgbClr val="C0392B"/>
                </a:solidFill>
                <a:latin typeface="Calibri" pitchFamily="34" charset="0"/>
                <a:ea typeface="Calibri" pitchFamily="34" charset="-122"/>
                <a:cs typeface="Calibri" pitchFamily="34" charset="-120"/>
              </a:rPr>
              <a:t>Challenge: </a:t>
            </a:r>
            <a:r>
              <a:rPr lang="en-US" sz="970" dirty="0">
                <a:solidFill>
                  <a:srgbClr val="16232E"/>
                </a:solidFill>
                <a:latin typeface="Calibri" pitchFamily="34" charset="0"/>
                <a:ea typeface="Calibri" pitchFamily="34" charset="-122"/>
                <a:cs typeface="Calibri" pitchFamily="34" charset="-120"/>
              </a:rPr>
              <a:t>Bearer Id (~1.31e19) silently overflowed int64 (max ~9.22e18) when cast alongside genuine identifiers.</a:t>
            </a:r>
            <a:endParaRPr lang="en-US" sz="970" dirty="0"/>
          </a:p>
        </p:txBody>
      </p:sp>
      <p:sp>
        <p:nvSpPr>
          <p:cNvPr id="7" name="Text 5"/>
          <p:cNvSpPr/>
          <p:nvPr/>
        </p:nvSpPr>
        <p:spPr>
          <a:xfrm>
            <a:off x="786384" y="2642616"/>
            <a:ext cx="3191256" cy="1056132"/>
          </a:xfrm>
          <a:prstGeom prst="rect">
            <a:avLst/>
          </a:prstGeom>
          <a:noFill/>
          <a:ln/>
        </p:spPr>
        <p:txBody>
          <a:bodyPr wrap="square" rtlCol="0" anchor="t"/>
          <a:lstStyle/>
          <a:p>
            <a:pPr marL="0" indent="0">
              <a:lnSpc>
                <a:spcPct val="105000"/>
              </a:lnSpc>
              <a:buNone/>
            </a:pPr>
            <a:r>
              <a:rPr lang="en-US" sz="970" b="1" dirty="0">
                <a:solidFill>
                  <a:srgbClr val="2E8B57"/>
                </a:solidFill>
                <a:latin typeface="Calibri" pitchFamily="34" charset="0"/>
                <a:ea typeface="Calibri" pitchFamily="34" charset="-122"/>
                <a:cs typeface="Calibri" pitchFamily="34" charset="-120"/>
              </a:rPr>
              <a:t>Learning: </a:t>
            </a:r>
            <a:r>
              <a:rPr lang="en-US" sz="970" dirty="0">
                <a:solidFill>
                  <a:srgbClr val="16232E"/>
                </a:solidFill>
                <a:latin typeface="Calibri" pitchFamily="34" charset="0"/>
                <a:ea typeface="Calibri" pitchFamily="34" charset="-122"/>
                <a:cs typeface="Calibri" pitchFamily="34" charset="-120"/>
              </a:rPr>
              <a:t>Root-caused to the type-casting step; excluded Bearer Id from the cast since it's a pure identifier, only ever used for counting.</a:t>
            </a:r>
            <a:endParaRPr lang="en-US" sz="970" dirty="0"/>
          </a:p>
        </p:txBody>
      </p:sp>
      <p:sp>
        <p:nvSpPr>
          <p:cNvPr id="8" name="Shape 6"/>
          <p:cNvSpPr/>
          <p:nvPr/>
        </p:nvSpPr>
        <p:spPr>
          <a:xfrm>
            <a:off x="4352544" y="1234440"/>
            <a:ext cx="3483864" cy="2514600"/>
          </a:xfrm>
          <a:prstGeom prst="roundRect">
            <a:avLst>
              <a:gd name="adj" fmla="val 2909"/>
            </a:avLst>
          </a:prstGeom>
          <a:solidFill>
            <a:srgbClr val="F3F5F7"/>
          </a:solidFill>
          <a:ln w="9525">
            <a:solidFill>
              <a:srgbClr val="E1E6EA"/>
            </a:solidFill>
            <a:prstDash val="solid"/>
          </a:ln>
        </p:spPr>
      </p:sp>
      <p:sp>
        <p:nvSpPr>
          <p:cNvPr id="9" name="Text 7"/>
          <p:cNvSpPr/>
          <p:nvPr/>
        </p:nvSpPr>
        <p:spPr>
          <a:xfrm>
            <a:off x="4498848" y="1325880"/>
            <a:ext cx="3191256" cy="292608"/>
          </a:xfrm>
          <a:prstGeom prst="rect">
            <a:avLst/>
          </a:prstGeom>
          <a:noFill/>
          <a:ln/>
        </p:spPr>
        <p:txBody>
          <a:bodyPr wrap="square"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Challenge 2 — Detection Before Treatment</a:t>
            </a:r>
            <a:endParaRPr lang="en-US" sz="1150" dirty="0"/>
          </a:p>
        </p:txBody>
      </p:sp>
      <p:sp>
        <p:nvSpPr>
          <p:cNvPr id="10" name="Text 8"/>
          <p:cNvSpPr/>
          <p:nvPr/>
        </p:nvSpPr>
        <p:spPr>
          <a:xfrm>
            <a:off x="4498848" y="1618488"/>
            <a:ext cx="3191256" cy="1056132"/>
          </a:xfrm>
          <a:prstGeom prst="rect">
            <a:avLst/>
          </a:prstGeom>
          <a:noFill/>
          <a:ln/>
        </p:spPr>
        <p:txBody>
          <a:bodyPr wrap="square" rtlCol="0" anchor="t"/>
          <a:lstStyle/>
          <a:p>
            <a:pPr marL="0" indent="0">
              <a:lnSpc>
                <a:spcPct val="105000"/>
              </a:lnSpc>
              <a:buNone/>
            </a:pPr>
            <a:r>
              <a:rPr lang="en-US" sz="970" b="1" dirty="0">
                <a:solidFill>
                  <a:srgbClr val="C0392B"/>
                </a:solidFill>
                <a:latin typeface="Calibri" pitchFamily="34" charset="0"/>
                <a:ea typeface="Calibri" pitchFamily="34" charset="-122"/>
                <a:cs typeface="Calibri" pitchFamily="34" charset="-120"/>
              </a:rPr>
              <a:t>Challenge: </a:t>
            </a:r>
            <a:r>
              <a:rPr lang="en-US" sz="970" dirty="0">
                <a:solidFill>
                  <a:srgbClr val="16232E"/>
                </a:solidFill>
                <a:latin typeface="Calibri" pitchFamily="34" charset="0"/>
                <a:ea typeface="Calibri" pitchFamily="34" charset="-122"/>
                <a:cs typeface="Calibri" pitchFamily="34" charset="-120"/>
              </a:rPr>
              <a:t>An early attempt skipped straight to outlier capping without first quantifying skew, kurtosis, or IQR/Z-score rates.</a:t>
            </a:r>
            <a:endParaRPr lang="en-US" sz="970" dirty="0"/>
          </a:p>
        </p:txBody>
      </p:sp>
      <p:sp>
        <p:nvSpPr>
          <p:cNvPr id="11" name="Text 9"/>
          <p:cNvSpPr/>
          <p:nvPr/>
        </p:nvSpPr>
        <p:spPr>
          <a:xfrm>
            <a:off x="4498848" y="2642616"/>
            <a:ext cx="3191256" cy="1056132"/>
          </a:xfrm>
          <a:prstGeom prst="rect">
            <a:avLst/>
          </a:prstGeom>
          <a:noFill/>
          <a:ln/>
        </p:spPr>
        <p:txBody>
          <a:bodyPr wrap="square" rtlCol="0" anchor="t"/>
          <a:lstStyle/>
          <a:p>
            <a:pPr marL="0" indent="0">
              <a:lnSpc>
                <a:spcPct val="105000"/>
              </a:lnSpc>
              <a:buNone/>
            </a:pPr>
            <a:r>
              <a:rPr lang="en-US" sz="970" b="1" dirty="0">
                <a:solidFill>
                  <a:srgbClr val="2E8B57"/>
                </a:solidFill>
                <a:latin typeface="Calibri" pitchFamily="34" charset="0"/>
                <a:ea typeface="Calibri" pitchFamily="34" charset="-122"/>
                <a:cs typeface="Calibri" pitchFamily="34" charset="-120"/>
              </a:rPr>
              <a:t>Learning: </a:t>
            </a:r>
            <a:r>
              <a:rPr lang="en-US" sz="970" dirty="0">
                <a:solidFill>
                  <a:srgbClr val="16232E"/>
                </a:solidFill>
                <a:latin typeface="Calibri" pitchFamily="34" charset="0"/>
                <a:ea typeface="Calibri" pitchFamily="34" charset="-122"/>
                <a:cs typeface="Calibri" pitchFamily="34" charset="-120"/>
              </a:rPr>
              <a:t>Separated aggregation-design decisions from outlier treatment; computed real evidence before any capping, mirroring User Overview's own rigor.</a:t>
            </a:r>
            <a:endParaRPr lang="en-US" sz="970" dirty="0"/>
          </a:p>
        </p:txBody>
      </p:sp>
      <p:sp>
        <p:nvSpPr>
          <p:cNvPr id="12" name="Shape 10"/>
          <p:cNvSpPr/>
          <p:nvPr/>
        </p:nvSpPr>
        <p:spPr>
          <a:xfrm>
            <a:off x="8065008" y="1234440"/>
            <a:ext cx="3483864" cy="2514600"/>
          </a:xfrm>
          <a:prstGeom prst="roundRect">
            <a:avLst>
              <a:gd name="adj" fmla="val 2909"/>
            </a:avLst>
          </a:prstGeom>
          <a:solidFill>
            <a:srgbClr val="F3F5F7"/>
          </a:solidFill>
          <a:ln w="9525">
            <a:solidFill>
              <a:srgbClr val="E1E6EA"/>
            </a:solidFill>
            <a:prstDash val="solid"/>
          </a:ln>
        </p:spPr>
      </p:sp>
      <p:sp>
        <p:nvSpPr>
          <p:cNvPr id="13" name="Text 11"/>
          <p:cNvSpPr/>
          <p:nvPr/>
        </p:nvSpPr>
        <p:spPr>
          <a:xfrm>
            <a:off x="8211312" y="1325880"/>
            <a:ext cx="3191256" cy="292608"/>
          </a:xfrm>
          <a:prstGeom prst="rect">
            <a:avLst/>
          </a:prstGeom>
          <a:noFill/>
          <a:ln/>
        </p:spPr>
        <p:txBody>
          <a:bodyPr wrap="square"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Challenge 3 — Circular Regression</a:t>
            </a:r>
            <a:endParaRPr lang="en-US" sz="1150" dirty="0"/>
          </a:p>
        </p:txBody>
      </p:sp>
      <p:sp>
        <p:nvSpPr>
          <p:cNvPr id="14" name="Text 12"/>
          <p:cNvSpPr/>
          <p:nvPr/>
        </p:nvSpPr>
        <p:spPr>
          <a:xfrm>
            <a:off x="8211312" y="1618488"/>
            <a:ext cx="3191256" cy="1056132"/>
          </a:xfrm>
          <a:prstGeom prst="rect">
            <a:avLst/>
          </a:prstGeom>
          <a:noFill/>
          <a:ln/>
        </p:spPr>
        <p:txBody>
          <a:bodyPr wrap="square" rtlCol="0" anchor="t"/>
          <a:lstStyle/>
          <a:p>
            <a:pPr marL="0" indent="0">
              <a:lnSpc>
                <a:spcPct val="105000"/>
              </a:lnSpc>
              <a:buNone/>
            </a:pPr>
            <a:r>
              <a:rPr lang="en-US" sz="970" b="1" dirty="0">
                <a:solidFill>
                  <a:srgbClr val="C0392B"/>
                </a:solidFill>
                <a:latin typeface="Calibri" pitchFamily="34" charset="0"/>
                <a:ea typeface="Calibri" pitchFamily="34" charset="-122"/>
                <a:cs typeface="Calibri" pitchFamily="34" charset="-120"/>
              </a:rPr>
              <a:t>Challenge: </a:t>
            </a:r>
            <a:r>
              <a:rPr lang="en-US" sz="970" dirty="0">
                <a:solidFill>
                  <a:srgbClr val="16232E"/>
                </a:solidFill>
                <a:latin typeface="Calibri" pitchFamily="34" charset="0"/>
                <a:ea typeface="Calibri" pitchFamily="34" charset="-122"/>
                <a:cs typeface="Calibri" pitchFamily="34" charset="-120"/>
              </a:rPr>
              <a:t>Using Engagement + Experience Score directly as Satisfaction predictors produced a perfect but meaningless fit (they define the formula).</a:t>
            </a:r>
            <a:endParaRPr lang="en-US" sz="970" dirty="0"/>
          </a:p>
        </p:txBody>
      </p:sp>
      <p:sp>
        <p:nvSpPr>
          <p:cNvPr id="15" name="Text 13"/>
          <p:cNvSpPr/>
          <p:nvPr/>
        </p:nvSpPr>
        <p:spPr>
          <a:xfrm>
            <a:off x="8211312" y="2642616"/>
            <a:ext cx="3191256" cy="1056132"/>
          </a:xfrm>
          <a:prstGeom prst="rect">
            <a:avLst/>
          </a:prstGeom>
          <a:noFill/>
          <a:ln/>
        </p:spPr>
        <p:txBody>
          <a:bodyPr wrap="square" rtlCol="0" anchor="t"/>
          <a:lstStyle/>
          <a:p>
            <a:pPr marL="0" indent="0">
              <a:lnSpc>
                <a:spcPct val="105000"/>
              </a:lnSpc>
              <a:buNone/>
            </a:pPr>
            <a:r>
              <a:rPr lang="en-US" sz="970" b="1" dirty="0">
                <a:solidFill>
                  <a:srgbClr val="2E8B57"/>
                </a:solidFill>
                <a:latin typeface="Calibri" pitchFamily="34" charset="0"/>
                <a:ea typeface="Calibri" pitchFamily="34" charset="-122"/>
                <a:cs typeface="Calibri" pitchFamily="34" charset="-120"/>
              </a:rPr>
              <a:t>Learning: </a:t>
            </a:r>
            <a:r>
              <a:rPr lang="en-US" sz="970" dirty="0">
                <a:solidFill>
                  <a:srgbClr val="16232E"/>
                </a:solidFill>
                <a:latin typeface="Calibri" pitchFamily="34" charset="0"/>
                <a:ea typeface="Calibri" pitchFamily="34" charset="-122"/>
                <a:cs typeface="Calibri" pitchFamily="34" charset="-120"/>
              </a:rPr>
              <a:t>Diagnosed via a suspiciously-near-1.0 R²; corrected by using the underlying normalized metrics as features instead.</a:t>
            </a:r>
            <a:endParaRPr lang="en-US" sz="970" dirty="0"/>
          </a:p>
        </p:txBody>
      </p:sp>
      <p:sp>
        <p:nvSpPr>
          <p:cNvPr id="16" name="Shape 14"/>
          <p:cNvSpPr/>
          <p:nvPr/>
        </p:nvSpPr>
        <p:spPr>
          <a:xfrm>
            <a:off x="640080" y="3931920"/>
            <a:ext cx="3483864" cy="2514600"/>
          </a:xfrm>
          <a:prstGeom prst="roundRect">
            <a:avLst>
              <a:gd name="adj" fmla="val 2909"/>
            </a:avLst>
          </a:prstGeom>
          <a:solidFill>
            <a:srgbClr val="F3F5F7"/>
          </a:solidFill>
          <a:ln w="9525">
            <a:solidFill>
              <a:srgbClr val="E1E6EA"/>
            </a:solidFill>
            <a:prstDash val="solid"/>
          </a:ln>
        </p:spPr>
      </p:sp>
      <p:sp>
        <p:nvSpPr>
          <p:cNvPr id="17" name="Text 15"/>
          <p:cNvSpPr/>
          <p:nvPr/>
        </p:nvSpPr>
        <p:spPr>
          <a:xfrm>
            <a:off x="786384" y="4023360"/>
            <a:ext cx="3191256" cy="292608"/>
          </a:xfrm>
          <a:prstGeom prst="rect">
            <a:avLst/>
          </a:prstGeom>
          <a:noFill/>
          <a:ln/>
        </p:spPr>
        <p:txBody>
          <a:bodyPr wrap="square"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Challenge 4 — Random Forest Runtime</a:t>
            </a:r>
            <a:endParaRPr lang="en-US" sz="1150" dirty="0"/>
          </a:p>
        </p:txBody>
      </p:sp>
      <p:sp>
        <p:nvSpPr>
          <p:cNvPr id="18" name="Text 16"/>
          <p:cNvSpPr/>
          <p:nvPr/>
        </p:nvSpPr>
        <p:spPr>
          <a:xfrm>
            <a:off x="786384" y="4315968"/>
            <a:ext cx="3191256" cy="1056132"/>
          </a:xfrm>
          <a:prstGeom prst="rect">
            <a:avLst/>
          </a:prstGeom>
          <a:noFill/>
          <a:ln/>
        </p:spPr>
        <p:txBody>
          <a:bodyPr wrap="square" rtlCol="0" anchor="t"/>
          <a:lstStyle/>
          <a:p>
            <a:pPr marL="0" indent="0">
              <a:lnSpc>
                <a:spcPct val="105000"/>
              </a:lnSpc>
              <a:buNone/>
            </a:pPr>
            <a:r>
              <a:rPr lang="en-US" sz="970" b="1" dirty="0">
                <a:solidFill>
                  <a:srgbClr val="C0392B"/>
                </a:solidFill>
                <a:latin typeface="Calibri" pitchFamily="34" charset="0"/>
                <a:ea typeface="Calibri" pitchFamily="34" charset="-122"/>
                <a:cs typeface="Calibri" pitchFamily="34" charset="-120"/>
              </a:rPr>
              <a:t>Challenge: </a:t>
            </a:r>
            <a:r>
              <a:rPr lang="en-US" sz="970" dirty="0">
                <a:solidFill>
                  <a:srgbClr val="16232E"/>
                </a:solidFill>
                <a:latin typeface="Calibri" pitchFamily="34" charset="0"/>
                <a:ea typeface="Calibri" pitchFamily="34" charset="-122"/>
                <a:cs typeface="Calibri" pitchFamily="34" charset="-120"/>
              </a:rPr>
              <a:t>An untuned Random Forest (n_jobs=1 default) took 25+ minutes on 106,471 rows.</a:t>
            </a:r>
            <a:endParaRPr lang="en-US" sz="970" dirty="0"/>
          </a:p>
        </p:txBody>
      </p:sp>
      <p:sp>
        <p:nvSpPr>
          <p:cNvPr id="19" name="Text 17"/>
          <p:cNvSpPr/>
          <p:nvPr/>
        </p:nvSpPr>
        <p:spPr>
          <a:xfrm>
            <a:off x="786384" y="5340096"/>
            <a:ext cx="3191256" cy="1056132"/>
          </a:xfrm>
          <a:prstGeom prst="rect">
            <a:avLst/>
          </a:prstGeom>
          <a:noFill/>
          <a:ln/>
        </p:spPr>
        <p:txBody>
          <a:bodyPr wrap="square" rtlCol="0" anchor="t"/>
          <a:lstStyle/>
          <a:p>
            <a:pPr marL="0" indent="0">
              <a:lnSpc>
                <a:spcPct val="105000"/>
              </a:lnSpc>
              <a:buNone/>
            </a:pPr>
            <a:r>
              <a:rPr lang="en-US" sz="970" b="1" dirty="0">
                <a:solidFill>
                  <a:srgbClr val="2E8B57"/>
                </a:solidFill>
                <a:latin typeface="Calibri" pitchFamily="34" charset="0"/>
                <a:ea typeface="Calibri" pitchFamily="34" charset="-122"/>
                <a:cs typeface="Calibri" pitchFamily="34" charset="-120"/>
              </a:rPr>
              <a:t>Learning: </a:t>
            </a:r>
            <a:r>
              <a:rPr lang="en-US" sz="970" dirty="0">
                <a:solidFill>
                  <a:srgbClr val="16232E"/>
                </a:solidFill>
                <a:latin typeface="Calibri" pitchFamily="34" charset="0"/>
                <a:ea typeface="Calibri" pitchFamily="34" charset="-122"/>
                <a:cs typeface="Calibri" pitchFamily="34" charset="-120"/>
              </a:rPr>
              <a:t>Parallelized (n_jobs=-1), capped tree depth, and ultimately replaced with XGBoost for both speed and accuracy.</a:t>
            </a:r>
            <a:endParaRPr lang="en-US" sz="970" dirty="0"/>
          </a:p>
        </p:txBody>
      </p:sp>
      <p:sp>
        <p:nvSpPr>
          <p:cNvPr id="20" name="Shape 18"/>
          <p:cNvSpPr/>
          <p:nvPr/>
        </p:nvSpPr>
        <p:spPr>
          <a:xfrm>
            <a:off x="4352544" y="3931920"/>
            <a:ext cx="3483864" cy="2514600"/>
          </a:xfrm>
          <a:prstGeom prst="roundRect">
            <a:avLst>
              <a:gd name="adj" fmla="val 2909"/>
            </a:avLst>
          </a:prstGeom>
          <a:solidFill>
            <a:srgbClr val="F3F5F7"/>
          </a:solidFill>
          <a:ln w="9525">
            <a:solidFill>
              <a:srgbClr val="E1E6EA"/>
            </a:solidFill>
            <a:prstDash val="solid"/>
          </a:ln>
        </p:spPr>
      </p:sp>
      <p:sp>
        <p:nvSpPr>
          <p:cNvPr id="21" name="Text 19"/>
          <p:cNvSpPr/>
          <p:nvPr/>
        </p:nvSpPr>
        <p:spPr>
          <a:xfrm>
            <a:off x="4498848" y="4023360"/>
            <a:ext cx="3191256" cy="292608"/>
          </a:xfrm>
          <a:prstGeom prst="rect">
            <a:avLst/>
          </a:prstGeom>
          <a:noFill/>
          <a:ln/>
        </p:spPr>
        <p:txBody>
          <a:bodyPr wrap="square"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Challenge 5 — Variable Name Collisions</a:t>
            </a:r>
            <a:endParaRPr lang="en-US" sz="1150" dirty="0"/>
          </a:p>
        </p:txBody>
      </p:sp>
      <p:sp>
        <p:nvSpPr>
          <p:cNvPr id="22" name="Text 20"/>
          <p:cNvSpPr/>
          <p:nvPr/>
        </p:nvSpPr>
        <p:spPr>
          <a:xfrm>
            <a:off x="4498848" y="4315968"/>
            <a:ext cx="3191256" cy="1056132"/>
          </a:xfrm>
          <a:prstGeom prst="rect">
            <a:avLst/>
          </a:prstGeom>
          <a:noFill/>
          <a:ln/>
        </p:spPr>
        <p:txBody>
          <a:bodyPr wrap="square" rtlCol="0" anchor="t"/>
          <a:lstStyle/>
          <a:p>
            <a:pPr marL="0" indent="0">
              <a:lnSpc>
                <a:spcPct val="105000"/>
              </a:lnSpc>
              <a:buNone/>
            </a:pPr>
            <a:r>
              <a:rPr lang="en-US" sz="970" b="1" dirty="0">
                <a:solidFill>
                  <a:srgbClr val="C0392B"/>
                </a:solidFill>
                <a:latin typeface="Calibri" pitchFamily="34" charset="0"/>
                <a:ea typeface="Calibri" pitchFamily="34" charset="-122"/>
                <a:cs typeface="Calibri" pitchFamily="34" charset="-120"/>
              </a:rPr>
              <a:t>Challenge: </a:t>
            </a:r>
            <a:r>
              <a:rPr lang="en-US" sz="970" dirty="0">
                <a:solidFill>
                  <a:srgbClr val="16232E"/>
                </a:solidFill>
                <a:latin typeface="Calibri" pitchFamily="34" charset="0"/>
                <a:ea typeface="Calibri" pitchFamily="34" charset="-122"/>
                <a:cs typeface="Calibri" pitchFamily="34" charset="-120"/>
              </a:rPr>
              <a:t>Engagement and Experience clustering both reused the generic name 'kmeans', so each cell overwrote the last.</a:t>
            </a:r>
            <a:endParaRPr lang="en-US" sz="970" dirty="0"/>
          </a:p>
        </p:txBody>
      </p:sp>
      <p:sp>
        <p:nvSpPr>
          <p:cNvPr id="23" name="Text 21"/>
          <p:cNvSpPr/>
          <p:nvPr/>
        </p:nvSpPr>
        <p:spPr>
          <a:xfrm>
            <a:off x="4498848" y="5340096"/>
            <a:ext cx="3191256" cy="1056132"/>
          </a:xfrm>
          <a:prstGeom prst="rect">
            <a:avLst/>
          </a:prstGeom>
          <a:noFill/>
          <a:ln/>
        </p:spPr>
        <p:txBody>
          <a:bodyPr wrap="square" rtlCol="0" anchor="t"/>
          <a:lstStyle/>
          <a:p>
            <a:pPr marL="0" indent="0">
              <a:lnSpc>
                <a:spcPct val="105000"/>
              </a:lnSpc>
              <a:buNone/>
            </a:pPr>
            <a:r>
              <a:rPr lang="en-US" sz="970" b="1" dirty="0">
                <a:solidFill>
                  <a:srgbClr val="2E8B57"/>
                </a:solidFill>
                <a:latin typeface="Calibri" pitchFamily="34" charset="0"/>
                <a:ea typeface="Calibri" pitchFamily="34" charset="-122"/>
                <a:cs typeface="Calibri" pitchFamily="34" charset="-120"/>
              </a:rPr>
              <a:t>Learning: </a:t>
            </a:r>
            <a:r>
              <a:rPr lang="en-US" sz="970" dirty="0">
                <a:solidFill>
                  <a:srgbClr val="16232E"/>
                </a:solidFill>
                <a:latin typeface="Calibri" pitchFamily="34" charset="0"/>
                <a:ea typeface="Calibri" pitchFamily="34" charset="-122"/>
                <a:cs typeface="Calibri" pitchFamily="34" charset="-120"/>
              </a:rPr>
              <a:t>Renamed to kmeans_engagement / kmeans_experience / kmeans_satisfaction, preserving direct access to each model's centroids.</a:t>
            </a:r>
            <a:endParaRPr lang="en-US" sz="970" dirty="0"/>
          </a:p>
        </p:txBody>
      </p:sp>
      <p:sp>
        <p:nvSpPr>
          <p:cNvPr id="24" name="Shape 22"/>
          <p:cNvSpPr/>
          <p:nvPr/>
        </p:nvSpPr>
        <p:spPr>
          <a:xfrm>
            <a:off x="8065008" y="3931920"/>
            <a:ext cx="3483864" cy="2514600"/>
          </a:xfrm>
          <a:prstGeom prst="roundRect">
            <a:avLst>
              <a:gd name="adj" fmla="val 2909"/>
            </a:avLst>
          </a:prstGeom>
          <a:solidFill>
            <a:srgbClr val="F3F5F7"/>
          </a:solidFill>
          <a:ln w="9525">
            <a:solidFill>
              <a:srgbClr val="E1E6EA"/>
            </a:solidFill>
            <a:prstDash val="solid"/>
          </a:ln>
        </p:spPr>
      </p:sp>
      <p:sp>
        <p:nvSpPr>
          <p:cNvPr id="25" name="Text 23"/>
          <p:cNvSpPr/>
          <p:nvPr/>
        </p:nvSpPr>
        <p:spPr>
          <a:xfrm>
            <a:off x="8211312" y="4023360"/>
            <a:ext cx="3191256" cy="292608"/>
          </a:xfrm>
          <a:prstGeom prst="rect">
            <a:avLst/>
          </a:prstGeom>
          <a:noFill/>
          <a:ln/>
        </p:spPr>
        <p:txBody>
          <a:bodyPr wrap="square" rtlCol="0" anchor="ctr"/>
          <a:lstStyle/>
          <a:p>
            <a:pPr marL="0" indent="0">
              <a:buNone/>
            </a:pPr>
            <a:r>
              <a:rPr lang="en-US" sz="1150" b="1" dirty="0">
                <a:solidFill>
                  <a:srgbClr val="0E7C7B"/>
                </a:solidFill>
                <a:latin typeface="Calibri" pitchFamily="34" charset="0"/>
                <a:ea typeface="Calibri" pitchFamily="34" charset="-122"/>
                <a:cs typeface="Calibri" pitchFamily="34" charset="-120"/>
              </a:rPr>
              <a:t>Challenge 6 — Scope Discipline</a:t>
            </a:r>
            <a:endParaRPr lang="en-US" sz="1150" dirty="0"/>
          </a:p>
        </p:txBody>
      </p:sp>
      <p:sp>
        <p:nvSpPr>
          <p:cNvPr id="26" name="Text 24"/>
          <p:cNvSpPr/>
          <p:nvPr/>
        </p:nvSpPr>
        <p:spPr>
          <a:xfrm>
            <a:off x="8211312" y="4315968"/>
            <a:ext cx="3191256" cy="1056132"/>
          </a:xfrm>
          <a:prstGeom prst="rect">
            <a:avLst/>
          </a:prstGeom>
          <a:noFill/>
          <a:ln/>
        </p:spPr>
        <p:txBody>
          <a:bodyPr wrap="square" rtlCol="0" anchor="t"/>
          <a:lstStyle/>
          <a:p>
            <a:pPr marL="0" indent="0">
              <a:lnSpc>
                <a:spcPct val="105000"/>
              </a:lnSpc>
              <a:buNone/>
            </a:pPr>
            <a:r>
              <a:rPr lang="en-US" sz="970" b="1" dirty="0">
                <a:solidFill>
                  <a:srgbClr val="C0392B"/>
                </a:solidFill>
                <a:latin typeface="Calibri" pitchFamily="34" charset="0"/>
                <a:ea typeface="Calibri" pitchFamily="34" charset="-122"/>
                <a:cs typeface="Calibri" pitchFamily="34" charset="-120"/>
              </a:rPr>
              <a:t>Challenge: </a:t>
            </a:r>
            <a:r>
              <a:rPr lang="en-US" sz="970" dirty="0">
                <a:solidFill>
                  <a:srgbClr val="16232E"/>
                </a:solidFill>
                <a:latin typeface="Calibri" pitchFamily="34" charset="0"/>
                <a:ea typeface="Calibri" pitchFamily="34" charset="-122"/>
                <a:cs typeface="Calibri" pitchFamily="34" charset="-120"/>
              </a:rPr>
              <a:t>Deciding what's 'beyond the ask' vs. task-required (full EDA depth, top-N vs. full-population stats) required care throughout.</a:t>
            </a:r>
            <a:endParaRPr lang="en-US" sz="970" dirty="0"/>
          </a:p>
        </p:txBody>
      </p:sp>
      <p:sp>
        <p:nvSpPr>
          <p:cNvPr id="27" name="Text 25"/>
          <p:cNvSpPr/>
          <p:nvPr/>
        </p:nvSpPr>
        <p:spPr>
          <a:xfrm>
            <a:off x="8211312" y="5340096"/>
            <a:ext cx="3191256" cy="1056132"/>
          </a:xfrm>
          <a:prstGeom prst="rect">
            <a:avLst/>
          </a:prstGeom>
          <a:noFill/>
          <a:ln/>
        </p:spPr>
        <p:txBody>
          <a:bodyPr wrap="square" rtlCol="0" anchor="t"/>
          <a:lstStyle/>
          <a:p>
            <a:pPr marL="0" indent="0">
              <a:lnSpc>
                <a:spcPct val="105000"/>
              </a:lnSpc>
              <a:buNone/>
            </a:pPr>
            <a:r>
              <a:rPr lang="en-US" sz="970" b="1" dirty="0">
                <a:solidFill>
                  <a:srgbClr val="2E8B57"/>
                </a:solidFill>
                <a:latin typeface="Calibri" pitchFamily="34" charset="0"/>
                <a:ea typeface="Calibri" pitchFamily="34" charset="-122"/>
                <a:cs typeface="Calibri" pitchFamily="34" charset="-120"/>
              </a:rPr>
              <a:t>Learning: </a:t>
            </a:r>
            <a:r>
              <a:rPr lang="en-US" sz="970" dirty="0">
                <a:solidFill>
                  <a:srgbClr val="16232E"/>
                </a:solidFill>
                <a:latin typeface="Calibri" pitchFamily="34" charset="0"/>
                <a:ea typeface="Calibri" pitchFamily="34" charset="-122"/>
                <a:cs typeface="Calibri" pitchFamily="34" charset="-120"/>
              </a:rPr>
              <a:t>Checked each task's actual wording rather than defaulting to the heaviest precedent elsewhere — a recurring discipline, not a one-time fix.</a:t>
            </a:r>
            <a:endParaRPr lang="en-US" sz="970" dirty="0"/>
          </a:p>
        </p:txBody>
      </p:sp>
      <p:sp>
        <p:nvSpPr>
          <p:cNvPr id="29" name="Text 26"/>
          <p:cNvSpPr/>
          <p:nvPr/>
        </p:nvSpPr>
        <p:spPr>
          <a:xfrm>
            <a:off x="11640312" y="6473952"/>
            <a:ext cx="365760" cy="274320"/>
          </a:xfrm>
          <a:prstGeom prst="rect">
            <a:avLst/>
          </a:prstGeom>
          <a:noFill/>
          <a:ln/>
        </p:spPr>
        <p:txBody>
          <a:bodyPr wrap="square" rtlCol="0" anchor="ctr"/>
          <a:lstStyle/>
          <a:p>
            <a:pPr marL="0" indent="0" algn="r">
              <a:buNone/>
            </a:pPr>
            <a:r>
              <a:rPr lang="en-US" sz="1000" dirty="0">
                <a:solidFill>
                  <a:srgbClr val="9AA7B4"/>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05B96"/>
          </a:solidFill>
          <a:ln/>
        </p:spPr>
      </p:sp>
      <p:sp>
        <p:nvSpPr>
          <p:cNvPr id="3" name="Text 1"/>
          <p:cNvSpPr/>
          <p:nvPr/>
        </p:nvSpPr>
        <p:spPr>
          <a:xfrm>
            <a:off x="457200" y="0"/>
            <a:ext cx="11274552" cy="896112"/>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Conclusion &amp; Future Scope</a:t>
            </a:r>
            <a:endParaRPr lang="en-US" sz="2600" dirty="0"/>
          </a:p>
        </p:txBody>
      </p:sp>
      <p:sp>
        <p:nvSpPr>
          <p:cNvPr id="4" name="Shape 2"/>
          <p:cNvSpPr/>
          <p:nvPr/>
        </p:nvSpPr>
        <p:spPr>
          <a:xfrm>
            <a:off x="548640" y="1143000"/>
            <a:ext cx="5440680" cy="5074920"/>
          </a:xfrm>
          <a:prstGeom prst="roundRect">
            <a:avLst>
              <a:gd name="adj" fmla="val 1441"/>
            </a:avLst>
          </a:prstGeom>
          <a:solidFill>
            <a:srgbClr val="EAF4FC"/>
          </a:solidFill>
          <a:ln w="9525">
            <a:solidFill>
              <a:srgbClr val="D7E6F2"/>
            </a:solidFill>
            <a:prstDash val="solid"/>
          </a:ln>
        </p:spPr>
      </p:sp>
      <p:sp>
        <p:nvSpPr>
          <p:cNvPr id="5" name="Text 3"/>
          <p:cNvSpPr/>
          <p:nvPr/>
        </p:nvSpPr>
        <p:spPr>
          <a:xfrm>
            <a:off x="731520" y="1280160"/>
            <a:ext cx="5074920" cy="365760"/>
          </a:xfrm>
          <a:prstGeom prst="rect">
            <a:avLst/>
          </a:prstGeom>
          <a:noFill/>
          <a:ln/>
        </p:spPr>
        <p:txBody>
          <a:bodyPr wrap="square" rtlCol="0" anchor="ctr"/>
          <a:lstStyle/>
          <a:p>
            <a:pPr marL="0" indent="0">
              <a:buNone/>
            </a:pPr>
            <a:r>
              <a:rPr lang="en-US" sz="1500" b="1" dirty="0">
                <a:solidFill>
                  <a:srgbClr val="005B96"/>
                </a:solidFill>
                <a:latin typeface="Calibri" pitchFamily="34" charset="0"/>
                <a:ea typeface="Calibri" pitchFamily="34" charset="-122"/>
                <a:cs typeface="Calibri" pitchFamily="34" charset="-120"/>
              </a:rPr>
              <a:t>Conclusion</a:t>
            </a:r>
            <a:endParaRPr lang="en-US" sz="1500" dirty="0"/>
          </a:p>
        </p:txBody>
      </p:sp>
      <p:sp>
        <p:nvSpPr>
          <p:cNvPr id="6" name="Text 4"/>
          <p:cNvSpPr/>
          <p:nvPr/>
        </p:nvSpPr>
        <p:spPr>
          <a:xfrm>
            <a:off x="731520" y="1691640"/>
            <a:ext cx="5074920" cy="4434840"/>
          </a:xfrm>
          <a:prstGeom prst="rect">
            <a:avLst/>
          </a:prstGeom>
          <a:noFill/>
          <a:ln/>
        </p:spPr>
        <p:txBody>
          <a:bodyPr wrap="square" rtlCol="0" anchor="t"/>
          <a:lstStyle/>
          <a:p>
            <a:pPr marL="0" indent="0">
              <a:lnSpc>
                <a:spcPct val="112000"/>
              </a:lnSpc>
              <a:buNone/>
            </a:pPr>
            <a:r>
              <a:rPr lang="en-US" sz="1250" b="1" dirty="0">
                <a:solidFill>
                  <a:srgbClr val="2E8B57"/>
                </a:solidFill>
                <a:latin typeface="Calibri" pitchFamily="34" charset="0"/>
                <a:ea typeface="Calibri" pitchFamily="34" charset="-122"/>
                <a:cs typeface="Calibri" pitchFamily="34" charset="-120"/>
              </a:rPr>
              <a:t>Recommendation: TellCo is worth purchasing.
</a:t>
            </a:r>
            <a:r>
              <a:rPr lang="en-US" sz="1030" dirty="0">
                <a:solidFill>
                  <a:srgbClr val="16232E"/>
                </a:solidFill>
                <a:latin typeface="Calibri" pitchFamily="34" charset="0"/>
                <a:ea typeface="Calibri" pitchFamily="34" charset="-122"/>
                <a:cs typeface="Calibri" pitchFamily="34" charset="-120"/>
              </a:rPr>
              <a:t>The customer base is broad, engaged, and largely well-served — not a business in decline, nor one with a diffuse, expensive-to-fix problem.
</a:t>
            </a:r>
            <a:r>
              <a:rPr lang="en-US" sz="1030" b="1" dirty="0">
                <a:solidFill>
                  <a:srgbClr val="16232E"/>
                </a:solidFill>
                <a:latin typeface="Calibri" pitchFamily="34" charset="0"/>
                <a:ea typeface="Calibri" pitchFamily="34" charset="-122"/>
                <a:cs typeface="Calibri" pitchFamily="34" charset="-120"/>
              </a:rPr>
              <a:t>One clearly identified, addressable weak point: </a:t>
            </a:r>
            <a:r>
              <a:rPr lang="en-US" sz="1030" dirty="0">
                <a:solidFill>
                  <a:srgbClr val="16232E"/>
                </a:solidFill>
                <a:latin typeface="Calibri" pitchFamily="34" charset="0"/>
                <a:ea typeface="Calibri" pitchFamily="34" charset="-122"/>
                <a:cs typeface="Calibri" pitchFamily="34" charset="-120"/>
              </a:rPr>
              <a:t>uplink network reliability for a specific, quantifiable minority (10.8%) of heavy uploaders, whose poor experience — not engagement — separates them from the majority's satisfaction.
</a:t>
            </a:r>
            <a:r>
              <a:rPr lang="en-US" sz="1030" b="1" dirty="0">
                <a:solidFill>
                  <a:srgbClr val="16232E"/>
                </a:solidFill>
                <a:latin typeface="Calibri" pitchFamily="34" charset="0"/>
                <a:ea typeface="Calibri" pitchFamily="34" charset="-122"/>
                <a:cs typeface="Calibri" pitchFamily="34" charset="-120"/>
              </a:rPr>
              <a:t>All 5 original expected outcomes met: </a:t>
            </a:r>
            <a:r>
              <a:rPr lang="en-US" sz="1030" dirty="0">
                <a:solidFill>
                  <a:srgbClr val="16232E"/>
                </a:solidFill>
                <a:latin typeface="Calibri" pitchFamily="34" charset="0"/>
                <a:ea typeface="Calibri" pitchFamily="34" charset="-122"/>
                <a:cs typeface="Calibri" pitchFamily="34" charset="-120"/>
              </a:rPr>
              <a:t>customer composition characterized, dominant handsets/apps identified, engagement/experience clusters built, satisfaction quantified &amp; validated, and a clear acquisition recommendation delivered.
</a:t>
            </a:r>
            <a:r>
              <a:rPr lang="en-US" sz="1030" b="1" dirty="0">
                <a:solidFill>
                  <a:srgbClr val="16232E"/>
                </a:solidFill>
                <a:latin typeface="Calibri" pitchFamily="34" charset="0"/>
                <a:ea typeface="Calibri" pitchFamily="34" charset="-122"/>
                <a:cs typeface="Calibri" pitchFamily="34" charset="-120"/>
              </a:rPr>
              <a:t>Recommended next step: </a:t>
            </a:r>
            <a:r>
              <a:rPr lang="en-US" sz="1030" dirty="0">
                <a:solidFill>
                  <a:srgbClr val="16232E"/>
                </a:solidFill>
                <a:latin typeface="Calibri" pitchFamily="34" charset="0"/>
                <a:ea typeface="Calibri" pitchFamily="34" charset="-122"/>
                <a:cs typeface="Calibri" pitchFamily="34" charset="-120"/>
              </a:rPr>
              <a:t>request additional months of data to confirm patterns are stable, and pursue the Huawei device question via records unavailable in this dataset.</a:t>
            </a:r>
            <a:endParaRPr lang="en-US" sz="1250" dirty="0"/>
          </a:p>
        </p:txBody>
      </p:sp>
      <p:sp>
        <p:nvSpPr>
          <p:cNvPr id="7" name="Shape 5"/>
          <p:cNvSpPr/>
          <p:nvPr/>
        </p:nvSpPr>
        <p:spPr>
          <a:xfrm>
            <a:off x="6172200" y="1143000"/>
            <a:ext cx="5440680" cy="5074920"/>
          </a:xfrm>
          <a:prstGeom prst="roundRect">
            <a:avLst>
              <a:gd name="adj" fmla="val 1441"/>
            </a:avLst>
          </a:prstGeom>
          <a:solidFill>
            <a:srgbClr val="E3F5F4"/>
          </a:solidFill>
          <a:ln w="9525">
            <a:solidFill>
              <a:srgbClr val="CDEAE8"/>
            </a:solidFill>
            <a:prstDash val="solid"/>
          </a:ln>
        </p:spPr>
      </p:sp>
      <p:sp>
        <p:nvSpPr>
          <p:cNvPr id="8" name="Text 6"/>
          <p:cNvSpPr/>
          <p:nvPr/>
        </p:nvSpPr>
        <p:spPr>
          <a:xfrm>
            <a:off x="6355080" y="1280160"/>
            <a:ext cx="5074920" cy="365760"/>
          </a:xfrm>
          <a:prstGeom prst="rect">
            <a:avLst/>
          </a:prstGeom>
          <a:noFill/>
          <a:ln/>
        </p:spPr>
        <p:txBody>
          <a:bodyPr wrap="square" rtlCol="0" anchor="ctr"/>
          <a:lstStyle/>
          <a:p>
            <a:pPr marL="0" indent="0">
              <a:buNone/>
            </a:pPr>
            <a:r>
              <a:rPr lang="en-US" sz="1500" b="1" dirty="0">
                <a:solidFill>
                  <a:srgbClr val="0E7C7B"/>
                </a:solidFill>
                <a:latin typeface="Calibri" pitchFamily="34" charset="0"/>
                <a:ea typeface="Calibri" pitchFamily="34" charset="-122"/>
                <a:cs typeface="Calibri" pitchFamily="34" charset="-120"/>
              </a:rPr>
              <a:t>Future Scope</a:t>
            </a:r>
            <a:endParaRPr lang="en-US" sz="1500" dirty="0"/>
          </a:p>
        </p:txBody>
      </p:sp>
      <p:sp>
        <p:nvSpPr>
          <p:cNvPr id="9" name="Text 7"/>
          <p:cNvSpPr/>
          <p:nvPr/>
        </p:nvSpPr>
        <p:spPr>
          <a:xfrm>
            <a:off x="6355080" y="1691640"/>
            <a:ext cx="5074920" cy="4434840"/>
          </a:xfrm>
          <a:prstGeom prst="rect">
            <a:avLst/>
          </a:prstGeom>
          <a:noFill/>
          <a:ln/>
        </p:spPr>
        <p:txBody>
          <a:bodyPr wrap="square" rtlCol="0" anchor="t"/>
          <a:lstStyle/>
          <a:p>
            <a:pPr marL="0" indent="0">
              <a:lnSpc>
                <a:spcPct val="115000"/>
              </a:lnSpc>
              <a:buNone/>
            </a:pPr>
            <a:r>
              <a:rPr lang="en-US" sz="1030" b="1" dirty="0">
                <a:solidFill>
                  <a:srgbClr val="16232E"/>
                </a:solidFill>
                <a:latin typeface="Calibri" pitchFamily="34" charset="0"/>
                <a:ea typeface="Calibri" pitchFamily="34" charset="-122"/>
                <a:cs typeface="Calibri" pitchFamily="34" charset="-120"/>
              </a:rPr>
              <a:t>Descoped from the original brief (by supervisor agreement): </a:t>
            </a:r>
            <a:r>
              <a:rPr lang="en-US" sz="1030" dirty="0">
                <a:solidFill>
                  <a:srgbClr val="16232E"/>
                </a:solidFill>
                <a:latin typeface="Calibri" pitchFamily="34" charset="0"/>
                <a:ea typeface="Calibri" pitchFamily="34" charset="-122"/>
                <a:cs typeface="Calibri" pitchFamily="34" charset="-120"/>
              </a:rPr>
              <a:t>pip-installable package with unit tests &amp; CI/CD, Docker containerization, Streamlit/Flask dashboard, and model deployment/tracking — deliberate decisions, not oversights.
</a:t>
            </a:r>
            <a:r>
              <a:rPr lang="en-US" sz="1030" b="1" dirty="0">
                <a:solidFill>
                  <a:srgbClr val="16232E"/>
                </a:solidFill>
                <a:latin typeface="Calibri" pitchFamily="34" charset="0"/>
                <a:ea typeface="Calibri" pitchFamily="34" charset="-122"/>
                <a:cs typeface="Calibri" pitchFamily="34" charset="-120"/>
              </a:rPr>
              <a:t>Natural extensions:
</a:t>
            </a:r>
            <a:r>
              <a:rPr lang="en-US" sz="1030" dirty="0">
                <a:solidFill>
                  <a:srgbClr val="16232E"/>
                </a:solidFill>
                <a:latin typeface="Calibri" pitchFamily="34" charset="0"/>
                <a:ea typeface="Calibri" pitchFamily="34" charset="-122"/>
                <a:cs typeface="Calibri" pitchFamily="34" charset="-120"/>
              </a:rPr>
              <a:t>• Multi-user SQL connection handling (credential-input flow vs. hardcoded local connection)
• Multi-month trend analysis — is uplink strain worsening or improving?
• Resolve the Huawei B528S-23A question via device registration / IMEI-range data
• A/B validate the uplink investment recommendation on new data post-fix</a:t>
            </a:r>
            <a:endParaRPr lang="en-US" sz="1030" dirty="0"/>
          </a:p>
        </p:txBody>
      </p:sp>
      <p:sp>
        <p:nvSpPr>
          <p:cNvPr id="11" name="Text 8"/>
          <p:cNvSpPr/>
          <p:nvPr/>
        </p:nvSpPr>
        <p:spPr>
          <a:xfrm>
            <a:off x="11640312" y="6473952"/>
            <a:ext cx="365760" cy="274320"/>
          </a:xfrm>
          <a:prstGeom prst="rect">
            <a:avLst/>
          </a:prstGeom>
          <a:noFill/>
          <a:ln/>
        </p:spPr>
        <p:txBody>
          <a:bodyPr wrap="square" rtlCol="0" anchor="ctr"/>
          <a:lstStyle/>
          <a:p>
            <a:pPr marL="0" indent="0" algn="r">
              <a:buNone/>
            </a:pPr>
            <a:r>
              <a:rPr lang="en-US" sz="1000" dirty="0">
                <a:solidFill>
                  <a:srgbClr val="9AA7B4"/>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05B96"/>
          </a:solidFill>
          <a:ln/>
        </p:spPr>
      </p:sp>
      <p:sp>
        <p:nvSpPr>
          <p:cNvPr id="3" name="Text 1"/>
          <p:cNvSpPr/>
          <p:nvPr/>
        </p:nvSpPr>
        <p:spPr>
          <a:xfrm>
            <a:off x="457200" y="0"/>
            <a:ext cx="11274552" cy="896112"/>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References &amp; Data Sources</a:t>
            </a:r>
            <a:endParaRPr lang="en-US" sz="2600" dirty="0"/>
          </a:p>
        </p:txBody>
      </p:sp>
      <p:sp>
        <p:nvSpPr>
          <p:cNvPr id="4" name="Shape 2"/>
          <p:cNvSpPr/>
          <p:nvPr/>
        </p:nvSpPr>
        <p:spPr>
          <a:xfrm>
            <a:off x="822960" y="1371600"/>
            <a:ext cx="5120640" cy="2103120"/>
          </a:xfrm>
          <a:prstGeom prst="roundRect">
            <a:avLst>
              <a:gd name="adj" fmla="val 3478"/>
            </a:avLst>
          </a:prstGeom>
          <a:solidFill>
            <a:srgbClr val="EAF4FC"/>
          </a:solidFill>
          <a:ln w="9525">
            <a:solidFill>
              <a:srgbClr val="D7E6F2"/>
            </a:solidFill>
            <a:prstDash val="solid"/>
          </a:ln>
        </p:spPr>
      </p:sp>
      <p:sp>
        <p:nvSpPr>
          <p:cNvPr id="5" name="Text 3"/>
          <p:cNvSpPr/>
          <p:nvPr/>
        </p:nvSpPr>
        <p:spPr>
          <a:xfrm>
            <a:off x="1005840" y="1508760"/>
            <a:ext cx="4754880" cy="365760"/>
          </a:xfrm>
          <a:prstGeom prst="rect">
            <a:avLst/>
          </a:prstGeom>
          <a:noFill/>
          <a:ln/>
        </p:spPr>
        <p:txBody>
          <a:bodyPr wrap="square" rtlCol="0" anchor="ctr"/>
          <a:lstStyle/>
          <a:p>
            <a:pPr marL="0" indent="0">
              <a:buNone/>
            </a:pPr>
            <a:r>
              <a:rPr lang="en-US" sz="1400" b="1" dirty="0">
                <a:solidFill>
                  <a:srgbClr val="005B96"/>
                </a:solidFill>
                <a:latin typeface="Calibri" pitchFamily="34" charset="0"/>
                <a:ea typeface="Calibri" pitchFamily="34" charset="-122"/>
                <a:cs typeface="Calibri" pitchFamily="34" charset="-120"/>
              </a:rPr>
              <a:t>📄  Field Descriptions</a:t>
            </a:r>
            <a:endParaRPr lang="en-US" sz="1400" dirty="0"/>
          </a:p>
        </p:txBody>
      </p:sp>
      <p:sp>
        <p:nvSpPr>
          <p:cNvPr id="6" name="Text 4"/>
          <p:cNvSpPr/>
          <p:nvPr/>
        </p:nvSpPr>
        <p:spPr>
          <a:xfrm>
            <a:off x="1005840" y="1874520"/>
            <a:ext cx="4754880" cy="914400"/>
          </a:xfrm>
          <a:prstGeom prst="rect">
            <a:avLst/>
          </a:prstGeom>
          <a:noFill/>
          <a:ln/>
        </p:spPr>
        <p:txBody>
          <a:bodyPr wrap="square" rtlCol="0" anchor="t"/>
          <a:lstStyle/>
          <a:p>
            <a:pPr marL="0" indent="0">
              <a:lnSpc>
                <a:spcPct val="112000"/>
              </a:lnSpc>
              <a:buNone/>
            </a:pPr>
            <a:r>
              <a:rPr lang="en-US" sz="1050" dirty="0">
                <a:solidFill>
                  <a:srgbClr val="16232E"/>
                </a:solidFill>
                <a:latin typeface="Calibri" pitchFamily="34" charset="0"/>
                <a:ea typeface="Calibri" pitchFamily="34" charset="-122"/>
                <a:cs typeface="Calibri" pitchFamily="34" charset="-120"/>
              </a:rPr>
              <a:t>Full data dictionary — 55 xDR fields (identifiers, network-quality metrics, per-application traffic). Embedded below as a linked object; double-click to open.</a:t>
            </a:r>
            <a:endParaRPr lang="en-US" sz="1050" dirty="0"/>
          </a:p>
        </p:txBody>
      </p:sp>
      <p:sp>
        <p:nvSpPr>
          <p:cNvPr id="7" name="Shape 5"/>
          <p:cNvSpPr/>
          <p:nvPr/>
        </p:nvSpPr>
        <p:spPr>
          <a:xfrm>
            <a:off x="1005840" y="2880360"/>
            <a:ext cx="2926080" cy="457200"/>
          </a:xfrm>
          <a:prstGeom prst="roundRect">
            <a:avLst>
              <a:gd name="adj" fmla="val 12000"/>
            </a:avLst>
          </a:prstGeom>
          <a:solidFill>
            <a:srgbClr val="005B96"/>
          </a:solidFill>
          <a:ln/>
        </p:spPr>
      </p:sp>
      <p:sp>
        <p:nvSpPr>
          <p:cNvPr id="8" name="Text 6"/>
          <p:cNvSpPr/>
          <p:nvPr/>
        </p:nvSpPr>
        <p:spPr>
          <a:xfrm>
            <a:off x="1005840" y="2880360"/>
            <a:ext cx="2926080" cy="45720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 Field_Descriptions.csv (attached)</a:t>
            </a:r>
            <a:endParaRPr lang="en-US" sz="950" dirty="0"/>
          </a:p>
        </p:txBody>
      </p:sp>
      <p:sp>
        <p:nvSpPr>
          <p:cNvPr id="9" name="Shape 7"/>
          <p:cNvSpPr/>
          <p:nvPr/>
        </p:nvSpPr>
        <p:spPr>
          <a:xfrm>
            <a:off x="6263640" y="1371600"/>
            <a:ext cx="5120640" cy="2103120"/>
          </a:xfrm>
          <a:prstGeom prst="roundRect">
            <a:avLst>
              <a:gd name="adj" fmla="val 3478"/>
            </a:avLst>
          </a:prstGeom>
          <a:solidFill>
            <a:srgbClr val="E3F5F4"/>
          </a:solidFill>
          <a:ln w="9525">
            <a:solidFill>
              <a:srgbClr val="CDEAE8"/>
            </a:solidFill>
            <a:prstDash val="solid"/>
          </a:ln>
        </p:spPr>
      </p:sp>
      <p:sp>
        <p:nvSpPr>
          <p:cNvPr id="10" name="Text 8"/>
          <p:cNvSpPr/>
          <p:nvPr/>
        </p:nvSpPr>
        <p:spPr>
          <a:xfrm>
            <a:off x="6446520" y="1508760"/>
            <a:ext cx="4754880" cy="365760"/>
          </a:xfrm>
          <a:prstGeom prst="rect">
            <a:avLst/>
          </a:prstGeom>
          <a:noFill/>
          <a:ln/>
        </p:spPr>
        <p:txBody>
          <a:bodyPr wrap="square" rtlCol="0" anchor="ctr"/>
          <a:lstStyle/>
          <a:p>
            <a:pPr marL="0" indent="0">
              <a:buNone/>
            </a:pPr>
            <a:r>
              <a:rPr lang="en-US" sz="1400" b="1" dirty="0">
                <a:solidFill>
                  <a:srgbClr val="0E7C7B"/>
                </a:solidFill>
                <a:latin typeface="Calibri" pitchFamily="34" charset="0"/>
                <a:ea typeface="Calibri" pitchFamily="34" charset="-122"/>
                <a:cs typeface="Calibri" pitchFamily="34" charset="-120"/>
              </a:rPr>
              <a:t>🔗  Project Repository</a:t>
            </a:r>
            <a:endParaRPr lang="en-US" sz="1400" dirty="0"/>
          </a:p>
        </p:txBody>
      </p:sp>
      <p:sp>
        <p:nvSpPr>
          <p:cNvPr id="11" name="Text 9"/>
          <p:cNvSpPr/>
          <p:nvPr/>
        </p:nvSpPr>
        <p:spPr>
          <a:xfrm>
            <a:off x="6446520" y="1874520"/>
            <a:ext cx="4754880" cy="685800"/>
          </a:xfrm>
          <a:prstGeom prst="rect">
            <a:avLst/>
          </a:prstGeom>
          <a:noFill/>
          <a:ln/>
        </p:spPr>
        <p:txBody>
          <a:bodyPr wrap="square" rtlCol="0" anchor="t"/>
          <a:lstStyle/>
          <a:p>
            <a:pPr marL="0" indent="0">
              <a:lnSpc>
                <a:spcPct val="112000"/>
              </a:lnSpc>
              <a:buNone/>
            </a:pPr>
            <a:r>
              <a:rPr lang="en-US" sz="1050" dirty="0">
                <a:solidFill>
                  <a:srgbClr val="16232E"/>
                </a:solidFill>
                <a:latin typeface="Calibri" pitchFamily="34" charset="0"/>
                <a:ea typeface="Calibri" pitchFamily="34" charset="-122"/>
                <a:cs typeface="Calibri" pitchFamily="34" charset="-120"/>
              </a:rPr>
              <a:t>Full notebook (telecom_user_analytics_final.ipynb), data cleaning code, and SQL export scripts — NHIS Project 5.</a:t>
            </a:r>
            <a:endParaRPr lang="en-US" sz="1050" dirty="0"/>
          </a:p>
        </p:txBody>
      </p:sp>
      <p:sp>
        <p:nvSpPr>
          <p:cNvPr id="12" name="Text 10">
            <a:hlinkClick r:id="rId3"/>
          </p:cNvPr>
          <p:cNvSpPr/>
          <p:nvPr/>
        </p:nvSpPr>
        <p:spPr>
          <a:xfrm>
            <a:off x="6446520" y="2606040"/>
            <a:ext cx="4754880" cy="365760"/>
          </a:xfrm>
          <a:prstGeom prst="rect">
            <a:avLst/>
          </a:prstGeom>
          <a:noFill/>
          <a:ln/>
        </p:spPr>
        <p:txBody>
          <a:bodyPr wrap="square" rtlCol="0" anchor="ctr"/>
          <a:lstStyle/>
          <a:p>
            <a:pPr marL="0" indent="0">
              <a:buNone/>
            </a:pPr>
            <a:r>
              <a:rPr lang="en-US" sz="1100" b="1" u="sng" dirty="0">
                <a:solidFill>
                  <a:srgbClr val="0E7C7B"/>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github.com/S-Yousuf-S/NHIS_Project5</a:t>
            </a:r>
            <a:endParaRPr lang="en-US" sz="1100" dirty="0"/>
          </a:p>
        </p:txBody>
      </p:sp>
      <p:sp>
        <p:nvSpPr>
          <p:cNvPr id="13" name="Shape 11"/>
          <p:cNvSpPr/>
          <p:nvPr/>
        </p:nvSpPr>
        <p:spPr>
          <a:xfrm>
            <a:off x="822960" y="3794760"/>
            <a:ext cx="10561320" cy="2194560"/>
          </a:xfrm>
          <a:prstGeom prst="roundRect">
            <a:avLst>
              <a:gd name="adj" fmla="val 3333"/>
            </a:avLst>
          </a:prstGeom>
          <a:solidFill>
            <a:srgbClr val="F3F5F7"/>
          </a:solidFill>
          <a:ln w="9525">
            <a:solidFill>
              <a:srgbClr val="D7E6F2"/>
            </a:solidFill>
            <a:prstDash val="solid"/>
          </a:ln>
        </p:spPr>
      </p:sp>
      <p:sp>
        <p:nvSpPr>
          <p:cNvPr id="14" name="Text 12"/>
          <p:cNvSpPr/>
          <p:nvPr/>
        </p:nvSpPr>
        <p:spPr>
          <a:xfrm>
            <a:off x="1005840" y="3931920"/>
            <a:ext cx="10195560" cy="320040"/>
          </a:xfrm>
          <a:prstGeom prst="rect">
            <a:avLst/>
          </a:prstGeom>
          <a:noFill/>
          <a:ln/>
        </p:spPr>
        <p:txBody>
          <a:bodyPr wrap="square" rtlCol="0" anchor="ctr"/>
          <a:lstStyle/>
          <a:p>
            <a:pPr marL="0" indent="0">
              <a:buNone/>
            </a:pPr>
            <a:r>
              <a:rPr lang="en-US" sz="1250" b="1" dirty="0">
                <a:solidFill>
                  <a:srgbClr val="16232E"/>
                </a:solidFill>
                <a:latin typeface="Calibri" pitchFamily="34" charset="0"/>
                <a:ea typeface="Calibri" pitchFamily="34" charset="-122"/>
                <a:cs typeface="Calibri" pitchFamily="34" charset="-120"/>
              </a:rPr>
              <a:t>Dataset &amp; Brief</a:t>
            </a:r>
            <a:endParaRPr lang="en-US" sz="1250" dirty="0"/>
          </a:p>
        </p:txBody>
      </p:sp>
      <p:sp>
        <p:nvSpPr>
          <p:cNvPr id="15" name="Text 13"/>
          <p:cNvSpPr/>
          <p:nvPr/>
        </p:nvSpPr>
        <p:spPr>
          <a:xfrm>
            <a:off x="1005840" y="4297680"/>
            <a:ext cx="10195560" cy="1600200"/>
          </a:xfrm>
          <a:prstGeom prst="rect">
            <a:avLst/>
          </a:prstGeom>
          <a:noFill/>
          <a:ln/>
        </p:spPr>
        <p:txBody>
          <a:bodyPr wrap="square" rtlCol="0" anchor="t"/>
          <a:lstStyle/>
          <a:p>
            <a:pPr marL="0" indent="0">
              <a:lnSpc>
                <a:spcPct val="125000"/>
              </a:lnSpc>
              <a:buNone/>
            </a:pPr>
            <a:r>
              <a:rPr lang="en-US" sz="1050" dirty="0">
                <a:solidFill>
                  <a:srgbClr val="16232E"/>
                </a:solidFill>
                <a:latin typeface="Calibri" pitchFamily="34" charset="0"/>
                <a:ea typeface="Calibri" pitchFamily="34" charset="-122"/>
                <a:cs typeface="Calibri" pitchFamily="34" charset="-120"/>
              </a:rPr>
              <a:t>• TellCo xDR dataset — one month of aggregated data session detail records, Republic of Pefkakia (provided by TellCo's ownership for due diligence).
• Nexthikes IT Solutions — “User Analytics in the Telecommunication Industry” project brief (Tasks 1–4, Final Submission requirements).
• Analysis conducted in Google Colab / Jupyter; SQL export executed locally against SQL Server Express (Windows Authentication).</a:t>
            </a:r>
            <a:endParaRPr lang="en-US" sz="1050" dirty="0"/>
          </a:p>
        </p:txBody>
      </p:sp>
      <p:sp>
        <p:nvSpPr>
          <p:cNvPr id="17" name="Text 14"/>
          <p:cNvSpPr/>
          <p:nvPr/>
        </p:nvSpPr>
        <p:spPr>
          <a:xfrm>
            <a:off x="11640312" y="6473952"/>
            <a:ext cx="365760" cy="274320"/>
          </a:xfrm>
          <a:prstGeom prst="rect">
            <a:avLst/>
          </a:prstGeom>
          <a:noFill/>
          <a:ln/>
        </p:spPr>
        <p:txBody>
          <a:bodyPr wrap="square" rtlCol="0" anchor="ctr"/>
          <a:lstStyle/>
          <a:p>
            <a:pPr marL="0" indent="0" algn="r">
              <a:buNone/>
            </a:pPr>
            <a:r>
              <a:rPr lang="en-US" sz="1000" dirty="0">
                <a:solidFill>
                  <a:srgbClr val="9AA7B4"/>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5166360"/>
            <a:ext cx="12188952" cy="27432"/>
          </a:xfrm>
          <a:prstGeom prst="rect">
            <a:avLst/>
          </a:prstGeom>
          <a:solidFill>
            <a:srgbClr val="0E7C7B"/>
          </a:solidFill>
          <a:ln/>
        </p:spPr>
      </p:sp>
      <p:sp>
        <p:nvSpPr>
          <p:cNvPr id="3" name="Text 1"/>
          <p:cNvSpPr/>
          <p:nvPr/>
        </p:nvSpPr>
        <p:spPr>
          <a:xfrm>
            <a:off x="822960" y="2651760"/>
            <a:ext cx="10543032" cy="914400"/>
          </a:xfrm>
          <a:prstGeom prst="rect">
            <a:avLst/>
          </a:prstGeom>
          <a:noFill/>
          <a:ln/>
        </p:spPr>
        <p:txBody>
          <a:bodyPr wrap="square"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Thank You</a:t>
            </a:r>
            <a:endParaRPr lang="en-US" sz="3800" dirty="0"/>
          </a:p>
        </p:txBody>
      </p:sp>
      <p:sp>
        <p:nvSpPr>
          <p:cNvPr id="4" name="Text 2"/>
          <p:cNvSpPr/>
          <p:nvPr/>
        </p:nvSpPr>
        <p:spPr>
          <a:xfrm>
            <a:off x="822960" y="3520440"/>
            <a:ext cx="10543032" cy="411480"/>
          </a:xfrm>
          <a:prstGeom prst="rect">
            <a:avLst/>
          </a:prstGeom>
          <a:noFill/>
          <a:ln/>
        </p:spPr>
        <p:txBody>
          <a:bodyPr wrap="square" rtlCol="0" anchor="ctr"/>
          <a:lstStyle/>
          <a:p>
            <a:pPr marL="0" indent="0" algn="ctr">
              <a:buNone/>
            </a:pPr>
            <a:r>
              <a:rPr lang="en-US" sz="1500" dirty="0">
                <a:solidFill>
                  <a:srgbClr val="9FC6E6"/>
                </a:solidFill>
                <a:latin typeface="Calibri" pitchFamily="34" charset="0"/>
                <a:ea typeface="Calibri" pitchFamily="34" charset="-122"/>
                <a:cs typeface="Calibri" pitchFamily="34" charset="-120"/>
              </a:rPr>
              <a:t>TellCo User Analytics  —  Yousuf S. R. Sakkaf</a:t>
            </a:r>
            <a:endParaRPr lang="en-US" sz="1500" dirty="0"/>
          </a:p>
        </p:txBody>
      </p:sp>
      <p:sp>
        <p:nvSpPr>
          <p:cNvPr id="5" name="Text 3"/>
          <p:cNvSpPr/>
          <p:nvPr/>
        </p:nvSpPr>
        <p:spPr>
          <a:xfrm>
            <a:off x="822960" y="3977640"/>
            <a:ext cx="10543032" cy="365760"/>
          </a:xfrm>
          <a:prstGeom prst="rect">
            <a:avLst/>
          </a:prstGeom>
          <a:noFill/>
          <a:ln/>
        </p:spPr>
        <p:txBody>
          <a:bodyPr wrap="square" rtlCol="0" anchor="ctr"/>
          <a:lstStyle/>
          <a:p>
            <a:pPr marL="0" indent="0" algn="ctr">
              <a:buNone/>
            </a:pPr>
            <a:r>
              <a:rPr lang="en-US" sz="1200" dirty="0">
                <a:solidFill>
                  <a:srgbClr val="7C97AC"/>
                </a:solidFill>
                <a:latin typeface="Calibri" pitchFamily="34" charset="0"/>
                <a:ea typeface="Calibri" pitchFamily="34" charset="-122"/>
                <a:cs typeface="Calibri" pitchFamily="34" charset="-120"/>
              </a:rPr>
              <a:t>github.com/S-Yousuf-S/NHIS_Project5</a:t>
            </a:r>
            <a:endParaRPr lang="en-US" sz="1200" dirty="0"/>
          </a:p>
        </p:txBody>
      </p:sp>
      <p:sp>
        <p:nvSpPr>
          <p:cNvPr id="7" name="Text 4"/>
          <p:cNvSpPr/>
          <p:nvPr/>
        </p:nvSpPr>
        <p:spPr>
          <a:xfrm>
            <a:off x="11640312" y="6473952"/>
            <a:ext cx="365760" cy="274320"/>
          </a:xfrm>
          <a:prstGeom prst="rect">
            <a:avLst/>
          </a:prstGeom>
          <a:noFill/>
          <a:ln/>
        </p:spPr>
        <p:txBody>
          <a:bodyPr wrap="square" rtlCol="0" anchor="ctr"/>
          <a:lstStyle/>
          <a:p>
            <a:pPr marL="0" indent="0" algn="r">
              <a:buNone/>
            </a:pPr>
            <a:r>
              <a:rPr lang="en-US" sz="1000" dirty="0">
                <a:solidFill>
                  <a:srgbClr val="9AA7B4"/>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347</TotalTime>
  <Words>11686</Words>
  <Application>Microsoft Office PowerPoint</Application>
  <PresentationFormat>Widescreen</PresentationFormat>
  <Paragraphs>376</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Bahnschrift</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TellCo User Analytics Presentation</dc:title>
  <dc:subject>PptxGenJS Presentation</dc:subject>
  <dc:creator>Yousuf Sakkaf</dc:creator>
  <cp:lastModifiedBy>Yousuf Sakkaf</cp:lastModifiedBy>
  <cp:revision>11</cp:revision>
  <dcterms:created xsi:type="dcterms:W3CDTF">2026-08-09T06:01:10Z</dcterms:created>
  <dcterms:modified xsi:type="dcterms:W3CDTF">2026-08-10T02:32:40Z</dcterms:modified>
</cp:coreProperties>
</file>